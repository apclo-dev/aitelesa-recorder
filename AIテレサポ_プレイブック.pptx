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表紙。SoloptiLink導入ガイドとアプクロ運用マニュアルを統合した完全版プレイブック。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全10章構成。SoloptiLink導入フローとアプクロ運用を完全統合。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10倍生産性の根拠: AIが量をこなし人間は質に集中。1%アポ率・¥2,400/アポは標準的な試算値。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社外秘情報。配布先・閲覧範囲を必ず管理すること。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問題発生時は李様・山田様・青木様へChatWorkで即連絡。経理はWatanabe様。</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01→02→03→04の順番で進める。03が終わるとKickoffの準備完了。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通常ノード=AI発話。ジャンプノード=アクション。この4つが基本セット。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複合発言（担当+拒否）対策として興味なしを必ず上位にする。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録音アプリURLを共有。マイク許可は初回のみ「サイトへのアクセス時は許可」を選ばせる。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リスニングで流れを把握してから最適なタイミングで代電することが重要。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SoloptiLink提供の3ヶ月ロードマップ。Week1のKickoffまでにオンボーディング手順（S6）完了が前提。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週次でログを見てキーワードを更新する習慣が重要。月次MTGでSoloptiLink担当者と改善を伴走。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よくある質問はSoloptiLink導入ガイドより転載。月次MTGの質問集にも活用可。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全URLをブックマーク代わりに使用。Chrome推奨。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最後に行動を促す。録音アプリURLとChatWorkをチャットで共有してセッションを締める。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A3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B82F6"/>
          </a:solidFill>
          <a:ln/>
        </p:spPr>
      </p:sp>
      <p:sp>
        <p:nvSpPr>
          <p:cNvPr id="3" name="Text 1"/>
          <p:cNvSpPr/>
          <p:nvPr/>
        </p:nvSpPr>
        <p:spPr>
          <a:xfrm>
            <a:off x="640080" y="685800"/>
            <a:ext cx="5486400" cy="457200"/>
          </a:xfrm>
          <a:prstGeom prst="rect">
            <a:avLst/>
          </a:prstGeom>
          <a:noFill/>
          <a:ln/>
        </p:spPr>
        <p:txBody>
          <a:bodyPr wrap="square" lIns="0" tIns="0" rIns="0" bIns="0" rtlCol="0" anchor="ctr"/>
          <a:lstStyle/>
          <a:p>
            <a:pPr indent="0" marL="0">
              <a:buNone/>
            </a:pPr>
            <a:r>
              <a:rPr lang="en-US" sz="1200" b="1" spc="400" kern="0" dirty="0">
                <a:solidFill>
                  <a:srgbClr val="3B82F6"/>
                </a:solidFill>
                <a:latin typeface="Calibri" pitchFamily="34" charset="0"/>
                <a:ea typeface="Calibri" pitchFamily="34" charset="-122"/>
                <a:cs typeface="Calibri" pitchFamily="34" charset="-120"/>
              </a:rPr>
              <a:t>AIテレサポ</a:t>
            </a:r>
            <a:endParaRPr lang="en-US" sz="1200" dirty="0"/>
          </a:p>
        </p:txBody>
      </p:sp>
      <p:sp>
        <p:nvSpPr>
          <p:cNvPr id="4" name="Text 2"/>
          <p:cNvSpPr/>
          <p:nvPr/>
        </p:nvSpPr>
        <p:spPr>
          <a:xfrm>
            <a:off x="640080" y="1097280"/>
            <a:ext cx="7315200" cy="1463040"/>
          </a:xfrm>
          <a:prstGeom prst="rect">
            <a:avLst/>
          </a:prstGeom>
          <a:noFill/>
          <a:ln/>
        </p:spPr>
        <p:txBody>
          <a:bodyPr wrap="square" lIns="0" tIns="0" rIns="0" bIns="0" rtlCol="0" anchor="ctr"/>
          <a:lstStyle/>
          <a:p>
            <a:pPr indent="0" marL="0">
              <a:lnSpc>
                <a:spcPct val="110000"/>
              </a:lnSpc>
              <a:buNone/>
            </a:pPr>
            <a:r>
              <a:rPr lang="en-US" sz="5000" b="1" dirty="0">
                <a:solidFill>
                  <a:srgbClr val="FFFFFF"/>
                </a:solidFill>
                <a:latin typeface="Calibri" pitchFamily="34" charset="0"/>
                <a:ea typeface="Calibri" pitchFamily="34" charset="-122"/>
                <a:cs typeface="Calibri" pitchFamily="34" charset="-120"/>
              </a:rPr>
              <a:t>オペレーション</a:t>
            </a:r>
            <a:endParaRPr lang="en-US" sz="5000" dirty="0"/>
          </a:p>
          <a:p>
            <a:pPr indent="0" marL="0">
              <a:lnSpc>
                <a:spcPct val="110000"/>
              </a:lnSpc>
              <a:buNone/>
            </a:pPr>
            <a:r>
              <a:rPr lang="en-US" sz="5000" b="1" dirty="0">
                <a:solidFill>
                  <a:srgbClr val="FFFFFF"/>
                </a:solidFill>
                <a:latin typeface="Calibri" pitchFamily="34" charset="0"/>
                <a:ea typeface="Calibri" pitchFamily="34" charset="-122"/>
                <a:cs typeface="Calibri" pitchFamily="34" charset="-120"/>
              </a:rPr>
              <a:t>プレイブック</a:t>
            </a:r>
            <a:endParaRPr lang="en-US" sz="5000" dirty="0"/>
          </a:p>
        </p:txBody>
      </p:sp>
      <p:sp>
        <p:nvSpPr>
          <p:cNvPr id="5" name="Text 3"/>
          <p:cNvSpPr/>
          <p:nvPr/>
        </p:nvSpPr>
        <p:spPr>
          <a:xfrm>
            <a:off x="640080" y="2743200"/>
            <a:ext cx="6858000" cy="777240"/>
          </a:xfrm>
          <a:prstGeom prst="rect">
            <a:avLst/>
          </a:prstGeom>
          <a:noFill/>
          <a:ln/>
        </p:spPr>
        <p:txBody>
          <a:bodyPr wrap="square" lIns="0" tIns="0" rIns="0" bIns="0" rtlCol="0" anchor="ctr"/>
          <a:lstStyle/>
          <a:p>
            <a:pPr indent="0" marL="0">
              <a:lnSpc>
                <a:spcPct val="150000"/>
              </a:lnSpc>
              <a:buNone/>
            </a:pPr>
            <a:r>
              <a:rPr lang="en-US" sz="1300" dirty="0">
                <a:solidFill>
                  <a:srgbClr val="93C5FD"/>
                </a:solidFill>
                <a:latin typeface="Calibri" pitchFamily="34" charset="0"/>
                <a:ea typeface="Calibri" pitchFamily="34" charset="-122"/>
                <a:cs typeface="Calibri" pitchFamily="34" charset="-120"/>
              </a:rPr>
              <a:t>SoloptiLink 導入ガイド × アプクロ運用マニュアル</a:t>
            </a:r>
            <a:endParaRPr lang="en-US" sz="1300" dirty="0"/>
          </a:p>
          <a:p>
            <a:pPr indent="0" marL="0">
              <a:lnSpc>
                <a:spcPct val="150000"/>
              </a:lnSpc>
              <a:buNone/>
            </a:pPr>
            <a:r>
              <a:rPr lang="en-US" sz="1300" dirty="0">
                <a:solidFill>
                  <a:srgbClr val="93C5FD"/>
                </a:solidFill>
                <a:latin typeface="Calibri" pitchFamily="34" charset="0"/>
                <a:ea typeface="Calibri" pitchFamily="34" charset="-122"/>
                <a:cs typeface="Calibri" pitchFamily="34" charset="-120"/>
              </a:rPr>
              <a:t>スクリプト設計・録音・発信・改善まで全工程を1冊に集約</a:t>
            </a:r>
            <a:endParaRPr lang="en-US" sz="1300" dirty="0"/>
          </a:p>
        </p:txBody>
      </p:sp>
      <p:sp>
        <p:nvSpPr>
          <p:cNvPr id="6" name="Shape 4"/>
          <p:cNvSpPr/>
          <p:nvPr/>
        </p:nvSpPr>
        <p:spPr>
          <a:xfrm>
            <a:off x="640080" y="3913632"/>
            <a:ext cx="2103120" cy="347472"/>
          </a:xfrm>
          <a:prstGeom prst="roundRect">
            <a:avLst>
              <a:gd name="adj" fmla="val 13158"/>
            </a:avLst>
          </a:prstGeom>
          <a:solidFill>
            <a:srgbClr val="1E3A8A"/>
          </a:solidFill>
          <a:ln w="12700">
            <a:solidFill>
              <a:srgbClr val="3B82F6"/>
            </a:solidFill>
            <a:prstDash val="solid"/>
          </a:ln>
        </p:spPr>
      </p:sp>
      <p:sp>
        <p:nvSpPr>
          <p:cNvPr id="7" name="Text 5"/>
          <p:cNvSpPr/>
          <p:nvPr/>
        </p:nvSpPr>
        <p:spPr>
          <a:xfrm>
            <a:off x="640080" y="3913632"/>
            <a:ext cx="2103120" cy="347472"/>
          </a:xfrm>
          <a:prstGeom prst="rect">
            <a:avLst/>
          </a:prstGeom>
          <a:noFill/>
          <a:ln/>
        </p:spPr>
        <p:txBody>
          <a:bodyPr wrap="square" lIns="0" tIns="0" rIns="0" bIns="0" rtlCol="0" anchor="ctr"/>
          <a:lstStyle/>
          <a:p>
            <a:pPr algn="ctr" indent="0" marL="0">
              <a:buNone/>
            </a:pPr>
            <a:r>
              <a:rPr lang="en-US" sz="1000" dirty="0">
                <a:solidFill>
                  <a:srgbClr val="93C5FD"/>
                </a:solidFill>
                <a:latin typeface="Calibri" pitchFamily="34" charset="0"/>
                <a:ea typeface="Calibri" pitchFamily="34" charset="-122"/>
                <a:cs typeface="Calibri" pitchFamily="34" charset="-120"/>
              </a:rPr>
              <a:t>SoloptiLink × アプクロ</a:t>
            </a:r>
            <a:endParaRPr lang="en-US" sz="1000" dirty="0"/>
          </a:p>
        </p:txBody>
      </p:sp>
      <p:sp>
        <p:nvSpPr>
          <p:cNvPr id="8" name="Shape 6"/>
          <p:cNvSpPr/>
          <p:nvPr/>
        </p:nvSpPr>
        <p:spPr>
          <a:xfrm>
            <a:off x="2971800" y="3913632"/>
            <a:ext cx="2103120" cy="347472"/>
          </a:xfrm>
          <a:prstGeom prst="roundRect">
            <a:avLst>
              <a:gd name="adj" fmla="val 13158"/>
            </a:avLst>
          </a:prstGeom>
          <a:solidFill>
            <a:srgbClr val="1E3A8A"/>
          </a:solidFill>
          <a:ln w="12700">
            <a:solidFill>
              <a:srgbClr val="3B82F6"/>
            </a:solidFill>
            <a:prstDash val="solid"/>
          </a:ln>
        </p:spPr>
      </p:sp>
      <p:sp>
        <p:nvSpPr>
          <p:cNvPr id="9" name="Text 7"/>
          <p:cNvSpPr/>
          <p:nvPr/>
        </p:nvSpPr>
        <p:spPr>
          <a:xfrm>
            <a:off x="2971800" y="3913632"/>
            <a:ext cx="2103120" cy="347472"/>
          </a:xfrm>
          <a:prstGeom prst="rect">
            <a:avLst/>
          </a:prstGeom>
          <a:noFill/>
          <a:ln/>
        </p:spPr>
        <p:txBody>
          <a:bodyPr wrap="square" lIns="0" tIns="0" rIns="0" bIns="0" rtlCol="0" anchor="ctr"/>
          <a:lstStyle/>
          <a:p>
            <a:pPr algn="ctr" indent="0" marL="0">
              <a:buNone/>
            </a:pPr>
            <a:r>
              <a:rPr lang="en-US" sz="1000" dirty="0">
                <a:solidFill>
                  <a:srgbClr val="93C5FD"/>
                </a:solidFill>
                <a:latin typeface="Calibri" pitchFamily="34" charset="0"/>
                <a:ea typeface="Calibri" pitchFamily="34" charset="-122"/>
                <a:cs typeface="Calibri" pitchFamily="34" charset="-120"/>
              </a:rPr>
              <a:t>Partner向け統合版</a:t>
            </a:r>
            <a:endParaRPr lang="en-US" sz="1000" dirty="0"/>
          </a:p>
        </p:txBody>
      </p:sp>
      <p:sp>
        <p:nvSpPr>
          <p:cNvPr id="10" name="Shape 8"/>
          <p:cNvSpPr/>
          <p:nvPr/>
        </p:nvSpPr>
        <p:spPr>
          <a:xfrm>
            <a:off x="5303520" y="3913632"/>
            <a:ext cx="2103120" cy="347472"/>
          </a:xfrm>
          <a:prstGeom prst="roundRect">
            <a:avLst>
              <a:gd name="adj" fmla="val 13158"/>
            </a:avLst>
          </a:prstGeom>
          <a:solidFill>
            <a:srgbClr val="1E3A8A"/>
          </a:solidFill>
          <a:ln w="12700">
            <a:solidFill>
              <a:srgbClr val="3B82F6"/>
            </a:solidFill>
            <a:prstDash val="solid"/>
          </a:ln>
        </p:spPr>
      </p:sp>
      <p:sp>
        <p:nvSpPr>
          <p:cNvPr id="11" name="Text 9"/>
          <p:cNvSpPr/>
          <p:nvPr/>
        </p:nvSpPr>
        <p:spPr>
          <a:xfrm>
            <a:off x="5303520" y="3913632"/>
            <a:ext cx="2103120" cy="347472"/>
          </a:xfrm>
          <a:prstGeom prst="rect">
            <a:avLst/>
          </a:prstGeom>
          <a:noFill/>
          <a:ln/>
        </p:spPr>
        <p:txBody>
          <a:bodyPr wrap="square" lIns="0" tIns="0" rIns="0" bIns="0" rtlCol="0" anchor="ctr"/>
          <a:lstStyle/>
          <a:p>
            <a:pPr algn="ctr" indent="0" marL="0">
              <a:buNone/>
            </a:pPr>
            <a:r>
              <a:rPr lang="en-US" sz="1000" dirty="0">
                <a:solidFill>
                  <a:srgbClr val="93C5FD"/>
                </a:solidFill>
                <a:latin typeface="Calibri" pitchFamily="34" charset="0"/>
                <a:ea typeface="Calibri" pitchFamily="34" charset="-122"/>
                <a:cs typeface="Calibri" pitchFamily="34" charset="-120"/>
              </a:rPr>
              <a:t>2026年版</a:t>
            </a:r>
            <a:endParaRPr lang="en-US" sz="1000" dirty="0"/>
          </a:p>
        </p:txBody>
      </p:sp>
      <p:sp>
        <p:nvSpPr>
          <p:cNvPr id="12" name="Shape 10"/>
          <p:cNvSpPr/>
          <p:nvPr/>
        </p:nvSpPr>
        <p:spPr>
          <a:xfrm>
            <a:off x="6812280" y="594360"/>
            <a:ext cx="1371600" cy="1371600"/>
          </a:xfrm>
          <a:prstGeom prst="ellipse">
            <a:avLst/>
          </a:prstGeom>
          <a:solidFill>
            <a:srgbClr val="1E3A8A">
              <a:alpha val="65000"/>
            </a:srgbClr>
          </a:solidFill>
          <a:ln/>
        </p:spPr>
      </p:sp>
      <p:sp>
        <p:nvSpPr>
          <p:cNvPr id="13" name="Shape 11"/>
          <p:cNvSpPr/>
          <p:nvPr/>
        </p:nvSpPr>
        <p:spPr>
          <a:xfrm>
            <a:off x="7818120" y="1965960"/>
            <a:ext cx="822960" cy="822960"/>
          </a:xfrm>
          <a:prstGeom prst="ellipse">
            <a:avLst/>
          </a:prstGeom>
          <a:solidFill>
            <a:srgbClr val="1D4ED8">
              <a:alpha val="65000"/>
            </a:srgbClr>
          </a:solidFill>
          <a:ln/>
        </p:spPr>
      </p:sp>
      <p:sp>
        <p:nvSpPr>
          <p:cNvPr id="14" name="Shape 12"/>
          <p:cNvSpPr/>
          <p:nvPr/>
        </p:nvSpPr>
        <p:spPr>
          <a:xfrm>
            <a:off x="6629400" y="2423160"/>
            <a:ext cx="640080" cy="640080"/>
          </a:xfrm>
          <a:prstGeom prst="ellipse">
            <a:avLst/>
          </a:prstGeom>
          <a:solidFill>
            <a:srgbClr val="2563EB">
              <a:alpha val="65000"/>
            </a:srgbClr>
          </a:solidFill>
          <a:ln/>
        </p:spPr>
      </p:sp>
      <p:sp>
        <p:nvSpPr>
          <p:cNvPr id="15" name="Text 13"/>
          <p:cNvSpPr/>
          <p:nvPr/>
        </p:nvSpPr>
        <p:spPr>
          <a:xfrm>
            <a:off x="7315200" y="1554480"/>
            <a:ext cx="640080" cy="64008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1F5F9"/>
        </a:solidFill>
      </p:bgPr>
    </p:bg>
    <p:spTree>
      <p:nvGrpSpPr>
        <p:cNvPr id="1" name=""/>
        <p:cNvGrpSpPr/>
        <p:nvPr/>
      </p:nvGrpSpPr>
      <p:grpSpPr>
        <a:xfrm>
          <a:off x="0" y="0"/>
          <a:ext cx="0" cy="0"/>
          <a:chOff x="0" y="0"/>
          <a:chExt cx="0" cy="0"/>
        </a:xfrm>
      </p:grpSpPr>
      <p:sp>
        <p:nvSpPr>
          <p:cNvPr id="2" name="Shape 0"/>
          <p:cNvSpPr/>
          <p:nvPr/>
        </p:nvSpPr>
        <p:spPr>
          <a:xfrm>
            <a:off x="0" y="0"/>
            <a:ext cx="2834640" cy="5143500"/>
          </a:xfrm>
          <a:prstGeom prst="rect">
            <a:avLst/>
          </a:prstGeom>
          <a:solidFill>
            <a:srgbClr val="0F1A3E"/>
          </a:solidFill>
          <a:ln/>
        </p:spPr>
      </p:sp>
      <p:sp>
        <p:nvSpPr>
          <p:cNvPr id="3" name="Text 1"/>
          <p:cNvSpPr/>
          <p:nvPr/>
        </p:nvSpPr>
        <p:spPr>
          <a:xfrm>
            <a:off x="274320" y="457200"/>
            <a:ext cx="2286000" cy="320040"/>
          </a:xfrm>
          <a:prstGeom prst="rect">
            <a:avLst/>
          </a:prstGeom>
          <a:noFill/>
          <a:ln/>
        </p:spPr>
        <p:txBody>
          <a:bodyPr wrap="square" lIns="0" tIns="0" rIns="0" bIns="0" rtlCol="0" anchor="ctr"/>
          <a:lstStyle/>
          <a:p>
            <a:pPr indent="0" marL="0">
              <a:buNone/>
            </a:pPr>
            <a:r>
              <a:rPr lang="en-US" sz="1000" b="1" spc="300" kern="0" dirty="0">
                <a:solidFill>
                  <a:srgbClr val="3B82F6"/>
                </a:solidFill>
                <a:latin typeface="Calibri" pitchFamily="34" charset="0"/>
                <a:ea typeface="Calibri" pitchFamily="34" charset="-122"/>
                <a:cs typeface="Calibri" pitchFamily="34" charset="-120"/>
              </a:rPr>
              <a:t>CONTENTS</a:t>
            </a:r>
            <a:endParaRPr lang="en-US" sz="1000" dirty="0"/>
          </a:p>
        </p:txBody>
      </p:sp>
      <p:sp>
        <p:nvSpPr>
          <p:cNvPr id="4" name="Text 2"/>
          <p:cNvSpPr/>
          <p:nvPr/>
        </p:nvSpPr>
        <p:spPr>
          <a:xfrm>
            <a:off x="274320" y="777240"/>
            <a:ext cx="2286000" cy="594360"/>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目次</a:t>
            </a:r>
            <a:endParaRPr lang="en-US" sz="3200" dirty="0"/>
          </a:p>
        </p:txBody>
      </p:sp>
      <p:sp>
        <p:nvSpPr>
          <p:cNvPr id="5" name="Shape 3"/>
          <p:cNvSpPr/>
          <p:nvPr/>
        </p:nvSpPr>
        <p:spPr>
          <a:xfrm>
            <a:off x="3090672" y="530352"/>
            <a:ext cx="329184" cy="329184"/>
          </a:xfrm>
          <a:prstGeom prst="ellipse">
            <a:avLst/>
          </a:prstGeom>
          <a:solidFill>
            <a:srgbClr val="3B82F6"/>
          </a:solidFill>
          <a:ln/>
        </p:spPr>
      </p:sp>
      <p:sp>
        <p:nvSpPr>
          <p:cNvPr id="6" name="Text 4"/>
          <p:cNvSpPr/>
          <p:nvPr/>
        </p:nvSpPr>
        <p:spPr>
          <a:xfrm>
            <a:off x="3090672" y="530352"/>
            <a:ext cx="329184"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01</a:t>
            </a:r>
            <a:endParaRPr lang="en-US" sz="1000" dirty="0"/>
          </a:p>
        </p:txBody>
      </p:sp>
      <p:sp>
        <p:nvSpPr>
          <p:cNvPr id="7" name="Text 5"/>
          <p:cNvSpPr/>
          <p:nvPr/>
        </p:nvSpPr>
        <p:spPr>
          <a:xfrm>
            <a:off x="3529584" y="484632"/>
            <a:ext cx="3108960" cy="219456"/>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サービス概要</a:t>
            </a:r>
            <a:endParaRPr lang="en-US" sz="1300" dirty="0"/>
          </a:p>
        </p:txBody>
      </p:sp>
      <p:sp>
        <p:nvSpPr>
          <p:cNvPr id="8" name="Text 6"/>
          <p:cNvSpPr/>
          <p:nvPr/>
        </p:nvSpPr>
        <p:spPr>
          <a:xfrm>
            <a:off x="3529584" y="713232"/>
            <a:ext cx="5303520" cy="18288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KPI・4ステップバリューチェーン</a:t>
            </a:r>
            <a:endParaRPr lang="en-US" sz="1000" dirty="0"/>
          </a:p>
        </p:txBody>
      </p:sp>
      <p:sp>
        <p:nvSpPr>
          <p:cNvPr id="9" name="Shape 7"/>
          <p:cNvSpPr/>
          <p:nvPr/>
        </p:nvSpPr>
        <p:spPr>
          <a:xfrm>
            <a:off x="3090672" y="996696"/>
            <a:ext cx="329184" cy="329184"/>
          </a:xfrm>
          <a:prstGeom prst="ellipse">
            <a:avLst/>
          </a:prstGeom>
          <a:solidFill>
            <a:srgbClr val="3B82F6"/>
          </a:solidFill>
          <a:ln/>
        </p:spPr>
      </p:sp>
      <p:sp>
        <p:nvSpPr>
          <p:cNvPr id="10" name="Text 8"/>
          <p:cNvSpPr/>
          <p:nvPr/>
        </p:nvSpPr>
        <p:spPr>
          <a:xfrm>
            <a:off x="3090672" y="996696"/>
            <a:ext cx="329184"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02</a:t>
            </a:r>
            <a:endParaRPr lang="en-US" sz="1000" dirty="0"/>
          </a:p>
        </p:txBody>
      </p:sp>
      <p:sp>
        <p:nvSpPr>
          <p:cNvPr id="11" name="Text 9"/>
          <p:cNvSpPr/>
          <p:nvPr/>
        </p:nvSpPr>
        <p:spPr>
          <a:xfrm>
            <a:off x="3529584" y="950976"/>
            <a:ext cx="3108960" cy="219456"/>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ログイン情報</a:t>
            </a:r>
            <a:endParaRPr lang="en-US" sz="1300" dirty="0"/>
          </a:p>
        </p:txBody>
      </p:sp>
      <p:sp>
        <p:nvSpPr>
          <p:cNvPr id="12" name="Text 10"/>
          <p:cNvSpPr/>
          <p:nvPr/>
        </p:nvSpPr>
        <p:spPr>
          <a:xfrm>
            <a:off x="3529584" y="1179576"/>
            <a:ext cx="5303520" cy="18288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管理画面・オペレーター画面アクセス</a:t>
            </a:r>
            <a:endParaRPr lang="en-US" sz="1000" dirty="0"/>
          </a:p>
        </p:txBody>
      </p:sp>
      <p:sp>
        <p:nvSpPr>
          <p:cNvPr id="13" name="Shape 11"/>
          <p:cNvSpPr/>
          <p:nvPr/>
        </p:nvSpPr>
        <p:spPr>
          <a:xfrm>
            <a:off x="3090672" y="1463040"/>
            <a:ext cx="329184" cy="329184"/>
          </a:xfrm>
          <a:prstGeom prst="ellipse">
            <a:avLst/>
          </a:prstGeom>
          <a:solidFill>
            <a:srgbClr val="3B82F6"/>
          </a:solidFill>
          <a:ln/>
        </p:spPr>
      </p:sp>
      <p:sp>
        <p:nvSpPr>
          <p:cNvPr id="14" name="Text 12"/>
          <p:cNvSpPr/>
          <p:nvPr/>
        </p:nvSpPr>
        <p:spPr>
          <a:xfrm>
            <a:off x="3090672" y="1463040"/>
            <a:ext cx="329184"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03</a:t>
            </a:r>
            <a:endParaRPr lang="en-US" sz="1000" dirty="0"/>
          </a:p>
        </p:txBody>
      </p:sp>
      <p:sp>
        <p:nvSpPr>
          <p:cNvPr id="15" name="Text 13"/>
          <p:cNvSpPr/>
          <p:nvPr/>
        </p:nvSpPr>
        <p:spPr>
          <a:xfrm>
            <a:off x="3529584" y="1417320"/>
            <a:ext cx="3108960" cy="219456"/>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担当者連絡先</a:t>
            </a:r>
            <a:endParaRPr lang="en-US" sz="1300" dirty="0"/>
          </a:p>
        </p:txBody>
      </p:sp>
      <p:sp>
        <p:nvSpPr>
          <p:cNvPr id="16" name="Text 14"/>
          <p:cNvSpPr/>
          <p:nvPr/>
        </p:nvSpPr>
        <p:spPr>
          <a:xfrm>
            <a:off x="3529584" y="1645920"/>
            <a:ext cx="5303520" cy="18288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SoloptiLink チーム連絡先</a:t>
            </a:r>
            <a:endParaRPr lang="en-US" sz="1000" dirty="0"/>
          </a:p>
        </p:txBody>
      </p:sp>
      <p:sp>
        <p:nvSpPr>
          <p:cNvPr id="17" name="Shape 15"/>
          <p:cNvSpPr/>
          <p:nvPr/>
        </p:nvSpPr>
        <p:spPr>
          <a:xfrm>
            <a:off x="3090672" y="1929384"/>
            <a:ext cx="329184" cy="329184"/>
          </a:xfrm>
          <a:prstGeom prst="ellipse">
            <a:avLst/>
          </a:prstGeom>
          <a:solidFill>
            <a:srgbClr val="3B82F6"/>
          </a:solidFill>
          <a:ln/>
        </p:spPr>
      </p:sp>
      <p:sp>
        <p:nvSpPr>
          <p:cNvPr id="18" name="Text 16"/>
          <p:cNvSpPr/>
          <p:nvPr/>
        </p:nvSpPr>
        <p:spPr>
          <a:xfrm>
            <a:off x="3090672" y="1929384"/>
            <a:ext cx="329184"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04</a:t>
            </a:r>
            <a:endParaRPr lang="en-US" sz="1000" dirty="0"/>
          </a:p>
        </p:txBody>
      </p:sp>
      <p:sp>
        <p:nvSpPr>
          <p:cNvPr id="19" name="Text 17"/>
          <p:cNvSpPr/>
          <p:nvPr/>
        </p:nvSpPr>
        <p:spPr>
          <a:xfrm>
            <a:off x="3529584" y="1883664"/>
            <a:ext cx="3108960" cy="219456"/>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オンボーディング</a:t>
            </a:r>
            <a:endParaRPr lang="en-US" sz="1300" dirty="0"/>
          </a:p>
        </p:txBody>
      </p:sp>
      <p:sp>
        <p:nvSpPr>
          <p:cNvPr id="20" name="Text 18"/>
          <p:cNvSpPr/>
          <p:nvPr/>
        </p:nvSpPr>
        <p:spPr>
          <a:xfrm>
            <a:off x="3529584" y="2112264"/>
            <a:ext cx="5303520" cy="18288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4ステップ導入手順</a:t>
            </a:r>
            <a:endParaRPr lang="en-US" sz="1000" dirty="0"/>
          </a:p>
        </p:txBody>
      </p:sp>
      <p:sp>
        <p:nvSpPr>
          <p:cNvPr id="21" name="Shape 19"/>
          <p:cNvSpPr/>
          <p:nvPr/>
        </p:nvSpPr>
        <p:spPr>
          <a:xfrm>
            <a:off x="3090672" y="2395728"/>
            <a:ext cx="329184" cy="329184"/>
          </a:xfrm>
          <a:prstGeom prst="ellipse">
            <a:avLst/>
          </a:prstGeom>
          <a:solidFill>
            <a:srgbClr val="3B82F6"/>
          </a:solidFill>
          <a:ln/>
        </p:spPr>
      </p:sp>
      <p:sp>
        <p:nvSpPr>
          <p:cNvPr id="22" name="Text 20"/>
          <p:cNvSpPr/>
          <p:nvPr/>
        </p:nvSpPr>
        <p:spPr>
          <a:xfrm>
            <a:off x="3090672" y="2395728"/>
            <a:ext cx="329184"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05</a:t>
            </a:r>
            <a:endParaRPr lang="en-US" sz="1000" dirty="0"/>
          </a:p>
        </p:txBody>
      </p:sp>
      <p:sp>
        <p:nvSpPr>
          <p:cNvPr id="23" name="Text 21"/>
          <p:cNvSpPr/>
          <p:nvPr/>
        </p:nvSpPr>
        <p:spPr>
          <a:xfrm>
            <a:off x="3529584" y="2350008"/>
            <a:ext cx="3108960" cy="219456"/>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スクリプト設計</a:t>
            </a:r>
            <a:endParaRPr lang="en-US" sz="1300" dirty="0"/>
          </a:p>
        </p:txBody>
      </p:sp>
      <p:sp>
        <p:nvSpPr>
          <p:cNvPr id="24" name="Text 22"/>
          <p:cNvSpPr/>
          <p:nvPr/>
        </p:nvSpPr>
        <p:spPr>
          <a:xfrm>
            <a:off x="3529584" y="2578608"/>
            <a:ext cx="5303520" cy="18288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ノード・キーワード・優先順位</a:t>
            </a:r>
            <a:endParaRPr lang="en-US" sz="1000" dirty="0"/>
          </a:p>
        </p:txBody>
      </p:sp>
      <p:sp>
        <p:nvSpPr>
          <p:cNvPr id="25" name="Shape 23"/>
          <p:cNvSpPr/>
          <p:nvPr/>
        </p:nvSpPr>
        <p:spPr>
          <a:xfrm>
            <a:off x="3090672" y="2862072"/>
            <a:ext cx="329184" cy="329184"/>
          </a:xfrm>
          <a:prstGeom prst="ellipse">
            <a:avLst/>
          </a:prstGeom>
          <a:solidFill>
            <a:srgbClr val="3B82F6"/>
          </a:solidFill>
          <a:ln/>
        </p:spPr>
      </p:sp>
      <p:sp>
        <p:nvSpPr>
          <p:cNvPr id="26" name="Text 24"/>
          <p:cNvSpPr/>
          <p:nvPr/>
        </p:nvSpPr>
        <p:spPr>
          <a:xfrm>
            <a:off x="3090672" y="2862072"/>
            <a:ext cx="329184"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06</a:t>
            </a:r>
            <a:endParaRPr lang="en-US" sz="1000" dirty="0"/>
          </a:p>
        </p:txBody>
      </p:sp>
      <p:sp>
        <p:nvSpPr>
          <p:cNvPr id="27" name="Text 25"/>
          <p:cNvSpPr/>
          <p:nvPr/>
        </p:nvSpPr>
        <p:spPr>
          <a:xfrm>
            <a:off x="3529584" y="2816352"/>
            <a:ext cx="3108960" cy="219456"/>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録音 &amp; 発信準備</a:t>
            </a:r>
            <a:endParaRPr lang="en-US" sz="1300" dirty="0"/>
          </a:p>
        </p:txBody>
      </p:sp>
      <p:sp>
        <p:nvSpPr>
          <p:cNvPr id="28" name="Text 26"/>
          <p:cNvSpPr/>
          <p:nvPr/>
        </p:nvSpPr>
        <p:spPr>
          <a:xfrm>
            <a:off x="3529584" y="3044952"/>
            <a:ext cx="5303520" cy="18288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録音ツール・チャンネル設定</a:t>
            </a:r>
            <a:endParaRPr lang="en-US" sz="1000" dirty="0"/>
          </a:p>
        </p:txBody>
      </p:sp>
      <p:sp>
        <p:nvSpPr>
          <p:cNvPr id="29" name="Shape 27"/>
          <p:cNvSpPr/>
          <p:nvPr/>
        </p:nvSpPr>
        <p:spPr>
          <a:xfrm>
            <a:off x="3090672" y="3328416"/>
            <a:ext cx="329184" cy="329184"/>
          </a:xfrm>
          <a:prstGeom prst="ellipse">
            <a:avLst/>
          </a:prstGeom>
          <a:solidFill>
            <a:srgbClr val="3B82F6"/>
          </a:solidFill>
          <a:ln/>
        </p:spPr>
      </p:sp>
      <p:sp>
        <p:nvSpPr>
          <p:cNvPr id="30" name="Text 28"/>
          <p:cNvSpPr/>
          <p:nvPr/>
        </p:nvSpPr>
        <p:spPr>
          <a:xfrm>
            <a:off x="3090672" y="3328416"/>
            <a:ext cx="329184"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07</a:t>
            </a:r>
            <a:endParaRPr lang="en-US" sz="1000" dirty="0"/>
          </a:p>
        </p:txBody>
      </p:sp>
      <p:sp>
        <p:nvSpPr>
          <p:cNvPr id="31" name="Text 29"/>
          <p:cNvSpPr/>
          <p:nvPr/>
        </p:nvSpPr>
        <p:spPr>
          <a:xfrm>
            <a:off x="3529584" y="3282696"/>
            <a:ext cx="3108960" cy="219456"/>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オペレーター対応</a:t>
            </a:r>
            <a:endParaRPr lang="en-US" sz="1300" dirty="0"/>
          </a:p>
        </p:txBody>
      </p:sp>
      <p:sp>
        <p:nvSpPr>
          <p:cNvPr id="32" name="Text 30"/>
          <p:cNvSpPr/>
          <p:nvPr/>
        </p:nvSpPr>
        <p:spPr>
          <a:xfrm>
            <a:off x="3529584" y="3511296"/>
            <a:ext cx="5303520" cy="18288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転送・代電・通話フロー</a:t>
            </a:r>
            <a:endParaRPr lang="en-US" sz="1000" dirty="0"/>
          </a:p>
        </p:txBody>
      </p:sp>
      <p:sp>
        <p:nvSpPr>
          <p:cNvPr id="33" name="Shape 31"/>
          <p:cNvSpPr/>
          <p:nvPr/>
        </p:nvSpPr>
        <p:spPr>
          <a:xfrm>
            <a:off x="3090672" y="3794760"/>
            <a:ext cx="329184" cy="329184"/>
          </a:xfrm>
          <a:prstGeom prst="ellipse">
            <a:avLst/>
          </a:prstGeom>
          <a:solidFill>
            <a:srgbClr val="3B82F6"/>
          </a:solidFill>
          <a:ln/>
        </p:spPr>
      </p:sp>
      <p:sp>
        <p:nvSpPr>
          <p:cNvPr id="34" name="Text 32"/>
          <p:cNvSpPr/>
          <p:nvPr/>
        </p:nvSpPr>
        <p:spPr>
          <a:xfrm>
            <a:off x="3090672" y="3794760"/>
            <a:ext cx="329184"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08</a:t>
            </a:r>
            <a:endParaRPr lang="en-US" sz="1000" dirty="0"/>
          </a:p>
        </p:txBody>
      </p:sp>
      <p:sp>
        <p:nvSpPr>
          <p:cNvPr id="35" name="Text 33"/>
          <p:cNvSpPr/>
          <p:nvPr/>
        </p:nvSpPr>
        <p:spPr>
          <a:xfrm>
            <a:off x="3529584" y="3749040"/>
            <a:ext cx="3108960" cy="219456"/>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3ヶ月ロードマップ</a:t>
            </a:r>
            <a:endParaRPr lang="en-US" sz="1300" dirty="0"/>
          </a:p>
        </p:txBody>
      </p:sp>
      <p:sp>
        <p:nvSpPr>
          <p:cNvPr id="36" name="Text 34"/>
          <p:cNvSpPr/>
          <p:nvPr/>
        </p:nvSpPr>
        <p:spPr>
          <a:xfrm>
            <a:off x="3529584" y="3977640"/>
            <a:ext cx="5303520" cy="18288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Kickoff→テスト→本格稼働</a:t>
            </a:r>
            <a:endParaRPr lang="en-US" sz="1000" dirty="0"/>
          </a:p>
        </p:txBody>
      </p:sp>
      <p:sp>
        <p:nvSpPr>
          <p:cNvPr id="37" name="Shape 35"/>
          <p:cNvSpPr/>
          <p:nvPr/>
        </p:nvSpPr>
        <p:spPr>
          <a:xfrm>
            <a:off x="3090672" y="4261104"/>
            <a:ext cx="329184" cy="329184"/>
          </a:xfrm>
          <a:prstGeom prst="ellipse">
            <a:avLst/>
          </a:prstGeom>
          <a:solidFill>
            <a:srgbClr val="3B82F6"/>
          </a:solidFill>
          <a:ln/>
        </p:spPr>
      </p:sp>
      <p:sp>
        <p:nvSpPr>
          <p:cNvPr id="38" name="Text 36"/>
          <p:cNvSpPr/>
          <p:nvPr/>
        </p:nvSpPr>
        <p:spPr>
          <a:xfrm>
            <a:off x="3090672" y="4261104"/>
            <a:ext cx="329184"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09</a:t>
            </a:r>
            <a:endParaRPr lang="en-US" sz="1000" dirty="0"/>
          </a:p>
        </p:txBody>
      </p:sp>
      <p:sp>
        <p:nvSpPr>
          <p:cNvPr id="39" name="Text 37"/>
          <p:cNvSpPr/>
          <p:nvPr/>
        </p:nvSpPr>
        <p:spPr>
          <a:xfrm>
            <a:off x="3529584" y="4215384"/>
            <a:ext cx="3108960" cy="219456"/>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PDCA改善</a:t>
            </a:r>
            <a:endParaRPr lang="en-US" sz="1300" dirty="0"/>
          </a:p>
        </p:txBody>
      </p:sp>
      <p:sp>
        <p:nvSpPr>
          <p:cNvPr id="40" name="Text 38"/>
          <p:cNvSpPr/>
          <p:nvPr/>
        </p:nvSpPr>
        <p:spPr>
          <a:xfrm>
            <a:off x="3529584" y="4443984"/>
            <a:ext cx="5303520" cy="18288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ログ分析・スクリプト改善サイクル</a:t>
            </a:r>
            <a:endParaRPr lang="en-US" sz="1000" dirty="0"/>
          </a:p>
        </p:txBody>
      </p:sp>
      <p:sp>
        <p:nvSpPr>
          <p:cNvPr id="41" name="Shape 39"/>
          <p:cNvSpPr/>
          <p:nvPr/>
        </p:nvSpPr>
        <p:spPr>
          <a:xfrm>
            <a:off x="3090672" y="4727448"/>
            <a:ext cx="329184" cy="329184"/>
          </a:xfrm>
          <a:prstGeom prst="ellipse">
            <a:avLst/>
          </a:prstGeom>
          <a:solidFill>
            <a:srgbClr val="3B82F6"/>
          </a:solidFill>
          <a:ln/>
        </p:spPr>
      </p:sp>
      <p:sp>
        <p:nvSpPr>
          <p:cNvPr id="42" name="Text 40"/>
          <p:cNvSpPr/>
          <p:nvPr/>
        </p:nvSpPr>
        <p:spPr>
          <a:xfrm>
            <a:off x="3090672" y="4727448"/>
            <a:ext cx="329184"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10</a:t>
            </a:r>
            <a:endParaRPr lang="en-US" sz="1000" dirty="0"/>
          </a:p>
        </p:txBody>
      </p:sp>
      <p:sp>
        <p:nvSpPr>
          <p:cNvPr id="43" name="Text 41"/>
          <p:cNvSpPr/>
          <p:nvPr/>
        </p:nvSpPr>
        <p:spPr>
          <a:xfrm>
            <a:off x="3529584" y="4681728"/>
            <a:ext cx="3108960" cy="219456"/>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FAQ &amp; URL集</a:t>
            </a:r>
            <a:endParaRPr lang="en-US" sz="1300" dirty="0"/>
          </a:p>
        </p:txBody>
      </p:sp>
      <p:sp>
        <p:nvSpPr>
          <p:cNvPr id="44" name="Text 42"/>
          <p:cNvSpPr/>
          <p:nvPr/>
        </p:nvSpPr>
        <p:spPr>
          <a:xfrm>
            <a:off x="3529584" y="4910328"/>
            <a:ext cx="5303520" cy="18288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よくある質問・全ツールリンク</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F1A3E"/>
          </a:solidFill>
          <a:ln/>
        </p:spPr>
      </p:sp>
      <p:sp>
        <p:nvSpPr>
          <p:cNvPr id="3" name="Text 1"/>
          <p:cNvSpPr/>
          <p:nvPr/>
        </p:nvSpPr>
        <p:spPr>
          <a:xfrm>
            <a:off x="457200" y="91440"/>
            <a:ext cx="8229600" cy="347472"/>
          </a:xfrm>
          <a:prstGeom prst="rect">
            <a:avLst/>
          </a:prstGeom>
          <a:noFill/>
          <a:ln/>
        </p:spPr>
        <p:txBody>
          <a:bodyPr wrap="square" lIns="0" tIns="0" rIns="0" bIns="0" rtlCol="0" anchor="ctr"/>
          <a:lstStyle/>
          <a:p>
            <a:pPr indent="0" marL="0">
              <a:buNone/>
            </a:pPr>
            <a:r>
              <a:rPr lang="en-US" sz="1100" b="1" spc="200" kern="0" dirty="0">
                <a:solidFill>
                  <a:srgbClr val="3B82F6"/>
                </a:solidFill>
                <a:latin typeface="Calibri" pitchFamily="34" charset="0"/>
                <a:ea typeface="Calibri" pitchFamily="34" charset="-122"/>
                <a:cs typeface="Calibri" pitchFamily="34" charset="-120"/>
              </a:rPr>
              <a:t>01  サービス概要</a:t>
            </a:r>
            <a:endParaRPr lang="en-US" sz="1100" dirty="0"/>
          </a:p>
        </p:txBody>
      </p:sp>
      <p:sp>
        <p:nvSpPr>
          <p:cNvPr id="4" name="Text 2"/>
          <p:cNvSpPr/>
          <p:nvPr/>
        </p:nvSpPr>
        <p:spPr>
          <a:xfrm>
            <a:off x="457200" y="438912"/>
            <a:ext cx="8229600" cy="420624"/>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AIテレアポとは — バリューチェーン</a:t>
            </a:r>
            <a:endParaRPr lang="en-US" sz="2400" dirty="0"/>
          </a:p>
        </p:txBody>
      </p:sp>
      <p:sp>
        <p:nvSpPr>
          <p:cNvPr id="5" name="Shape 3"/>
          <p:cNvSpPr/>
          <p:nvPr/>
        </p:nvSpPr>
        <p:spPr>
          <a:xfrm>
            <a:off x="411480" y="1005840"/>
            <a:ext cx="2743200" cy="1051560"/>
          </a:xfrm>
          <a:prstGeom prst="roundRect">
            <a:avLst>
              <a:gd name="adj" fmla="val 8696"/>
            </a:avLst>
          </a:prstGeom>
          <a:solidFill>
            <a:srgbClr val="3B82F6"/>
          </a:solidFill>
          <a:ln/>
          <a:effectLst>
            <a:outerShdw sx="100000" sy="100000" kx="0" ky="0" algn="bl" rotWithShape="0" blurRad="101600" dist="38100" dir="2700000">
              <a:srgbClr val="000000">
                <a:alpha val="12000"/>
              </a:srgbClr>
            </a:outerShdw>
          </a:effectLst>
        </p:spPr>
      </p:sp>
      <p:sp>
        <p:nvSpPr>
          <p:cNvPr id="6" name="Text 4"/>
          <p:cNvSpPr/>
          <p:nvPr/>
        </p:nvSpPr>
        <p:spPr>
          <a:xfrm>
            <a:off x="411480" y="1033272"/>
            <a:ext cx="2743200" cy="594360"/>
          </a:xfrm>
          <a:prstGeom prst="rect">
            <a:avLst/>
          </a:prstGeom>
          <a:noFill/>
          <a:ln/>
        </p:spPr>
        <p:txBody>
          <a:bodyPr wrap="square" lIns="0" tIns="0" rIns="0" bIns="0" rtlCol="0" anchor="ctr"/>
          <a:lstStyle/>
          <a:p>
            <a:pPr algn="ctr" indent="0" marL="0">
              <a:buNone/>
            </a:pPr>
            <a:r>
              <a:rPr lang="en-US" sz="3800" b="1" dirty="0">
                <a:solidFill>
                  <a:srgbClr val="FFFFFF"/>
                </a:solidFill>
                <a:latin typeface="Calibri" pitchFamily="34" charset="0"/>
                <a:ea typeface="Calibri" pitchFamily="34" charset="-122"/>
                <a:cs typeface="Calibri" pitchFamily="34" charset="-120"/>
              </a:rPr>
              <a:t>10×</a:t>
            </a:r>
            <a:endParaRPr lang="en-US" sz="3800" dirty="0"/>
          </a:p>
        </p:txBody>
      </p:sp>
      <p:sp>
        <p:nvSpPr>
          <p:cNvPr id="7" name="Text 5"/>
          <p:cNvSpPr/>
          <p:nvPr/>
        </p:nvSpPr>
        <p:spPr>
          <a:xfrm>
            <a:off x="411480" y="1600200"/>
            <a:ext cx="2743200" cy="384048"/>
          </a:xfrm>
          <a:prstGeom prst="rect">
            <a:avLst/>
          </a:prstGeom>
          <a:noFill/>
          <a:ln/>
        </p:spPr>
        <p:txBody>
          <a:bodyPr wrap="square" lIns="0" tIns="0" rIns="0" bIns="0" rtlCol="0" anchor="ctr"/>
          <a:lstStyle/>
          <a:p>
            <a:pPr algn="ctr" indent="0" marL="0">
              <a:lnSpc>
                <a:spcPct val="130000"/>
              </a:lnSpc>
              <a:buNone/>
            </a:pPr>
            <a:r>
              <a:rPr lang="en-US" sz="1000" dirty="0">
                <a:solidFill>
                  <a:srgbClr val="BFDBFE"/>
                </a:solidFill>
                <a:latin typeface="Calibri" pitchFamily="34" charset="0"/>
                <a:ea typeface="Calibri" pitchFamily="34" charset="-122"/>
                <a:cs typeface="Calibri" pitchFamily="34" charset="-120"/>
              </a:rPr>
              <a:t>生産性向上</a:t>
            </a:r>
            <a:endParaRPr lang="en-US" sz="1000" dirty="0"/>
          </a:p>
          <a:p>
            <a:pPr algn="ctr" indent="0" marL="0">
              <a:lnSpc>
                <a:spcPct val="130000"/>
              </a:lnSpc>
              <a:buNone/>
            </a:pPr>
            <a:r>
              <a:rPr lang="en-US" sz="1000" dirty="0">
                <a:solidFill>
                  <a:srgbClr val="BFDBFE"/>
                </a:solidFill>
                <a:latin typeface="Calibri" pitchFamily="34" charset="0"/>
                <a:ea typeface="Calibri" pitchFamily="34" charset="-122"/>
                <a:cs typeface="Calibri" pitchFamily="34" charset="-120"/>
              </a:rPr>
              <a:t>（従来比）</a:t>
            </a:r>
            <a:endParaRPr lang="en-US" sz="1000" dirty="0"/>
          </a:p>
        </p:txBody>
      </p:sp>
      <p:sp>
        <p:nvSpPr>
          <p:cNvPr id="8" name="Shape 6"/>
          <p:cNvSpPr/>
          <p:nvPr/>
        </p:nvSpPr>
        <p:spPr>
          <a:xfrm>
            <a:off x="3355848" y="1005840"/>
            <a:ext cx="2743200" cy="1051560"/>
          </a:xfrm>
          <a:prstGeom prst="roundRect">
            <a:avLst>
              <a:gd name="adj" fmla="val 8696"/>
            </a:avLst>
          </a:prstGeom>
          <a:solidFill>
            <a:srgbClr val="1E3A8A"/>
          </a:solidFill>
          <a:ln/>
          <a:effectLst>
            <a:outerShdw sx="100000" sy="100000" kx="0" ky="0" algn="bl" rotWithShape="0" blurRad="101600" dist="38100" dir="2700000">
              <a:srgbClr val="000000">
                <a:alpha val="12000"/>
              </a:srgbClr>
            </a:outerShdw>
          </a:effectLst>
        </p:spPr>
      </p:sp>
      <p:sp>
        <p:nvSpPr>
          <p:cNvPr id="9" name="Text 7"/>
          <p:cNvSpPr/>
          <p:nvPr/>
        </p:nvSpPr>
        <p:spPr>
          <a:xfrm>
            <a:off x="3355848" y="1033272"/>
            <a:ext cx="2743200" cy="594360"/>
          </a:xfrm>
          <a:prstGeom prst="rect">
            <a:avLst/>
          </a:prstGeom>
          <a:noFill/>
          <a:ln/>
        </p:spPr>
        <p:txBody>
          <a:bodyPr wrap="square" lIns="0" tIns="0" rIns="0" bIns="0" rtlCol="0" anchor="ctr"/>
          <a:lstStyle/>
          <a:p>
            <a:pPr algn="ctr" indent="0" marL="0">
              <a:buNone/>
            </a:pPr>
            <a:r>
              <a:rPr lang="en-US" sz="3800" b="1" dirty="0">
                <a:solidFill>
                  <a:srgbClr val="FFFFFF"/>
                </a:solidFill>
                <a:latin typeface="Calibri" pitchFamily="34" charset="0"/>
                <a:ea typeface="Calibri" pitchFamily="34" charset="-122"/>
                <a:cs typeface="Calibri" pitchFamily="34" charset="-120"/>
              </a:rPr>
              <a:t>24h</a:t>
            </a:r>
            <a:endParaRPr lang="en-US" sz="3800" dirty="0"/>
          </a:p>
        </p:txBody>
      </p:sp>
      <p:sp>
        <p:nvSpPr>
          <p:cNvPr id="10" name="Text 8"/>
          <p:cNvSpPr/>
          <p:nvPr/>
        </p:nvSpPr>
        <p:spPr>
          <a:xfrm>
            <a:off x="3355848" y="1600200"/>
            <a:ext cx="2743200" cy="384048"/>
          </a:xfrm>
          <a:prstGeom prst="rect">
            <a:avLst/>
          </a:prstGeom>
          <a:noFill/>
          <a:ln/>
        </p:spPr>
        <p:txBody>
          <a:bodyPr wrap="square" lIns="0" tIns="0" rIns="0" bIns="0" rtlCol="0" anchor="ctr"/>
          <a:lstStyle/>
          <a:p>
            <a:pPr algn="ctr" indent="0" marL="0">
              <a:lnSpc>
                <a:spcPct val="130000"/>
              </a:lnSpc>
              <a:buNone/>
            </a:pPr>
            <a:r>
              <a:rPr lang="en-US" sz="1000" dirty="0">
                <a:solidFill>
                  <a:srgbClr val="BFDBFE"/>
                </a:solidFill>
                <a:latin typeface="Calibri" pitchFamily="34" charset="0"/>
                <a:ea typeface="Calibri" pitchFamily="34" charset="-122"/>
                <a:cs typeface="Calibri" pitchFamily="34" charset="-120"/>
              </a:rPr>
              <a:t>365日</a:t>
            </a:r>
            <a:endParaRPr lang="en-US" sz="1000" dirty="0"/>
          </a:p>
          <a:p>
            <a:pPr algn="ctr" indent="0" marL="0">
              <a:lnSpc>
                <a:spcPct val="130000"/>
              </a:lnSpc>
              <a:buNone/>
            </a:pPr>
            <a:r>
              <a:rPr lang="en-US" sz="1000" dirty="0">
                <a:solidFill>
                  <a:srgbClr val="BFDBFE"/>
                </a:solidFill>
                <a:latin typeface="Calibri" pitchFamily="34" charset="0"/>
                <a:ea typeface="Calibri" pitchFamily="34" charset="-122"/>
                <a:cs typeface="Calibri" pitchFamily="34" charset="-120"/>
              </a:rPr>
              <a:t>稼働</a:t>
            </a:r>
            <a:endParaRPr lang="en-US" sz="1000" dirty="0"/>
          </a:p>
        </p:txBody>
      </p:sp>
      <p:sp>
        <p:nvSpPr>
          <p:cNvPr id="11" name="Shape 9"/>
          <p:cNvSpPr/>
          <p:nvPr/>
        </p:nvSpPr>
        <p:spPr>
          <a:xfrm>
            <a:off x="6300216" y="1005840"/>
            <a:ext cx="2743200" cy="1051560"/>
          </a:xfrm>
          <a:prstGeom prst="roundRect">
            <a:avLst>
              <a:gd name="adj" fmla="val 8696"/>
            </a:avLst>
          </a:prstGeom>
          <a:solidFill>
            <a:srgbClr val="059669"/>
          </a:solidFill>
          <a:ln/>
          <a:effectLst>
            <a:outerShdw sx="100000" sy="100000" kx="0" ky="0" algn="bl" rotWithShape="0" blurRad="101600" dist="38100" dir="2700000">
              <a:srgbClr val="000000">
                <a:alpha val="12000"/>
              </a:srgbClr>
            </a:outerShdw>
          </a:effectLst>
        </p:spPr>
      </p:sp>
      <p:sp>
        <p:nvSpPr>
          <p:cNvPr id="12" name="Text 10"/>
          <p:cNvSpPr/>
          <p:nvPr/>
        </p:nvSpPr>
        <p:spPr>
          <a:xfrm>
            <a:off x="6300216" y="1033272"/>
            <a:ext cx="2743200" cy="594360"/>
          </a:xfrm>
          <a:prstGeom prst="rect">
            <a:avLst/>
          </a:prstGeom>
          <a:noFill/>
          <a:ln/>
        </p:spPr>
        <p:txBody>
          <a:bodyPr wrap="square" lIns="0" tIns="0" rIns="0" bIns="0" rtlCol="0" anchor="ctr"/>
          <a:lstStyle/>
          <a:p>
            <a:pPr algn="ctr" indent="0" marL="0">
              <a:buNone/>
            </a:pPr>
            <a:r>
              <a:rPr lang="en-US" sz="3800" b="1" dirty="0">
                <a:solidFill>
                  <a:srgbClr val="FFFFFF"/>
                </a:solidFill>
                <a:latin typeface="Calibri" pitchFamily="34" charset="0"/>
                <a:ea typeface="Calibri" pitchFamily="34" charset="-122"/>
                <a:cs typeface="Calibri" pitchFamily="34" charset="-120"/>
              </a:rPr>
              <a:t>¥2,400</a:t>
            </a:r>
            <a:endParaRPr lang="en-US" sz="3800" dirty="0"/>
          </a:p>
        </p:txBody>
      </p:sp>
      <p:sp>
        <p:nvSpPr>
          <p:cNvPr id="13" name="Text 11"/>
          <p:cNvSpPr/>
          <p:nvPr/>
        </p:nvSpPr>
        <p:spPr>
          <a:xfrm>
            <a:off x="6300216" y="1600200"/>
            <a:ext cx="2743200" cy="384048"/>
          </a:xfrm>
          <a:prstGeom prst="rect">
            <a:avLst/>
          </a:prstGeom>
          <a:noFill/>
          <a:ln/>
        </p:spPr>
        <p:txBody>
          <a:bodyPr wrap="square" lIns="0" tIns="0" rIns="0" bIns="0" rtlCol="0" anchor="ctr"/>
          <a:lstStyle/>
          <a:p>
            <a:pPr algn="ctr" indent="0" marL="0">
              <a:lnSpc>
                <a:spcPct val="130000"/>
              </a:lnSpc>
              <a:buNone/>
            </a:pPr>
            <a:r>
              <a:rPr lang="en-US" sz="1000" dirty="0">
                <a:solidFill>
                  <a:srgbClr val="BFDBFE"/>
                </a:solidFill>
                <a:latin typeface="Calibri" pitchFamily="34" charset="0"/>
                <a:ea typeface="Calibri" pitchFamily="34" charset="-122"/>
                <a:cs typeface="Calibri" pitchFamily="34" charset="-120"/>
              </a:rPr>
              <a:t>アポ1件あたりの</a:t>
            </a:r>
            <a:endParaRPr lang="en-US" sz="1000" dirty="0"/>
          </a:p>
          <a:p>
            <a:pPr algn="ctr" indent="0" marL="0">
              <a:lnSpc>
                <a:spcPct val="130000"/>
              </a:lnSpc>
              <a:buNone/>
            </a:pPr>
            <a:r>
              <a:rPr lang="en-US" sz="1000" dirty="0">
                <a:solidFill>
                  <a:srgbClr val="BFDBFE"/>
                </a:solidFill>
                <a:latin typeface="Calibri" pitchFamily="34" charset="0"/>
                <a:ea typeface="Calibri" pitchFamily="34" charset="-122"/>
                <a:cs typeface="Calibri" pitchFamily="34" charset="-120"/>
              </a:rPr>
              <a:t>コスト（1%アポ率時）</a:t>
            </a:r>
            <a:endParaRPr lang="en-US" sz="1000" dirty="0"/>
          </a:p>
        </p:txBody>
      </p:sp>
      <p:sp>
        <p:nvSpPr>
          <p:cNvPr id="14" name="Shape 12"/>
          <p:cNvSpPr/>
          <p:nvPr/>
        </p:nvSpPr>
        <p:spPr>
          <a:xfrm>
            <a:off x="411480" y="2212848"/>
            <a:ext cx="2029968" cy="2560320"/>
          </a:xfrm>
          <a:prstGeom prst="roundRect">
            <a:avLst>
              <a:gd name="adj" fmla="val 4505"/>
            </a:avLst>
          </a:prstGeom>
          <a:solidFill>
            <a:srgbClr val="F8FAFC"/>
          </a:solidFill>
          <a:ln w="12700">
            <a:solidFill>
              <a:srgbClr val="CBD5E1"/>
            </a:solidFill>
            <a:prstDash val="solid"/>
          </a:ln>
          <a:effectLst>
            <a:outerShdw sx="100000" sy="100000" kx="0" ky="0" algn="bl" rotWithShape="0" blurRad="76200" dist="25400" dir="2700000">
              <a:srgbClr val="000000">
                <a:alpha val="12000"/>
              </a:srgbClr>
            </a:outerShdw>
          </a:effectLst>
        </p:spPr>
      </p:sp>
      <p:sp>
        <p:nvSpPr>
          <p:cNvPr id="15" name="Shape 13"/>
          <p:cNvSpPr/>
          <p:nvPr/>
        </p:nvSpPr>
        <p:spPr>
          <a:xfrm>
            <a:off x="411480" y="2212848"/>
            <a:ext cx="2029968" cy="475488"/>
          </a:xfrm>
          <a:prstGeom prst="rect">
            <a:avLst/>
          </a:prstGeom>
          <a:solidFill>
            <a:srgbClr val="3B82F6"/>
          </a:solidFill>
          <a:ln/>
        </p:spPr>
      </p:sp>
      <p:sp>
        <p:nvSpPr>
          <p:cNvPr id="16" name="Text 14"/>
          <p:cNvSpPr/>
          <p:nvPr/>
        </p:nvSpPr>
        <p:spPr>
          <a:xfrm>
            <a:off x="484632" y="2212848"/>
            <a:ext cx="1883664" cy="475488"/>
          </a:xfrm>
          <a:prstGeom prst="rect">
            <a:avLst/>
          </a:prstGeom>
          <a:noFill/>
          <a:ln/>
        </p:spPr>
        <p:txBody>
          <a:bodyPr wrap="square" lIns="0" tIns="0" rIns="0" bIns="0" rtlCol="0" anchor="ctr"/>
          <a:lstStyle/>
          <a:p>
            <a:pPr algn="ctr" indent="0" marL="0">
              <a:lnSpc>
                <a:spcPct val="120000"/>
              </a:lnSpc>
              <a:buNone/>
            </a:pPr>
            <a:r>
              <a:rPr lang="en-US" sz="1000" b="1" dirty="0">
                <a:solidFill>
                  <a:srgbClr val="FFFFFF"/>
                </a:solidFill>
                <a:latin typeface="Calibri" pitchFamily="34" charset="0"/>
                <a:ea typeface="Calibri" pitchFamily="34" charset="-122"/>
                <a:cs typeface="Calibri" pitchFamily="34" charset="-120"/>
              </a:rPr>
              <a:t>STEP 1</a:t>
            </a:r>
            <a:endParaRPr lang="en-US" sz="1000" dirty="0"/>
          </a:p>
          <a:p>
            <a:pPr algn="ctr" indent="0" marL="0">
              <a:lnSpc>
                <a:spcPct val="120000"/>
              </a:lnSpc>
              <a:buNone/>
            </a:pPr>
            <a:r>
              <a:rPr lang="en-US" sz="1000" b="1" dirty="0">
                <a:solidFill>
                  <a:srgbClr val="FFFFFF"/>
                </a:solidFill>
                <a:latin typeface="Calibri" pitchFamily="34" charset="0"/>
                <a:ea typeface="Calibri" pitchFamily="34" charset="-122"/>
                <a:cs typeface="Calibri" pitchFamily="34" charset="-120"/>
              </a:rPr>
              <a:t>AI初動架電</a:t>
            </a:r>
            <a:endParaRPr lang="en-US" sz="1000" dirty="0"/>
          </a:p>
        </p:txBody>
      </p:sp>
      <p:sp>
        <p:nvSpPr>
          <p:cNvPr id="17" name="Text 15"/>
          <p:cNvSpPr/>
          <p:nvPr/>
        </p:nvSpPr>
        <p:spPr>
          <a:xfrm>
            <a:off x="502920" y="2743200"/>
            <a:ext cx="1847088" cy="914400"/>
          </a:xfrm>
          <a:prstGeom prst="rect">
            <a:avLst/>
          </a:prstGeom>
          <a:noFill/>
          <a:ln/>
        </p:spPr>
        <p:txBody>
          <a:bodyPr wrap="square" lIns="0" tIns="0" rIns="0" bIns="0" rtlCol="0" anchor="ctr"/>
          <a:lstStyle/>
          <a:p>
            <a:pPr algn="ctr" indent="0" marL="0">
              <a:lnSpc>
                <a:spcPct val="145000"/>
              </a:lnSpc>
              <a:buNone/>
            </a:pPr>
            <a:r>
              <a:rPr lang="en-US" sz="1000" dirty="0">
                <a:solidFill>
                  <a:srgbClr val="64748B"/>
                </a:solidFill>
                <a:latin typeface="Calibri" pitchFamily="34" charset="0"/>
                <a:ea typeface="Calibri" pitchFamily="34" charset="-122"/>
                <a:cs typeface="Calibri" pitchFamily="34" charset="-120"/>
              </a:rPr>
              <a:t>大量リストへ自動架電</a:t>
            </a:r>
            <a:endParaRPr lang="en-US" sz="1000" dirty="0"/>
          </a:p>
          <a:p>
            <a:pPr algn="ctr" indent="0" marL="0">
              <a:lnSpc>
                <a:spcPct val="145000"/>
              </a:lnSpc>
              <a:buNone/>
            </a:pPr>
            <a:r>
              <a:rPr lang="en-US" sz="1000" dirty="0">
                <a:solidFill>
                  <a:srgbClr val="64748B"/>
                </a:solidFill>
                <a:latin typeface="Calibri" pitchFamily="34" charset="0"/>
                <a:ea typeface="Calibri" pitchFamily="34" charset="-122"/>
                <a:cs typeface="Calibri" pitchFamily="34" charset="-120"/>
              </a:rPr>
              <a:t>反応収集。24h/365日</a:t>
            </a:r>
            <a:endParaRPr lang="en-US" sz="1000" dirty="0"/>
          </a:p>
          <a:p>
            <a:pPr algn="ctr" indent="0" marL="0">
              <a:lnSpc>
                <a:spcPct val="145000"/>
              </a:lnSpc>
              <a:buNone/>
            </a:pPr>
            <a:r>
              <a:rPr lang="en-US" sz="1000" dirty="0">
                <a:solidFill>
                  <a:srgbClr val="64748B"/>
                </a:solidFill>
                <a:latin typeface="Calibri" pitchFamily="34" charset="0"/>
                <a:ea typeface="Calibri" pitchFamily="34" charset="-122"/>
                <a:cs typeface="Calibri" pitchFamily="34" charset="-120"/>
              </a:rPr>
              <a:t>稼働で営業機会最大化</a:t>
            </a:r>
            <a:endParaRPr lang="en-US" sz="1000" dirty="0"/>
          </a:p>
        </p:txBody>
      </p:sp>
      <p:sp>
        <p:nvSpPr>
          <p:cNvPr id="18" name="Text 16"/>
          <p:cNvSpPr/>
          <p:nvPr/>
        </p:nvSpPr>
        <p:spPr>
          <a:xfrm>
            <a:off x="2441448" y="3383280"/>
            <a:ext cx="164592" cy="228600"/>
          </a:xfrm>
          <a:prstGeom prst="rect">
            <a:avLst/>
          </a:prstGeom>
          <a:noFill/>
          <a:ln/>
        </p:spPr>
        <p:txBody>
          <a:bodyPr wrap="square" lIns="0" tIns="0" rIns="0" bIns="0" rtlCol="0" anchor="ctr"/>
          <a:lstStyle/>
          <a:p>
            <a:pPr algn="ctr" indent="0" marL="0">
              <a:buNone/>
            </a:pPr>
            <a:r>
              <a:rPr lang="en-US" sz="1100" dirty="0">
                <a:solidFill>
                  <a:srgbClr val="CBD5E1"/>
                </a:solidFill>
              </a:rPr>
              <a:t>▶</a:t>
            </a:r>
            <a:endParaRPr lang="en-US" sz="1100" dirty="0"/>
          </a:p>
        </p:txBody>
      </p:sp>
      <p:sp>
        <p:nvSpPr>
          <p:cNvPr id="19" name="Shape 17"/>
          <p:cNvSpPr/>
          <p:nvPr/>
        </p:nvSpPr>
        <p:spPr>
          <a:xfrm>
            <a:off x="2606040" y="2212848"/>
            <a:ext cx="2029968" cy="2560320"/>
          </a:xfrm>
          <a:prstGeom prst="roundRect">
            <a:avLst>
              <a:gd name="adj" fmla="val 4505"/>
            </a:avLst>
          </a:prstGeom>
          <a:solidFill>
            <a:srgbClr val="F8FAFC"/>
          </a:solidFill>
          <a:ln w="12700">
            <a:solidFill>
              <a:srgbClr val="CBD5E1"/>
            </a:solidFill>
            <a:prstDash val="solid"/>
          </a:ln>
          <a:effectLst>
            <a:outerShdw sx="100000" sy="100000" kx="0" ky="0" algn="bl" rotWithShape="0" blurRad="76200" dist="25400" dir="2700000">
              <a:srgbClr val="000000">
                <a:alpha val="12000"/>
              </a:srgbClr>
            </a:outerShdw>
          </a:effectLst>
        </p:spPr>
      </p:sp>
      <p:sp>
        <p:nvSpPr>
          <p:cNvPr id="20" name="Shape 18"/>
          <p:cNvSpPr/>
          <p:nvPr/>
        </p:nvSpPr>
        <p:spPr>
          <a:xfrm>
            <a:off x="2606040" y="2212848"/>
            <a:ext cx="2029968" cy="475488"/>
          </a:xfrm>
          <a:prstGeom prst="rect">
            <a:avLst/>
          </a:prstGeom>
          <a:solidFill>
            <a:srgbClr val="1E3A8A"/>
          </a:solidFill>
          <a:ln/>
        </p:spPr>
      </p:sp>
      <p:sp>
        <p:nvSpPr>
          <p:cNvPr id="21" name="Text 19"/>
          <p:cNvSpPr/>
          <p:nvPr/>
        </p:nvSpPr>
        <p:spPr>
          <a:xfrm>
            <a:off x="2679192" y="2212848"/>
            <a:ext cx="1883664" cy="475488"/>
          </a:xfrm>
          <a:prstGeom prst="rect">
            <a:avLst/>
          </a:prstGeom>
          <a:noFill/>
          <a:ln/>
        </p:spPr>
        <p:txBody>
          <a:bodyPr wrap="square" lIns="0" tIns="0" rIns="0" bIns="0" rtlCol="0" anchor="ctr"/>
          <a:lstStyle/>
          <a:p>
            <a:pPr algn="ctr" indent="0" marL="0">
              <a:lnSpc>
                <a:spcPct val="120000"/>
              </a:lnSpc>
              <a:buNone/>
            </a:pPr>
            <a:r>
              <a:rPr lang="en-US" sz="1000" b="1" dirty="0">
                <a:solidFill>
                  <a:srgbClr val="FFFFFF"/>
                </a:solidFill>
                <a:latin typeface="Calibri" pitchFamily="34" charset="0"/>
                <a:ea typeface="Calibri" pitchFamily="34" charset="-122"/>
                <a:cs typeface="Calibri" pitchFamily="34" charset="-120"/>
              </a:rPr>
              <a:t>STEP 2</a:t>
            </a:r>
            <a:endParaRPr lang="en-US" sz="1000" dirty="0"/>
          </a:p>
          <a:p>
            <a:pPr algn="ctr" indent="0" marL="0">
              <a:lnSpc>
                <a:spcPct val="120000"/>
              </a:lnSpc>
              <a:buNone/>
            </a:pPr>
            <a:r>
              <a:rPr lang="en-US" sz="1000" b="1" dirty="0">
                <a:solidFill>
                  <a:srgbClr val="FFFFFF"/>
                </a:solidFill>
                <a:latin typeface="Calibri" pitchFamily="34" charset="0"/>
                <a:ea typeface="Calibri" pitchFamily="34" charset="-122"/>
                <a:cs typeface="Calibri" pitchFamily="34" charset="-120"/>
              </a:rPr>
              <a:t>自動スクリーニング</a:t>
            </a:r>
            <a:endParaRPr lang="en-US" sz="1000" dirty="0"/>
          </a:p>
        </p:txBody>
      </p:sp>
      <p:sp>
        <p:nvSpPr>
          <p:cNvPr id="22" name="Text 20"/>
          <p:cNvSpPr/>
          <p:nvPr/>
        </p:nvSpPr>
        <p:spPr>
          <a:xfrm>
            <a:off x="2697480" y="2743200"/>
            <a:ext cx="1847088" cy="914400"/>
          </a:xfrm>
          <a:prstGeom prst="rect">
            <a:avLst/>
          </a:prstGeom>
          <a:noFill/>
          <a:ln/>
        </p:spPr>
        <p:txBody>
          <a:bodyPr wrap="square" lIns="0" tIns="0" rIns="0" bIns="0" rtlCol="0" anchor="ctr"/>
          <a:lstStyle/>
          <a:p>
            <a:pPr algn="ctr" indent="0" marL="0">
              <a:lnSpc>
                <a:spcPct val="145000"/>
              </a:lnSpc>
              <a:buNone/>
            </a:pPr>
            <a:r>
              <a:rPr lang="en-US" sz="1000" dirty="0">
                <a:solidFill>
                  <a:srgbClr val="64748B"/>
                </a:solidFill>
                <a:latin typeface="Calibri" pitchFamily="34" charset="0"/>
                <a:ea typeface="Calibri" pitchFamily="34" charset="-122"/>
                <a:cs typeface="Calibri" pitchFamily="34" charset="-120"/>
              </a:rPr>
              <a:t>見込み度をA/B/Cに</a:t>
            </a:r>
            <a:endParaRPr lang="en-US" sz="1000" dirty="0"/>
          </a:p>
          <a:p>
            <a:pPr algn="ctr" indent="0" marL="0">
              <a:lnSpc>
                <a:spcPct val="145000"/>
              </a:lnSpc>
              <a:buNone/>
            </a:pPr>
            <a:r>
              <a:rPr lang="en-US" sz="1000" dirty="0">
                <a:solidFill>
                  <a:srgbClr val="64748B"/>
                </a:solidFill>
                <a:latin typeface="Calibri" pitchFamily="34" charset="0"/>
                <a:ea typeface="Calibri" pitchFamily="34" charset="-122"/>
                <a:cs typeface="Calibri" pitchFamily="34" charset="-120"/>
              </a:rPr>
              <a:t>自動分類。80%の</a:t>
            </a:r>
            <a:endParaRPr lang="en-US" sz="1000" dirty="0"/>
          </a:p>
          <a:p>
            <a:pPr algn="ctr" indent="0" marL="0">
              <a:lnSpc>
                <a:spcPct val="145000"/>
              </a:lnSpc>
              <a:buNone/>
            </a:pPr>
            <a:r>
              <a:rPr lang="en-US" sz="1000" dirty="0">
                <a:solidFill>
                  <a:srgbClr val="64748B"/>
                </a:solidFill>
                <a:latin typeface="Calibri" pitchFamily="34" charset="0"/>
                <a:ea typeface="Calibri" pitchFamily="34" charset="-122"/>
                <a:cs typeface="Calibri" pitchFamily="34" charset="-120"/>
              </a:rPr>
              <a:t>無効顧客をフィルタ</a:t>
            </a:r>
            <a:endParaRPr lang="en-US" sz="1000" dirty="0"/>
          </a:p>
        </p:txBody>
      </p:sp>
      <p:sp>
        <p:nvSpPr>
          <p:cNvPr id="23" name="Text 21"/>
          <p:cNvSpPr/>
          <p:nvPr/>
        </p:nvSpPr>
        <p:spPr>
          <a:xfrm>
            <a:off x="4636008" y="3383280"/>
            <a:ext cx="164592" cy="228600"/>
          </a:xfrm>
          <a:prstGeom prst="rect">
            <a:avLst/>
          </a:prstGeom>
          <a:noFill/>
          <a:ln/>
        </p:spPr>
        <p:txBody>
          <a:bodyPr wrap="square" lIns="0" tIns="0" rIns="0" bIns="0" rtlCol="0" anchor="ctr"/>
          <a:lstStyle/>
          <a:p>
            <a:pPr algn="ctr" indent="0" marL="0">
              <a:buNone/>
            </a:pPr>
            <a:r>
              <a:rPr lang="en-US" sz="1100" dirty="0">
                <a:solidFill>
                  <a:srgbClr val="CBD5E1"/>
                </a:solidFill>
              </a:rPr>
              <a:t>▶</a:t>
            </a:r>
            <a:endParaRPr lang="en-US" sz="1100" dirty="0"/>
          </a:p>
        </p:txBody>
      </p:sp>
      <p:sp>
        <p:nvSpPr>
          <p:cNvPr id="24" name="Shape 22"/>
          <p:cNvSpPr/>
          <p:nvPr/>
        </p:nvSpPr>
        <p:spPr>
          <a:xfrm>
            <a:off x="4800600" y="2212848"/>
            <a:ext cx="2029968" cy="2560320"/>
          </a:xfrm>
          <a:prstGeom prst="roundRect">
            <a:avLst>
              <a:gd name="adj" fmla="val 4505"/>
            </a:avLst>
          </a:prstGeom>
          <a:solidFill>
            <a:srgbClr val="F8FAFC"/>
          </a:solidFill>
          <a:ln w="12700">
            <a:solidFill>
              <a:srgbClr val="CBD5E1"/>
            </a:solidFill>
            <a:prstDash val="solid"/>
          </a:ln>
          <a:effectLst>
            <a:outerShdw sx="100000" sy="100000" kx="0" ky="0" algn="bl" rotWithShape="0" blurRad="76200" dist="25400" dir="2700000">
              <a:srgbClr val="000000">
                <a:alpha val="12000"/>
              </a:srgbClr>
            </a:outerShdw>
          </a:effectLst>
        </p:spPr>
      </p:sp>
      <p:sp>
        <p:nvSpPr>
          <p:cNvPr id="25" name="Shape 23"/>
          <p:cNvSpPr/>
          <p:nvPr/>
        </p:nvSpPr>
        <p:spPr>
          <a:xfrm>
            <a:off x="4800600" y="2212848"/>
            <a:ext cx="2029968" cy="475488"/>
          </a:xfrm>
          <a:prstGeom prst="rect">
            <a:avLst/>
          </a:prstGeom>
          <a:solidFill>
            <a:srgbClr val="059669"/>
          </a:solidFill>
          <a:ln/>
        </p:spPr>
      </p:sp>
      <p:sp>
        <p:nvSpPr>
          <p:cNvPr id="26" name="Text 24"/>
          <p:cNvSpPr/>
          <p:nvPr/>
        </p:nvSpPr>
        <p:spPr>
          <a:xfrm>
            <a:off x="4873752" y="2212848"/>
            <a:ext cx="1883664" cy="475488"/>
          </a:xfrm>
          <a:prstGeom prst="rect">
            <a:avLst/>
          </a:prstGeom>
          <a:noFill/>
          <a:ln/>
        </p:spPr>
        <p:txBody>
          <a:bodyPr wrap="square" lIns="0" tIns="0" rIns="0" bIns="0" rtlCol="0" anchor="ctr"/>
          <a:lstStyle/>
          <a:p>
            <a:pPr algn="ctr" indent="0" marL="0">
              <a:lnSpc>
                <a:spcPct val="120000"/>
              </a:lnSpc>
              <a:buNone/>
            </a:pPr>
            <a:r>
              <a:rPr lang="en-US" sz="1000" b="1" dirty="0">
                <a:solidFill>
                  <a:srgbClr val="FFFFFF"/>
                </a:solidFill>
                <a:latin typeface="Calibri" pitchFamily="34" charset="0"/>
                <a:ea typeface="Calibri" pitchFamily="34" charset="-122"/>
                <a:cs typeface="Calibri" pitchFamily="34" charset="-120"/>
              </a:rPr>
              <a:t>STEP 3</a:t>
            </a:r>
            <a:endParaRPr lang="en-US" sz="1000" dirty="0"/>
          </a:p>
          <a:p>
            <a:pPr algn="ctr" indent="0" marL="0">
              <a:lnSpc>
                <a:spcPct val="120000"/>
              </a:lnSpc>
              <a:buNone/>
            </a:pPr>
            <a:r>
              <a:rPr lang="en-US" sz="1000" b="1" dirty="0">
                <a:solidFill>
                  <a:srgbClr val="FFFFFF"/>
                </a:solidFill>
                <a:latin typeface="Calibri" pitchFamily="34" charset="0"/>
                <a:ea typeface="Calibri" pitchFamily="34" charset="-122"/>
                <a:cs typeface="Calibri" pitchFamily="34" charset="-120"/>
              </a:rPr>
              <a:t>人間クロージング</a:t>
            </a:r>
            <a:endParaRPr lang="en-US" sz="1000" dirty="0"/>
          </a:p>
        </p:txBody>
      </p:sp>
      <p:sp>
        <p:nvSpPr>
          <p:cNvPr id="27" name="Text 25"/>
          <p:cNvSpPr/>
          <p:nvPr/>
        </p:nvSpPr>
        <p:spPr>
          <a:xfrm>
            <a:off x="4892040" y="2743200"/>
            <a:ext cx="1847088" cy="914400"/>
          </a:xfrm>
          <a:prstGeom prst="rect">
            <a:avLst/>
          </a:prstGeom>
          <a:noFill/>
          <a:ln/>
        </p:spPr>
        <p:txBody>
          <a:bodyPr wrap="square" lIns="0" tIns="0" rIns="0" bIns="0" rtlCol="0" anchor="ctr"/>
          <a:lstStyle/>
          <a:p>
            <a:pPr algn="ctr" indent="0" marL="0">
              <a:lnSpc>
                <a:spcPct val="145000"/>
              </a:lnSpc>
              <a:buNone/>
            </a:pPr>
            <a:r>
              <a:rPr lang="en-US" sz="1000" dirty="0">
                <a:solidFill>
                  <a:srgbClr val="64748B"/>
                </a:solidFill>
                <a:latin typeface="Calibri" pitchFamily="34" charset="0"/>
                <a:ea typeface="Calibri" pitchFamily="34" charset="-122"/>
                <a:cs typeface="Calibri" pitchFamily="34" charset="-120"/>
              </a:rPr>
              <a:t>Aランクのみ担当者が</a:t>
            </a:r>
            <a:endParaRPr lang="en-US" sz="1000" dirty="0"/>
          </a:p>
          <a:p>
            <a:pPr algn="ctr" indent="0" marL="0">
              <a:lnSpc>
                <a:spcPct val="145000"/>
              </a:lnSpc>
              <a:buNone/>
            </a:pPr>
            <a:r>
              <a:rPr lang="en-US" sz="1000" dirty="0">
                <a:solidFill>
                  <a:srgbClr val="64748B"/>
                </a:solidFill>
                <a:latin typeface="Calibri" pitchFamily="34" charset="0"/>
                <a:ea typeface="Calibri" pitchFamily="34" charset="-122"/>
                <a:cs typeface="Calibri" pitchFamily="34" charset="-120"/>
              </a:rPr>
              <a:t>対応。クロージングに</a:t>
            </a:r>
            <a:endParaRPr lang="en-US" sz="1000" dirty="0"/>
          </a:p>
          <a:p>
            <a:pPr algn="ctr" indent="0" marL="0">
              <a:lnSpc>
                <a:spcPct val="145000"/>
              </a:lnSpc>
              <a:buNone/>
            </a:pPr>
            <a:r>
              <a:rPr lang="en-US" sz="1000" dirty="0">
                <a:solidFill>
                  <a:srgbClr val="64748B"/>
                </a:solidFill>
                <a:latin typeface="Calibri" pitchFamily="34" charset="0"/>
                <a:ea typeface="Calibri" pitchFamily="34" charset="-122"/>
                <a:cs typeface="Calibri" pitchFamily="34" charset="-120"/>
              </a:rPr>
              <a:t>集中できる環境を実現</a:t>
            </a:r>
            <a:endParaRPr lang="en-US" sz="1000" dirty="0"/>
          </a:p>
        </p:txBody>
      </p:sp>
      <p:sp>
        <p:nvSpPr>
          <p:cNvPr id="28" name="Text 26"/>
          <p:cNvSpPr/>
          <p:nvPr/>
        </p:nvSpPr>
        <p:spPr>
          <a:xfrm>
            <a:off x="6830568" y="3383280"/>
            <a:ext cx="164592" cy="228600"/>
          </a:xfrm>
          <a:prstGeom prst="rect">
            <a:avLst/>
          </a:prstGeom>
          <a:noFill/>
          <a:ln/>
        </p:spPr>
        <p:txBody>
          <a:bodyPr wrap="square" lIns="0" tIns="0" rIns="0" bIns="0" rtlCol="0" anchor="ctr"/>
          <a:lstStyle/>
          <a:p>
            <a:pPr algn="ctr" indent="0" marL="0">
              <a:buNone/>
            </a:pPr>
            <a:r>
              <a:rPr lang="en-US" sz="1100" dirty="0">
                <a:solidFill>
                  <a:srgbClr val="CBD5E1"/>
                </a:solidFill>
              </a:rPr>
              <a:t>▶</a:t>
            </a:r>
            <a:endParaRPr lang="en-US" sz="1100" dirty="0"/>
          </a:p>
        </p:txBody>
      </p:sp>
      <p:sp>
        <p:nvSpPr>
          <p:cNvPr id="29" name="Shape 27"/>
          <p:cNvSpPr/>
          <p:nvPr/>
        </p:nvSpPr>
        <p:spPr>
          <a:xfrm>
            <a:off x="6995160" y="2212848"/>
            <a:ext cx="2029968" cy="2560320"/>
          </a:xfrm>
          <a:prstGeom prst="roundRect">
            <a:avLst>
              <a:gd name="adj" fmla="val 4505"/>
            </a:avLst>
          </a:prstGeom>
          <a:solidFill>
            <a:srgbClr val="F8FAFC"/>
          </a:solidFill>
          <a:ln w="12700">
            <a:solidFill>
              <a:srgbClr val="CBD5E1"/>
            </a:solidFill>
            <a:prstDash val="solid"/>
          </a:ln>
          <a:effectLst>
            <a:outerShdw sx="100000" sy="100000" kx="0" ky="0" algn="bl" rotWithShape="0" blurRad="76200" dist="25400" dir="2700000">
              <a:srgbClr val="000000">
                <a:alpha val="12000"/>
              </a:srgbClr>
            </a:outerShdw>
          </a:effectLst>
        </p:spPr>
      </p:sp>
      <p:sp>
        <p:nvSpPr>
          <p:cNvPr id="30" name="Shape 28"/>
          <p:cNvSpPr/>
          <p:nvPr/>
        </p:nvSpPr>
        <p:spPr>
          <a:xfrm>
            <a:off x="6995160" y="2212848"/>
            <a:ext cx="2029968" cy="475488"/>
          </a:xfrm>
          <a:prstGeom prst="rect">
            <a:avLst/>
          </a:prstGeom>
          <a:solidFill>
            <a:srgbClr val="0891B2"/>
          </a:solidFill>
          <a:ln/>
        </p:spPr>
      </p:sp>
      <p:sp>
        <p:nvSpPr>
          <p:cNvPr id="31" name="Text 29"/>
          <p:cNvSpPr/>
          <p:nvPr/>
        </p:nvSpPr>
        <p:spPr>
          <a:xfrm>
            <a:off x="7068312" y="2212848"/>
            <a:ext cx="1883664" cy="475488"/>
          </a:xfrm>
          <a:prstGeom prst="rect">
            <a:avLst/>
          </a:prstGeom>
          <a:noFill/>
          <a:ln/>
        </p:spPr>
        <p:txBody>
          <a:bodyPr wrap="square" lIns="0" tIns="0" rIns="0" bIns="0" rtlCol="0" anchor="ctr"/>
          <a:lstStyle/>
          <a:p>
            <a:pPr algn="ctr" indent="0" marL="0">
              <a:lnSpc>
                <a:spcPct val="120000"/>
              </a:lnSpc>
              <a:buNone/>
            </a:pPr>
            <a:r>
              <a:rPr lang="en-US" sz="1000" b="1" dirty="0">
                <a:solidFill>
                  <a:srgbClr val="FFFFFF"/>
                </a:solidFill>
                <a:latin typeface="Calibri" pitchFamily="34" charset="0"/>
                <a:ea typeface="Calibri" pitchFamily="34" charset="-122"/>
                <a:cs typeface="Calibri" pitchFamily="34" charset="-120"/>
              </a:rPr>
              <a:t>STEP 4</a:t>
            </a:r>
            <a:endParaRPr lang="en-US" sz="1000" dirty="0"/>
          </a:p>
          <a:p>
            <a:pPr algn="ctr" indent="0" marL="0">
              <a:lnSpc>
                <a:spcPct val="120000"/>
              </a:lnSpc>
              <a:buNone/>
            </a:pPr>
            <a:r>
              <a:rPr lang="en-US" sz="1000" b="1" dirty="0">
                <a:solidFill>
                  <a:srgbClr val="FFFFFF"/>
                </a:solidFill>
                <a:latin typeface="Calibri" pitchFamily="34" charset="0"/>
                <a:ea typeface="Calibri" pitchFamily="34" charset="-122"/>
                <a:cs typeface="Calibri" pitchFamily="34" charset="-120"/>
              </a:rPr>
              <a:t>データPDCA</a:t>
            </a:r>
            <a:endParaRPr lang="en-US" sz="1000" dirty="0"/>
          </a:p>
        </p:txBody>
      </p:sp>
      <p:sp>
        <p:nvSpPr>
          <p:cNvPr id="32" name="Text 30"/>
          <p:cNvSpPr/>
          <p:nvPr/>
        </p:nvSpPr>
        <p:spPr>
          <a:xfrm>
            <a:off x="7086600" y="2743200"/>
            <a:ext cx="1847088" cy="914400"/>
          </a:xfrm>
          <a:prstGeom prst="rect">
            <a:avLst/>
          </a:prstGeom>
          <a:noFill/>
          <a:ln/>
        </p:spPr>
        <p:txBody>
          <a:bodyPr wrap="square" lIns="0" tIns="0" rIns="0" bIns="0" rtlCol="0" anchor="ctr"/>
          <a:lstStyle/>
          <a:p>
            <a:pPr algn="ctr" indent="0" marL="0">
              <a:lnSpc>
                <a:spcPct val="145000"/>
              </a:lnSpc>
              <a:buNone/>
            </a:pPr>
            <a:r>
              <a:rPr lang="en-US" sz="1000" dirty="0">
                <a:solidFill>
                  <a:srgbClr val="64748B"/>
                </a:solidFill>
                <a:latin typeface="Calibri" pitchFamily="34" charset="0"/>
                <a:ea typeface="Calibri" pitchFamily="34" charset="-122"/>
                <a:cs typeface="Calibri" pitchFamily="34" charset="-120"/>
              </a:rPr>
              <a:t>全会話データを分析し</a:t>
            </a:r>
            <a:endParaRPr lang="en-US" sz="1000" dirty="0"/>
          </a:p>
          <a:p>
            <a:pPr algn="ctr" indent="0" marL="0">
              <a:lnSpc>
                <a:spcPct val="145000"/>
              </a:lnSpc>
              <a:buNone/>
            </a:pPr>
            <a:r>
              <a:rPr lang="en-US" sz="1000" dirty="0">
                <a:solidFill>
                  <a:srgbClr val="64748B"/>
                </a:solidFill>
                <a:latin typeface="Calibri" pitchFamily="34" charset="0"/>
                <a:ea typeface="Calibri" pitchFamily="34" charset="-122"/>
                <a:cs typeface="Calibri" pitchFamily="34" charset="-120"/>
              </a:rPr>
              <a:t>スクリプト継続改善。</a:t>
            </a:r>
            <a:endParaRPr lang="en-US" sz="1000" dirty="0"/>
          </a:p>
          <a:p>
            <a:pPr algn="ctr" indent="0" marL="0">
              <a:lnSpc>
                <a:spcPct val="145000"/>
              </a:lnSpc>
              <a:buNone/>
            </a:pPr>
            <a:r>
              <a:rPr lang="en-US" sz="1000" dirty="0">
                <a:solidFill>
                  <a:srgbClr val="64748B"/>
                </a:solidFill>
                <a:latin typeface="Calibri" pitchFamily="34" charset="0"/>
                <a:ea typeface="Calibri" pitchFamily="34" charset="-122"/>
                <a:cs typeface="Calibri" pitchFamily="34" charset="-120"/>
              </a:rPr>
              <a:t>アポ率を週次で向上</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F1A3E"/>
          </a:solidFill>
          <a:ln/>
        </p:spPr>
      </p:sp>
      <p:sp>
        <p:nvSpPr>
          <p:cNvPr id="3" name="Text 1"/>
          <p:cNvSpPr/>
          <p:nvPr/>
        </p:nvSpPr>
        <p:spPr>
          <a:xfrm>
            <a:off x="457200" y="91440"/>
            <a:ext cx="8229600" cy="347472"/>
          </a:xfrm>
          <a:prstGeom prst="rect">
            <a:avLst/>
          </a:prstGeom>
          <a:noFill/>
          <a:ln/>
        </p:spPr>
        <p:txBody>
          <a:bodyPr wrap="square" lIns="0" tIns="0" rIns="0" bIns="0" rtlCol="0" anchor="ctr"/>
          <a:lstStyle/>
          <a:p>
            <a:pPr indent="0" marL="0">
              <a:buNone/>
            </a:pPr>
            <a:r>
              <a:rPr lang="en-US" sz="1100" b="1" spc="200" kern="0" dirty="0">
                <a:solidFill>
                  <a:srgbClr val="3B82F6"/>
                </a:solidFill>
                <a:latin typeface="Calibri" pitchFamily="34" charset="0"/>
                <a:ea typeface="Calibri" pitchFamily="34" charset="-122"/>
                <a:cs typeface="Calibri" pitchFamily="34" charset="-120"/>
              </a:rPr>
              <a:t>02  ログイン情報</a:t>
            </a:r>
            <a:endParaRPr lang="en-US" sz="1100" dirty="0"/>
          </a:p>
        </p:txBody>
      </p:sp>
      <p:sp>
        <p:nvSpPr>
          <p:cNvPr id="4" name="Text 2"/>
          <p:cNvSpPr/>
          <p:nvPr/>
        </p:nvSpPr>
        <p:spPr>
          <a:xfrm>
            <a:off x="457200" y="438912"/>
            <a:ext cx="8229600" cy="420624"/>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管理画面・オペレーター画面へのアクセス</a:t>
            </a:r>
            <a:endParaRPr lang="en-US" sz="2400" dirty="0"/>
          </a:p>
        </p:txBody>
      </p:sp>
      <p:sp>
        <p:nvSpPr>
          <p:cNvPr id="5" name="Shape 3"/>
          <p:cNvSpPr/>
          <p:nvPr/>
        </p:nvSpPr>
        <p:spPr>
          <a:xfrm>
            <a:off x="365760" y="1005840"/>
            <a:ext cx="8412480" cy="384048"/>
          </a:xfrm>
          <a:prstGeom prst="roundRect">
            <a:avLst>
              <a:gd name="adj" fmla="val 16667"/>
            </a:avLst>
          </a:prstGeom>
          <a:solidFill>
            <a:srgbClr val="FEF9C3"/>
          </a:solidFill>
          <a:ln w="12700">
            <a:solidFill>
              <a:srgbClr val="D97706"/>
            </a:solidFill>
            <a:prstDash val="solid"/>
          </a:ln>
        </p:spPr>
      </p:sp>
      <p:sp>
        <p:nvSpPr>
          <p:cNvPr id="6" name="Text 4"/>
          <p:cNvSpPr/>
          <p:nvPr/>
        </p:nvSpPr>
        <p:spPr>
          <a:xfrm>
            <a:off x="502920" y="1005840"/>
            <a:ext cx="8229600" cy="384048"/>
          </a:xfrm>
          <a:prstGeom prst="rect">
            <a:avLst/>
          </a:prstGeom>
          <a:noFill/>
          <a:ln/>
        </p:spPr>
        <p:txBody>
          <a:bodyPr wrap="square" lIns="0" tIns="0" rIns="0" bIns="0" rtlCol="0" anchor="ctr"/>
          <a:lstStyle/>
          <a:p>
            <a:pPr indent="0" marL="0">
              <a:buNone/>
            </a:pPr>
            <a:r>
              <a:rPr lang="en-US" sz="1200" b="1" dirty="0">
                <a:solidFill>
                  <a:srgbClr val="92400E"/>
                </a:solidFill>
                <a:latin typeface="Calibri" pitchFamily="34" charset="0"/>
                <a:ea typeface="Calibri" pitchFamily="34" charset="-122"/>
                <a:cs typeface="Calibri" pitchFamily="34" charset="-120"/>
              </a:rPr>
              <a:t>⚠️  この情報は社外秘です。スクリーンショット・転送・第三者共有は厳禁です。</a:t>
            </a:r>
            <a:endParaRPr lang="en-US" sz="1200" dirty="0"/>
          </a:p>
        </p:txBody>
      </p:sp>
      <p:sp>
        <p:nvSpPr>
          <p:cNvPr id="7" name="Shape 5"/>
          <p:cNvSpPr/>
          <p:nvPr/>
        </p:nvSpPr>
        <p:spPr>
          <a:xfrm>
            <a:off x="365760" y="1508760"/>
            <a:ext cx="4114800" cy="2560320"/>
          </a:xfrm>
          <a:prstGeom prst="roundRect">
            <a:avLst>
              <a:gd name="adj" fmla="val 3571"/>
            </a:avLst>
          </a:prstGeom>
          <a:solidFill>
            <a:srgbClr val="F8FAFC"/>
          </a:solidFill>
          <a:ln w="12700">
            <a:solidFill>
              <a:srgbClr val="CBD5E1"/>
            </a:solidFill>
            <a:prstDash val="solid"/>
          </a:ln>
          <a:effectLst>
            <a:outerShdw sx="100000" sy="100000" kx="0" ky="0" algn="bl" rotWithShape="0" blurRad="101600" dist="38100" dir="2700000">
              <a:srgbClr val="000000">
                <a:alpha val="12000"/>
              </a:srgbClr>
            </a:outerShdw>
          </a:effectLst>
        </p:spPr>
      </p:sp>
      <p:sp>
        <p:nvSpPr>
          <p:cNvPr id="8" name="Shape 6"/>
          <p:cNvSpPr/>
          <p:nvPr/>
        </p:nvSpPr>
        <p:spPr>
          <a:xfrm>
            <a:off x="365760" y="1508760"/>
            <a:ext cx="4114800" cy="438912"/>
          </a:xfrm>
          <a:prstGeom prst="rect">
            <a:avLst/>
          </a:prstGeom>
          <a:solidFill>
            <a:srgbClr val="0F1A3E"/>
          </a:solidFill>
          <a:ln/>
        </p:spPr>
      </p:sp>
      <p:sp>
        <p:nvSpPr>
          <p:cNvPr id="9" name="Text 7"/>
          <p:cNvSpPr/>
          <p:nvPr/>
        </p:nvSpPr>
        <p:spPr>
          <a:xfrm>
            <a:off x="502920" y="1508760"/>
            <a:ext cx="3840480" cy="43891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  管理画面（Admin）</a:t>
            </a:r>
            <a:endParaRPr lang="en-US" sz="1300" dirty="0"/>
          </a:p>
        </p:txBody>
      </p:sp>
      <p:sp>
        <p:nvSpPr>
          <p:cNvPr id="10" name="Text 8"/>
          <p:cNvSpPr/>
          <p:nvPr/>
        </p:nvSpPr>
        <p:spPr>
          <a:xfrm>
            <a:off x="548640" y="2029968"/>
            <a:ext cx="640080" cy="347472"/>
          </a:xfrm>
          <a:prstGeom prst="rect">
            <a:avLst/>
          </a:prstGeom>
          <a:noFill/>
          <a:ln/>
        </p:spPr>
        <p:txBody>
          <a:bodyPr wrap="square" lIns="0" tIns="0" rIns="0" bIns="0" rtlCol="0" anchor="ctr"/>
          <a:lstStyle/>
          <a:p>
            <a:pPr indent="0" marL="0">
              <a:buNone/>
            </a:pPr>
            <a:r>
              <a:rPr lang="en-US" sz="1200" b="1" dirty="0">
                <a:solidFill>
                  <a:srgbClr val="3B82F6"/>
                </a:solidFill>
                <a:latin typeface="Calibri" pitchFamily="34" charset="0"/>
                <a:ea typeface="Calibri" pitchFamily="34" charset="-122"/>
                <a:cs typeface="Calibri" pitchFamily="34" charset="-120"/>
              </a:rPr>
              <a:t>URL</a:t>
            </a:r>
            <a:endParaRPr lang="en-US" sz="1200" dirty="0"/>
          </a:p>
        </p:txBody>
      </p:sp>
      <p:sp>
        <p:nvSpPr>
          <p:cNvPr id="11" name="Shape 9"/>
          <p:cNvSpPr/>
          <p:nvPr/>
        </p:nvSpPr>
        <p:spPr>
          <a:xfrm>
            <a:off x="1261872" y="2048256"/>
            <a:ext cx="3017520" cy="310896"/>
          </a:xfrm>
          <a:prstGeom prst="roundRect">
            <a:avLst>
              <a:gd name="adj" fmla="val 14706"/>
            </a:avLst>
          </a:prstGeom>
          <a:solidFill>
            <a:srgbClr val="FFFFFF"/>
          </a:solidFill>
          <a:ln w="12700">
            <a:solidFill>
              <a:srgbClr val="CBD5E1"/>
            </a:solidFill>
            <a:prstDash val="solid"/>
          </a:ln>
        </p:spPr>
      </p:sp>
      <p:sp>
        <p:nvSpPr>
          <p:cNvPr id="12" name="Text 10"/>
          <p:cNvSpPr/>
          <p:nvPr/>
        </p:nvSpPr>
        <p:spPr>
          <a:xfrm>
            <a:off x="1325880" y="2048256"/>
            <a:ext cx="2926080" cy="310896"/>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robot.topsaler.cc/user/login</a:t>
            </a:r>
            <a:endParaRPr lang="en-US" sz="1100" dirty="0"/>
          </a:p>
        </p:txBody>
      </p:sp>
      <p:sp>
        <p:nvSpPr>
          <p:cNvPr id="13" name="Text 11"/>
          <p:cNvSpPr/>
          <p:nvPr/>
        </p:nvSpPr>
        <p:spPr>
          <a:xfrm>
            <a:off x="548640" y="2578608"/>
            <a:ext cx="640080" cy="347472"/>
          </a:xfrm>
          <a:prstGeom prst="rect">
            <a:avLst/>
          </a:prstGeom>
          <a:noFill/>
          <a:ln/>
        </p:spPr>
        <p:txBody>
          <a:bodyPr wrap="square" lIns="0" tIns="0" rIns="0" bIns="0" rtlCol="0" anchor="ctr"/>
          <a:lstStyle/>
          <a:p>
            <a:pPr indent="0" marL="0">
              <a:buNone/>
            </a:pPr>
            <a:r>
              <a:rPr lang="en-US" sz="1200" b="1" dirty="0">
                <a:solidFill>
                  <a:srgbClr val="3B82F6"/>
                </a:solidFill>
                <a:latin typeface="Calibri" pitchFamily="34" charset="0"/>
                <a:ea typeface="Calibri" pitchFamily="34" charset="-122"/>
                <a:cs typeface="Calibri" pitchFamily="34" charset="-120"/>
              </a:rPr>
              <a:t>ID</a:t>
            </a:r>
            <a:endParaRPr lang="en-US" sz="1200" dirty="0"/>
          </a:p>
        </p:txBody>
      </p:sp>
      <p:sp>
        <p:nvSpPr>
          <p:cNvPr id="14" name="Shape 12"/>
          <p:cNvSpPr/>
          <p:nvPr/>
        </p:nvSpPr>
        <p:spPr>
          <a:xfrm>
            <a:off x="1261872" y="2596896"/>
            <a:ext cx="3017520" cy="310896"/>
          </a:xfrm>
          <a:prstGeom prst="roundRect">
            <a:avLst>
              <a:gd name="adj" fmla="val 14706"/>
            </a:avLst>
          </a:prstGeom>
          <a:solidFill>
            <a:srgbClr val="FFFFFF"/>
          </a:solidFill>
          <a:ln w="12700">
            <a:solidFill>
              <a:srgbClr val="CBD5E1"/>
            </a:solidFill>
            <a:prstDash val="solid"/>
          </a:ln>
        </p:spPr>
      </p:sp>
      <p:sp>
        <p:nvSpPr>
          <p:cNvPr id="15" name="Text 13"/>
          <p:cNvSpPr/>
          <p:nvPr/>
        </p:nvSpPr>
        <p:spPr>
          <a:xfrm>
            <a:off x="1325880" y="2596896"/>
            <a:ext cx="2926080" cy="310896"/>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Apukuro</a:t>
            </a:r>
            <a:endParaRPr lang="en-US" sz="1100" dirty="0"/>
          </a:p>
        </p:txBody>
      </p:sp>
      <p:sp>
        <p:nvSpPr>
          <p:cNvPr id="16" name="Text 14"/>
          <p:cNvSpPr/>
          <p:nvPr/>
        </p:nvSpPr>
        <p:spPr>
          <a:xfrm>
            <a:off x="548640" y="3127248"/>
            <a:ext cx="640080" cy="347472"/>
          </a:xfrm>
          <a:prstGeom prst="rect">
            <a:avLst/>
          </a:prstGeom>
          <a:noFill/>
          <a:ln/>
        </p:spPr>
        <p:txBody>
          <a:bodyPr wrap="square" lIns="0" tIns="0" rIns="0" bIns="0" rtlCol="0" anchor="ctr"/>
          <a:lstStyle/>
          <a:p>
            <a:pPr indent="0" marL="0">
              <a:buNone/>
            </a:pPr>
            <a:r>
              <a:rPr lang="en-US" sz="1200" b="1" dirty="0">
                <a:solidFill>
                  <a:srgbClr val="3B82F6"/>
                </a:solidFill>
                <a:latin typeface="Calibri" pitchFamily="34" charset="0"/>
                <a:ea typeface="Calibri" pitchFamily="34" charset="-122"/>
                <a:cs typeface="Calibri" pitchFamily="34" charset="-120"/>
              </a:rPr>
              <a:t>PW</a:t>
            </a:r>
            <a:endParaRPr lang="en-US" sz="1200" dirty="0"/>
          </a:p>
        </p:txBody>
      </p:sp>
      <p:sp>
        <p:nvSpPr>
          <p:cNvPr id="17" name="Shape 15"/>
          <p:cNvSpPr/>
          <p:nvPr/>
        </p:nvSpPr>
        <p:spPr>
          <a:xfrm>
            <a:off x="1261872" y="3145536"/>
            <a:ext cx="3017520" cy="310896"/>
          </a:xfrm>
          <a:prstGeom prst="roundRect">
            <a:avLst>
              <a:gd name="adj" fmla="val 14706"/>
            </a:avLst>
          </a:prstGeom>
          <a:solidFill>
            <a:srgbClr val="FFFFFF"/>
          </a:solidFill>
          <a:ln w="12700">
            <a:solidFill>
              <a:srgbClr val="CBD5E1"/>
            </a:solidFill>
            <a:prstDash val="solid"/>
          </a:ln>
        </p:spPr>
      </p:sp>
      <p:sp>
        <p:nvSpPr>
          <p:cNvPr id="18" name="Text 16"/>
          <p:cNvSpPr/>
          <p:nvPr/>
        </p:nvSpPr>
        <p:spPr>
          <a:xfrm>
            <a:off x="1325880" y="3145536"/>
            <a:ext cx="2926080" cy="310896"/>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Apukuro</a:t>
            </a:r>
            <a:endParaRPr lang="en-US" sz="1100" dirty="0"/>
          </a:p>
        </p:txBody>
      </p:sp>
      <p:sp>
        <p:nvSpPr>
          <p:cNvPr id="19" name="Text 17"/>
          <p:cNvSpPr/>
          <p:nvPr/>
        </p:nvSpPr>
        <p:spPr>
          <a:xfrm>
            <a:off x="502920" y="3712464"/>
            <a:ext cx="374904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 架電設定・スクリプト管理・データ分析が可能</a:t>
            </a:r>
            <a:endParaRPr lang="en-US" sz="1000" dirty="0"/>
          </a:p>
        </p:txBody>
      </p:sp>
      <p:sp>
        <p:nvSpPr>
          <p:cNvPr id="20" name="Shape 18"/>
          <p:cNvSpPr/>
          <p:nvPr/>
        </p:nvSpPr>
        <p:spPr>
          <a:xfrm>
            <a:off x="4663440" y="1508760"/>
            <a:ext cx="4206240" cy="2560320"/>
          </a:xfrm>
          <a:prstGeom prst="roundRect">
            <a:avLst>
              <a:gd name="adj" fmla="val 3571"/>
            </a:avLst>
          </a:prstGeom>
          <a:solidFill>
            <a:srgbClr val="F8FAFC"/>
          </a:solidFill>
          <a:ln w="12700">
            <a:solidFill>
              <a:srgbClr val="CBD5E1"/>
            </a:solidFill>
            <a:prstDash val="solid"/>
          </a:ln>
          <a:effectLst>
            <a:outerShdw sx="100000" sy="100000" kx="0" ky="0" algn="bl" rotWithShape="0" blurRad="101600" dist="38100" dir="2700000">
              <a:srgbClr val="000000">
                <a:alpha val="12000"/>
              </a:srgbClr>
            </a:outerShdw>
          </a:effectLst>
        </p:spPr>
      </p:sp>
      <p:sp>
        <p:nvSpPr>
          <p:cNvPr id="21" name="Shape 19"/>
          <p:cNvSpPr/>
          <p:nvPr/>
        </p:nvSpPr>
        <p:spPr>
          <a:xfrm>
            <a:off x="4663440" y="1508760"/>
            <a:ext cx="4206240" cy="438912"/>
          </a:xfrm>
          <a:prstGeom prst="rect">
            <a:avLst/>
          </a:prstGeom>
          <a:solidFill>
            <a:srgbClr val="0F1A3E"/>
          </a:solidFill>
          <a:ln/>
        </p:spPr>
      </p:sp>
      <p:sp>
        <p:nvSpPr>
          <p:cNvPr id="22" name="Text 20"/>
          <p:cNvSpPr/>
          <p:nvPr/>
        </p:nvSpPr>
        <p:spPr>
          <a:xfrm>
            <a:off x="4800600" y="1508760"/>
            <a:ext cx="3931920" cy="43891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  オペレーター画面</a:t>
            </a:r>
            <a:endParaRPr lang="en-US" sz="1300" dirty="0"/>
          </a:p>
        </p:txBody>
      </p:sp>
      <p:sp>
        <p:nvSpPr>
          <p:cNvPr id="23" name="Text 21"/>
          <p:cNvSpPr/>
          <p:nvPr/>
        </p:nvSpPr>
        <p:spPr>
          <a:xfrm>
            <a:off x="4828032" y="2029968"/>
            <a:ext cx="658368" cy="292608"/>
          </a:xfrm>
          <a:prstGeom prst="rect">
            <a:avLst/>
          </a:prstGeom>
          <a:noFill/>
          <a:ln/>
        </p:spPr>
        <p:txBody>
          <a:bodyPr wrap="square" lIns="0" tIns="0" rIns="0" bIns="0" rtlCol="0" anchor="ctr"/>
          <a:lstStyle/>
          <a:p>
            <a:pPr indent="0" marL="0">
              <a:buNone/>
            </a:pPr>
            <a:r>
              <a:rPr lang="en-US" sz="1100" b="1" dirty="0">
                <a:solidFill>
                  <a:srgbClr val="3B82F6"/>
                </a:solidFill>
                <a:latin typeface="Calibri" pitchFamily="34" charset="0"/>
                <a:ea typeface="Calibri" pitchFamily="34" charset="-122"/>
                <a:cs typeface="Calibri" pitchFamily="34" charset="-120"/>
              </a:rPr>
              <a:t>URL</a:t>
            </a:r>
            <a:endParaRPr lang="en-US" sz="1100" dirty="0"/>
          </a:p>
        </p:txBody>
      </p:sp>
      <p:sp>
        <p:nvSpPr>
          <p:cNvPr id="24" name="Shape 22"/>
          <p:cNvSpPr/>
          <p:nvPr/>
        </p:nvSpPr>
        <p:spPr>
          <a:xfrm>
            <a:off x="5559552" y="2048256"/>
            <a:ext cx="3108960" cy="256032"/>
          </a:xfrm>
          <a:prstGeom prst="roundRect">
            <a:avLst>
              <a:gd name="adj" fmla="val 14286"/>
            </a:avLst>
          </a:prstGeom>
          <a:solidFill>
            <a:srgbClr val="FFFFFF"/>
          </a:solidFill>
          <a:ln w="12700">
            <a:solidFill>
              <a:srgbClr val="CBD5E1"/>
            </a:solidFill>
            <a:prstDash val="solid"/>
          </a:ln>
        </p:spPr>
      </p:sp>
      <p:sp>
        <p:nvSpPr>
          <p:cNvPr id="25" name="Text 23"/>
          <p:cNvSpPr/>
          <p:nvPr/>
        </p:nvSpPr>
        <p:spPr>
          <a:xfrm>
            <a:off x="5623560" y="2048256"/>
            <a:ext cx="3017520" cy="256032"/>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co.topsaler.cc/user/login</a:t>
            </a:r>
            <a:endParaRPr lang="en-US" sz="1000" dirty="0"/>
          </a:p>
        </p:txBody>
      </p:sp>
      <p:sp>
        <p:nvSpPr>
          <p:cNvPr id="26" name="Text 24"/>
          <p:cNvSpPr/>
          <p:nvPr/>
        </p:nvSpPr>
        <p:spPr>
          <a:xfrm>
            <a:off x="4828032" y="2450592"/>
            <a:ext cx="658368" cy="292608"/>
          </a:xfrm>
          <a:prstGeom prst="rect">
            <a:avLst/>
          </a:prstGeom>
          <a:noFill/>
          <a:ln/>
        </p:spPr>
        <p:txBody>
          <a:bodyPr wrap="square" lIns="0" tIns="0" rIns="0" bIns="0" rtlCol="0" anchor="ctr"/>
          <a:lstStyle/>
          <a:p>
            <a:pPr indent="0" marL="0">
              <a:buNone/>
            </a:pPr>
            <a:r>
              <a:rPr lang="en-US" sz="1100" b="1" dirty="0">
                <a:solidFill>
                  <a:srgbClr val="3B82F6"/>
                </a:solidFill>
                <a:latin typeface="Calibri" pitchFamily="34" charset="0"/>
                <a:ea typeface="Calibri" pitchFamily="34" charset="-122"/>
                <a:cs typeface="Calibri" pitchFamily="34" charset="-120"/>
              </a:rPr>
              <a:t>ID①</a:t>
            </a:r>
            <a:endParaRPr lang="en-US" sz="1100" dirty="0"/>
          </a:p>
        </p:txBody>
      </p:sp>
      <p:sp>
        <p:nvSpPr>
          <p:cNvPr id="27" name="Shape 25"/>
          <p:cNvSpPr/>
          <p:nvPr/>
        </p:nvSpPr>
        <p:spPr>
          <a:xfrm>
            <a:off x="5559552" y="2468880"/>
            <a:ext cx="3108960" cy="256032"/>
          </a:xfrm>
          <a:prstGeom prst="roundRect">
            <a:avLst>
              <a:gd name="adj" fmla="val 14286"/>
            </a:avLst>
          </a:prstGeom>
          <a:solidFill>
            <a:srgbClr val="FFFFFF"/>
          </a:solidFill>
          <a:ln w="12700">
            <a:solidFill>
              <a:srgbClr val="CBD5E1"/>
            </a:solidFill>
            <a:prstDash val="solid"/>
          </a:ln>
        </p:spPr>
      </p:sp>
      <p:sp>
        <p:nvSpPr>
          <p:cNvPr id="28" name="Text 26"/>
          <p:cNvSpPr/>
          <p:nvPr/>
        </p:nvSpPr>
        <p:spPr>
          <a:xfrm>
            <a:off x="5623560" y="2468880"/>
            <a:ext cx="3017520" cy="256032"/>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Apukuro-01</a:t>
            </a:r>
            <a:endParaRPr lang="en-US" sz="1000" dirty="0"/>
          </a:p>
        </p:txBody>
      </p:sp>
      <p:sp>
        <p:nvSpPr>
          <p:cNvPr id="29" name="Text 27"/>
          <p:cNvSpPr/>
          <p:nvPr/>
        </p:nvSpPr>
        <p:spPr>
          <a:xfrm>
            <a:off x="4828032" y="2871216"/>
            <a:ext cx="658368" cy="292608"/>
          </a:xfrm>
          <a:prstGeom prst="rect">
            <a:avLst/>
          </a:prstGeom>
          <a:noFill/>
          <a:ln/>
        </p:spPr>
        <p:txBody>
          <a:bodyPr wrap="square" lIns="0" tIns="0" rIns="0" bIns="0" rtlCol="0" anchor="ctr"/>
          <a:lstStyle/>
          <a:p>
            <a:pPr indent="0" marL="0">
              <a:buNone/>
            </a:pPr>
            <a:r>
              <a:rPr lang="en-US" sz="1100" b="1" dirty="0">
                <a:solidFill>
                  <a:srgbClr val="3B82F6"/>
                </a:solidFill>
                <a:latin typeface="Calibri" pitchFamily="34" charset="0"/>
                <a:ea typeface="Calibri" pitchFamily="34" charset="-122"/>
                <a:cs typeface="Calibri" pitchFamily="34" charset="-120"/>
              </a:rPr>
              <a:t>PW①</a:t>
            </a:r>
            <a:endParaRPr lang="en-US" sz="1100" dirty="0"/>
          </a:p>
        </p:txBody>
      </p:sp>
      <p:sp>
        <p:nvSpPr>
          <p:cNvPr id="30" name="Shape 28"/>
          <p:cNvSpPr/>
          <p:nvPr/>
        </p:nvSpPr>
        <p:spPr>
          <a:xfrm>
            <a:off x="5559552" y="2889504"/>
            <a:ext cx="3108960" cy="256032"/>
          </a:xfrm>
          <a:prstGeom prst="roundRect">
            <a:avLst>
              <a:gd name="adj" fmla="val 14286"/>
            </a:avLst>
          </a:prstGeom>
          <a:solidFill>
            <a:srgbClr val="FFFFFF"/>
          </a:solidFill>
          <a:ln w="12700">
            <a:solidFill>
              <a:srgbClr val="CBD5E1"/>
            </a:solidFill>
            <a:prstDash val="solid"/>
          </a:ln>
        </p:spPr>
      </p:sp>
      <p:sp>
        <p:nvSpPr>
          <p:cNvPr id="31" name="Text 29"/>
          <p:cNvSpPr/>
          <p:nvPr/>
        </p:nvSpPr>
        <p:spPr>
          <a:xfrm>
            <a:off x="5623560" y="2889504"/>
            <a:ext cx="3017520" cy="256032"/>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Apukuro@0123</a:t>
            </a:r>
            <a:endParaRPr lang="en-US" sz="1000" dirty="0"/>
          </a:p>
        </p:txBody>
      </p:sp>
      <p:sp>
        <p:nvSpPr>
          <p:cNvPr id="32" name="Text 30"/>
          <p:cNvSpPr/>
          <p:nvPr/>
        </p:nvSpPr>
        <p:spPr>
          <a:xfrm>
            <a:off x="4828032" y="3291840"/>
            <a:ext cx="658368" cy="292608"/>
          </a:xfrm>
          <a:prstGeom prst="rect">
            <a:avLst/>
          </a:prstGeom>
          <a:noFill/>
          <a:ln/>
        </p:spPr>
        <p:txBody>
          <a:bodyPr wrap="square" lIns="0" tIns="0" rIns="0" bIns="0" rtlCol="0" anchor="ctr"/>
          <a:lstStyle/>
          <a:p>
            <a:pPr indent="0" marL="0">
              <a:buNone/>
            </a:pPr>
            <a:r>
              <a:rPr lang="en-US" sz="1100" b="1" dirty="0">
                <a:solidFill>
                  <a:srgbClr val="3B82F6"/>
                </a:solidFill>
                <a:latin typeface="Calibri" pitchFamily="34" charset="0"/>
                <a:ea typeface="Calibri" pitchFamily="34" charset="-122"/>
                <a:cs typeface="Calibri" pitchFamily="34" charset="-120"/>
              </a:rPr>
              <a:t>ID②</a:t>
            </a:r>
            <a:endParaRPr lang="en-US" sz="1100" dirty="0"/>
          </a:p>
        </p:txBody>
      </p:sp>
      <p:sp>
        <p:nvSpPr>
          <p:cNvPr id="33" name="Shape 31"/>
          <p:cNvSpPr/>
          <p:nvPr/>
        </p:nvSpPr>
        <p:spPr>
          <a:xfrm>
            <a:off x="5559552" y="3310128"/>
            <a:ext cx="3108960" cy="256032"/>
          </a:xfrm>
          <a:prstGeom prst="roundRect">
            <a:avLst>
              <a:gd name="adj" fmla="val 14286"/>
            </a:avLst>
          </a:prstGeom>
          <a:solidFill>
            <a:srgbClr val="FFFFFF"/>
          </a:solidFill>
          <a:ln w="12700">
            <a:solidFill>
              <a:srgbClr val="CBD5E1"/>
            </a:solidFill>
            <a:prstDash val="solid"/>
          </a:ln>
        </p:spPr>
      </p:sp>
      <p:sp>
        <p:nvSpPr>
          <p:cNvPr id="34" name="Text 32"/>
          <p:cNvSpPr/>
          <p:nvPr/>
        </p:nvSpPr>
        <p:spPr>
          <a:xfrm>
            <a:off x="5623560" y="3310128"/>
            <a:ext cx="3017520" cy="256032"/>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Apukuro-02</a:t>
            </a:r>
            <a:endParaRPr lang="en-US" sz="1000" dirty="0"/>
          </a:p>
        </p:txBody>
      </p:sp>
      <p:sp>
        <p:nvSpPr>
          <p:cNvPr id="35" name="Text 33"/>
          <p:cNvSpPr/>
          <p:nvPr/>
        </p:nvSpPr>
        <p:spPr>
          <a:xfrm>
            <a:off x="4828032" y="3712464"/>
            <a:ext cx="658368" cy="292608"/>
          </a:xfrm>
          <a:prstGeom prst="rect">
            <a:avLst/>
          </a:prstGeom>
          <a:noFill/>
          <a:ln/>
        </p:spPr>
        <p:txBody>
          <a:bodyPr wrap="square" lIns="0" tIns="0" rIns="0" bIns="0" rtlCol="0" anchor="ctr"/>
          <a:lstStyle/>
          <a:p>
            <a:pPr indent="0" marL="0">
              <a:buNone/>
            </a:pPr>
            <a:r>
              <a:rPr lang="en-US" sz="1100" b="1" dirty="0">
                <a:solidFill>
                  <a:srgbClr val="3B82F6"/>
                </a:solidFill>
                <a:latin typeface="Calibri" pitchFamily="34" charset="0"/>
                <a:ea typeface="Calibri" pitchFamily="34" charset="-122"/>
                <a:cs typeface="Calibri" pitchFamily="34" charset="-120"/>
              </a:rPr>
              <a:t>PW②</a:t>
            </a:r>
            <a:endParaRPr lang="en-US" sz="1100" dirty="0"/>
          </a:p>
        </p:txBody>
      </p:sp>
      <p:sp>
        <p:nvSpPr>
          <p:cNvPr id="36" name="Shape 34"/>
          <p:cNvSpPr/>
          <p:nvPr/>
        </p:nvSpPr>
        <p:spPr>
          <a:xfrm>
            <a:off x="5559552" y="3730752"/>
            <a:ext cx="3108960" cy="256032"/>
          </a:xfrm>
          <a:prstGeom prst="roundRect">
            <a:avLst>
              <a:gd name="adj" fmla="val 14286"/>
            </a:avLst>
          </a:prstGeom>
          <a:solidFill>
            <a:srgbClr val="FFFFFF"/>
          </a:solidFill>
          <a:ln w="12700">
            <a:solidFill>
              <a:srgbClr val="CBD5E1"/>
            </a:solidFill>
            <a:prstDash val="solid"/>
          </a:ln>
        </p:spPr>
      </p:sp>
      <p:sp>
        <p:nvSpPr>
          <p:cNvPr id="37" name="Text 35"/>
          <p:cNvSpPr/>
          <p:nvPr/>
        </p:nvSpPr>
        <p:spPr>
          <a:xfrm>
            <a:off x="5623560" y="3730752"/>
            <a:ext cx="3017520" cy="256032"/>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Apukuro@0123</a:t>
            </a:r>
            <a:endParaRPr lang="en-US" sz="1000" dirty="0"/>
          </a:p>
        </p:txBody>
      </p:sp>
      <p:sp>
        <p:nvSpPr>
          <p:cNvPr id="38" name="Shape 36"/>
          <p:cNvSpPr/>
          <p:nvPr/>
        </p:nvSpPr>
        <p:spPr>
          <a:xfrm>
            <a:off x="365760" y="4206240"/>
            <a:ext cx="8412480" cy="640080"/>
          </a:xfrm>
          <a:prstGeom prst="roundRect">
            <a:avLst>
              <a:gd name="adj" fmla="val 11429"/>
            </a:avLst>
          </a:prstGeom>
          <a:solidFill>
            <a:srgbClr val="EFF6FF"/>
          </a:solidFill>
          <a:ln w="12700">
            <a:solidFill>
              <a:srgbClr val="3B82F6"/>
            </a:solidFill>
            <a:prstDash val="solid"/>
          </a:ln>
        </p:spPr>
      </p:sp>
      <p:sp>
        <p:nvSpPr>
          <p:cNvPr id="39" name="Text 37"/>
          <p:cNvSpPr/>
          <p:nvPr/>
        </p:nvSpPr>
        <p:spPr>
          <a:xfrm>
            <a:off x="502920" y="4206240"/>
            <a:ext cx="8229600" cy="640080"/>
          </a:xfrm>
          <a:prstGeom prst="rect">
            <a:avLst/>
          </a:prstGeom>
          <a:noFill/>
          <a:ln/>
        </p:spPr>
        <p:txBody>
          <a:bodyPr wrap="square" lIns="0" tIns="0" rIns="0" bIns="0" rtlCol="0" anchor="ctr"/>
          <a:lstStyle/>
          <a:p>
            <a:pPr indent="0" marL="0">
              <a:lnSpc>
                <a:spcPct val="140000"/>
              </a:lnSpc>
              <a:buNone/>
            </a:pPr>
            <a:r>
              <a:rPr lang="en-US" sz="1100" dirty="0">
                <a:solidFill>
                  <a:srgbClr val="1E3A8A"/>
                </a:solidFill>
                <a:latin typeface="Calibri" pitchFamily="34" charset="0"/>
                <a:ea typeface="Calibri" pitchFamily="34" charset="-122"/>
                <a:cs typeface="Calibri" pitchFamily="34" charset="-120"/>
              </a:rPr>
              <a:t>💡 パスワードは担当者から変更指示がある場合があります。変更時は必ず社内の担当管理者へ共有してください。</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F1A3E"/>
          </a:solidFill>
          <a:ln/>
        </p:spPr>
      </p:sp>
      <p:sp>
        <p:nvSpPr>
          <p:cNvPr id="3" name="Text 1"/>
          <p:cNvSpPr/>
          <p:nvPr/>
        </p:nvSpPr>
        <p:spPr>
          <a:xfrm>
            <a:off x="457200" y="91440"/>
            <a:ext cx="8229600" cy="347472"/>
          </a:xfrm>
          <a:prstGeom prst="rect">
            <a:avLst/>
          </a:prstGeom>
          <a:noFill/>
          <a:ln/>
        </p:spPr>
        <p:txBody>
          <a:bodyPr wrap="square" lIns="0" tIns="0" rIns="0" bIns="0" rtlCol="0" anchor="ctr"/>
          <a:lstStyle/>
          <a:p>
            <a:pPr indent="0" marL="0">
              <a:buNone/>
            </a:pPr>
            <a:r>
              <a:rPr lang="en-US" sz="1100" b="1" spc="200" kern="0" dirty="0">
                <a:solidFill>
                  <a:srgbClr val="3B82F6"/>
                </a:solidFill>
                <a:latin typeface="Calibri" pitchFamily="34" charset="0"/>
                <a:ea typeface="Calibri" pitchFamily="34" charset="-122"/>
                <a:cs typeface="Calibri" pitchFamily="34" charset="-120"/>
              </a:rPr>
              <a:t>03  担当者連絡先</a:t>
            </a:r>
            <a:endParaRPr lang="en-US" sz="1100" dirty="0"/>
          </a:p>
        </p:txBody>
      </p:sp>
      <p:sp>
        <p:nvSpPr>
          <p:cNvPr id="4" name="Text 2"/>
          <p:cNvSpPr/>
          <p:nvPr/>
        </p:nvSpPr>
        <p:spPr>
          <a:xfrm>
            <a:off x="457200" y="438912"/>
            <a:ext cx="8229600" cy="420624"/>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SoloptiLink チームへの連絡方法</a:t>
            </a:r>
            <a:endParaRPr lang="en-US" sz="2400" dirty="0"/>
          </a:p>
        </p:txBody>
      </p:sp>
      <p:sp>
        <p:nvSpPr>
          <p:cNvPr id="5" name="Shape 3"/>
          <p:cNvSpPr/>
          <p:nvPr/>
        </p:nvSpPr>
        <p:spPr>
          <a:xfrm>
            <a:off x="365760" y="1005840"/>
            <a:ext cx="8412480" cy="475488"/>
          </a:xfrm>
          <a:prstGeom prst="roundRect">
            <a:avLst>
              <a:gd name="adj" fmla="val 15385"/>
            </a:avLst>
          </a:prstGeom>
          <a:solidFill>
            <a:srgbClr val="0F1A3E"/>
          </a:solidFill>
          <a:ln/>
        </p:spPr>
      </p:sp>
      <p:sp>
        <p:nvSpPr>
          <p:cNvPr id="6" name="Text 4"/>
          <p:cNvSpPr/>
          <p:nvPr/>
        </p:nvSpPr>
        <p:spPr>
          <a:xfrm>
            <a:off x="548640" y="1005840"/>
            <a:ext cx="8046720" cy="47548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連絡ツール: ChatWork  |  チャット名:（株）アプクロ × AIテレサポご案内</a:t>
            </a:r>
            <a:endParaRPr lang="en-US" sz="1200" dirty="0"/>
          </a:p>
        </p:txBody>
      </p:sp>
      <p:sp>
        <p:nvSpPr>
          <p:cNvPr id="7" name="Shape 5"/>
          <p:cNvSpPr/>
          <p:nvPr/>
        </p:nvSpPr>
        <p:spPr>
          <a:xfrm>
            <a:off x="365760" y="1627632"/>
            <a:ext cx="4251960" cy="1463040"/>
          </a:xfrm>
          <a:prstGeom prst="roundRect">
            <a:avLst>
              <a:gd name="adj" fmla="val 6250"/>
            </a:avLst>
          </a:prstGeom>
          <a:solidFill>
            <a:srgbClr val="F8FAFC"/>
          </a:solidFill>
          <a:ln w="12700">
            <a:solidFill>
              <a:srgbClr val="CBD5E1"/>
            </a:solidFill>
            <a:prstDash val="solid"/>
          </a:ln>
          <a:effectLst>
            <a:outerShdw sx="100000" sy="100000" kx="0" ky="0" algn="bl" rotWithShape="0" blurRad="50800" dist="12700" dir="2700000">
              <a:srgbClr val="000000">
                <a:alpha val="12000"/>
              </a:srgbClr>
            </a:outerShdw>
          </a:effectLst>
        </p:spPr>
      </p:sp>
      <p:sp>
        <p:nvSpPr>
          <p:cNvPr id="8" name="Shape 6"/>
          <p:cNvSpPr/>
          <p:nvPr/>
        </p:nvSpPr>
        <p:spPr>
          <a:xfrm>
            <a:off x="365760" y="1627632"/>
            <a:ext cx="914400" cy="1463040"/>
          </a:xfrm>
          <a:prstGeom prst="rect">
            <a:avLst/>
          </a:prstGeom>
          <a:solidFill>
            <a:srgbClr val="3B82F6"/>
          </a:solidFill>
          <a:ln/>
        </p:spPr>
      </p:sp>
      <p:sp>
        <p:nvSpPr>
          <p:cNvPr id="9" name="Text 7"/>
          <p:cNvSpPr/>
          <p:nvPr/>
        </p:nvSpPr>
        <p:spPr>
          <a:xfrm>
            <a:off x="365760" y="1627632"/>
            <a:ext cx="91440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0" name="Text 8"/>
          <p:cNvSpPr/>
          <p:nvPr/>
        </p:nvSpPr>
        <p:spPr>
          <a:xfrm>
            <a:off x="438912" y="2084832"/>
            <a:ext cx="822960" cy="502920"/>
          </a:xfrm>
          <a:prstGeom prst="rect">
            <a:avLst/>
          </a:prstGeom>
          <a:noFill/>
          <a:ln/>
        </p:spPr>
        <p:txBody>
          <a:bodyPr wrap="square" lIns="0" tIns="0" rIns="0" bIns="0" rtlCol="0" anchor="ctr"/>
          <a:lstStyle/>
          <a:p>
            <a:pPr algn="ctr" indent="0" marL="0">
              <a:lnSpc>
                <a:spcPct val="120000"/>
              </a:lnSpc>
              <a:buNone/>
            </a:pPr>
            <a:r>
              <a:rPr lang="en-US" sz="900" b="1" dirty="0">
                <a:solidFill>
                  <a:srgbClr val="FFFFFF"/>
                </a:solidFill>
                <a:latin typeface="Calibri" pitchFamily="34" charset="0"/>
                <a:ea typeface="Calibri" pitchFamily="34" charset="-122"/>
                <a:cs typeface="Calibri" pitchFamily="34" charset="-120"/>
              </a:rPr>
              <a:t>代用担当者</a:t>
            </a:r>
            <a:endParaRPr lang="en-US" sz="900" dirty="0"/>
          </a:p>
        </p:txBody>
      </p:sp>
      <p:sp>
        <p:nvSpPr>
          <p:cNvPr id="11" name="Text 9"/>
          <p:cNvSpPr/>
          <p:nvPr/>
        </p:nvSpPr>
        <p:spPr>
          <a:xfrm>
            <a:off x="1371600" y="1792224"/>
            <a:ext cx="3108960" cy="475488"/>
          </a:xfrm>
          <a:prstGeom prst="rect">
            <a:avLst/>
          </a:prstGeom>
          <a:noFill/>
          <a:ln/>
        </p:spPr>
        <p:txBody>
          <a:bodyPr wrap="square" lIns="0" tIns="0" rIns="0" bIns="0" rtlCol="0" anchor="ctr"/>
          <a:lstStyle/>
          <a:p>
            <a:pPr indent="0" marL="0">
              <a:lnSpc>
                <a:spcPct val="115000"/>
              </a:lnSpc>
              <a:buNone/>
            </a:pPr>
            <a:r>
              <a:rPr lang="en-US" sz="1500" b="1" dirty="0">
                <a:solidFill>
                  <a:srgbClr val="1E293B"/>
                </a:solidFill>
                <a:latin typeface="Calibri" pitchFamily="34" charset="0"/>
                <a:ea typeface="Calibri" pitchFamily="34" charset="-122"/>
                <a:cs typeface="Calibri" pitchFamily="34" charset="-120"/>
              </a:rPr>
              <a:t>李 継超 様</a:t>
            </a:r>
            <a:endParaRPr lang="en-US" sz="1500" dirty="0"/>
          </a:p>
        </p:txBody>
      </p:sp>
      <p:sp>
        <p:nvSpPr>
          <p:cNvPr id="12" name="Text 10"/>
          <p:cNvSpPr/>
          <p:nvPr/>
        </p:nvSpPr>
        <p:spPr>
          <a:xfrm>
            <a:off x="1371600" y="2286000"/>
            <a:ext cx="3108960" cy="548640"/>
          </a:xfrm>
          <a:prstGeom prst="rect">
            <a:avLst/>
          </a:prstGeom>
          <a:noFill/>
          <a:ln/>
        </p:spPr>
        <p:txBody>
          <a:bodyPr wrap="square" lIns="0" tIns="0" rIns="0" bIns="0" rtlCol="0" anchor="ctr"/>
          <a:lstStyle/>
          <a:p>
            <a:pPr indent="0" marL="0">
              <a:lnSpc>
                <a:spcPct val="135000"/>
              </a:lnSpc>
              <a:buNone/>
            </a:pPr>
            <a:r>
              <a:rPr lang="en-US" sz="1000" dirty="0">
                <a:solidFill>
                  <a:srgbClr val="64748B"/>
                </a:solidFill>
                <a:latin typeface="Calibri" pitchFamily="34" charset="0"/>
                <a:ea typeface="Calibri" pitchFamily="34" charset="-122"/>
                <a:cs typeface="Calibri" pitchFamily="34" charset="-120"/>
              </a:rPr>
              <a:t>日常的な運用・設定変更の問い合わせ先</a:t>
            </a:r>
            <a:endParaRPr lang="en-US" sz="1000" dirty="0"/>
          </a:p>
        </p:txBody>
      </p:sp>
      <p:sp>
        <p:nvSpPr>
          <p:cNvPr id="13" name="Shape 11"/>
          <p:cNvSpPr/>
          <p:nvPr/>
        </p:nvSpPr>
        <p:spPr>
          <a:xfrm>
            <a:off x="4846320" y="1627632"/>
            <a:ext cx="4251960" cy="1463040"/>
          </a:xfrm>
          <a:prstGeom prst="roundRect">
            <a:avLst>
              <a:gd name="adj" fmla="val 6250"/>
            </a:avLst>
          </a:prstGeom>
          <a:solidFill>
            <a:srgbClr val="F8FAFC"/>
          </a:solidFill>
          <a:ln w="12700">
            <a:solidFill>
              <a:srgbClr val="CBD5E1"/>
            </a:solidFill>
            <a:prstDash val="solid"/>
          </a:ln>
          <a:effectLst>
            <a:outerShdw sx="100000" sy="100000" kx="0" ky="0" algn="bl" rotWithShape="0" blurRad="50800" dist="12700" dir="2700000">
              <a:srgbClr val="000000">
                <a:alpha val="12000"/>
              </a:srgbClr>
            </a:outerShdw>
          </a:effectLst>
        </p:spPr>
      </p:sp>
      <p:sp>
        <p:nvSpPr>
          <p:cNvPr id="14" name="Shape 12"/>
          <p:cNvSpPr/>
          <p:nvPr/>
        </p:nvSpPr>
        <p:spPr>
          <a:xfrm>
            <a:off x="4846320" y="1627632"/>
            <a:ext cx="914400" cy="1463040"/>
          </a:xfrm>
          <a:prstGeom prst="rect">
            <a:avLst/>
          </a:prstGeom>
          <a:solidFill>
            <a:srgbClr val="1E3A8A"/>
          </a:solidFill>
          <a:ln/>
        </p:spPr>
      </p:sp>
      <p:sp>
        <p:nvSpPr>
          <p:cNvPr id="15" name="Text 13"/>
          <p:cNvSpPr/>
          <p:nvPr/>
        </p:nvSpPr>
        <p:spPr>
          <a:xfrm>
            <a:off x="4846320" y="1627632"/>
            <a:ext cx="91440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6" name="Text 14"/>
          <p:cNvSpPr/>
          <p:nvPr/>
        </p:nvSpPr>
        <p:spPr>
          <a:xfrm>
            <a:off x="4919472" y="2084832"/>
            <a:ext cx="822960" cy="502920"/>
          </a:xfrm>
          <a:prstGeom prst="rect">
            <a:avLst/>
          </a:prstGeom>
          <a:noFill/>
          <a:ln/>
        </p:spPr>
        <p:txBody>
          <a:bodyPr wrap="square" lIns="0" tIns="0" rIns="0" bIns="0" rtlCol="0" anchor="ctr"/>
          <a:lstStyle/>
          <a:p>
            <a:pPr algn="ctr" indent="0" marL="0">
              <a:lnSpc>
                <a:spcPct val="120000"/>
              </a:lnSpc>
              <a:buNone/>
            </a:pPr>
            <a:r>
              <a:rPr lang="en-US" sz="900" b="1" dirty="0">
                <a:solidFill>
                  <a:srgbClr val="FFFFFF"/>
                </a:solidFill>
                <a:latin typeface="Calibri" pitchFamily="34" charset="0"/>
                <a:ea typeface="Calibri" pitchFamily="34" charset="-122"/>
                <a:cs typeface="Calibri" pitchFamily="34" charset="-120"/>
              </a:rPr>
              <a:t>経理関連</a:t>
            </a:r>
            <a:endParaRPr lang="en-US" sz="900" dirty="0"/>
          </a:p>
        </p:txBody>
      </p:sp>
      <p:sp>
        <p:nvSpPr>
          <p:cNvPr id="17" name="Text 15"/>
          <p:cNvSpPr/>
          <p:nvPr/>
        </p:nvSpPr>
        <p:spPr>
          <a:xfrm>
            <a:off x="5852160" y="1792224"/>
            <a:ext cx="3108960" cy="475488"/>
          </a:xfrm>
          <a:prstGeom prst="rect">
            <a:avLst/>
          </a:prstGeom>
          <a:noFill/>
          <a:ln/>
        </p:spPr>
        <p:txBody>
          <a:bodyPr wrap="square" lIns="0" tIns="0" rIns="0" bIns="0" rtlCol="0" anchor="ctr"/>
          <a:lstStyle/>
          <a:p>
            <a:pPr indent="0" marL="0">
              <a:lnSpc>
                <a:spcPct val="115000"/>
              </a:lnSpc>
              <a:buNone/>
            </a:pPr>
            <a:r>
              <a:rPr lang="en-US" sz="1500" b="1" dirty="0">
                <a:solidFill>
                  <a:srgbClr val="1E293B"/>
                </a:solidFill>
                <a:latin typeface="Calibri" pitchFamily="34" charset="0"/>
                <a:ea typeface="Calibri" pitchFamily="34" charset="-122"/>
                <a:cs typeface="Calibri" pitchFamily="34" charset="-120"/>
              </a:rPr>
              <a:t>渡部 結菜 様</a:t>
            </a:r>
            <a:endParaRPr lang="en-US" sz="1500" dirty="0"/>
          </a:p>
        </p:txBody>
      </p:sp>
      <p:sp>
        <p:nvSpPr>
          <p:cNvPr id="18" name="Text 16"/>
          <p:cNvSpPr/>
          <p:nvPr/>
        </p:nvSpPr>
        <p:spPr>
          <a:xfrm>
            <a:off x="5852160" y="2286000"/>
            <a:ext cx="3108960" cy="548640"/>
          </a:xfrm>
          <a:prstGeom prst="rect">
            <a:avLst/>
          </a:prstGeom>
          <a:noFill/>
          <a:ln/>
        </p:spPr>
        <p:txBody>
          <a:bodyPr wrap="square" lIns="0" tIns="0" rIns="0" bIns="0" rtlCol="0" anchor="ctr"/>
          <a:lstStyle/>
          <a:p>
            <a:pPr indent="0" marL="0">
              <a:lnSpc>
                <a:spcPct val="135000"/>
              </a:lnSpc>
              <a:buNone/>
            </a:pPr>
            <a:r>
              <a:rPr lang="en-US" sz="1000" dirty="0">
                <a:solidFill>
                  <a:srgbClr val="64748B"/>
                </a:solidFill>
                <a:latin typeface="Calibri" pitchFamily="34" charset="0"/>
                <a:ea typeface="Calibri" pitchFamily="34" charset="-122"/>
                <a:cs typeface="Calibri" pitchFamily="34" charset="-120"/>
              </a:rPr>
              <a:t>請求書・支払い・経理処理に関する窓口</a:t>
            </a:r>
            <a:endParaRPr lang="en-US" sz="1000" dirty="0"/>
          </a:p>
        </p:txBody>
      </p:sp>
      <p:sp>
        <p:nvSpPr>
          <p:cNvPr id="19" name="Shape 17"/>
          <p:cNvSpPr/>
          <p:nvPr/>
        </p:nvSpPr>
        <p:spPr>
          <a:xfrm>
            <a:off x="365760" y="3227832"/>
            <a:ext cx="4251960" cy="1463040"/>
          </a:xfrm>
          <a:prstGeom prst="roundRect">
            <a:avLst>
              <a:gd name="adj" fmla="val 6250"/>
            </a:avLst>
          </a:prstGeom>
          <a:solidFill>
            <a:srgbClr val="F8FAFC"/>
          </a:solidFill>
          <a:ln w="12700">
            <a:solidFill>
              <a:srgbClr val="CBD5E1"/>
            </a:solidFill>
            <a:prstDash val="solid"/>
          </a:ln>
          <a:effectLst>
            <a:outerShdw sx="100000" sy="100000" kx="0" ky="0" algn="bl" rotWithShape="0" blurRad="50800" dist="12700" dir="2700000">
              <a:srgbClr val="000000">
                <a:alpha val="12000"/>
              </a:srgbClr>
            </a:outerShdw>
          </a:effectLst>
        </p:spPr>
      </p:sp>
      <p:sp>
        <p:nvSpPr>
          <p:cNvPr id="20" name="Shape 18"/>
          <p:cNvSpPr/>
          <p:nvPr/>
        </p:nvSpPr>
        <p:spPr>
          <a:xfrm>
            <a:off x="365760" y="3227832"/>
            <a:ext cx="914400" cy="1463040"/>
          </a:xfrm>
          <a:prstGeom prst="rect">
            <a:avLst/>
          </a:prstGeom>
          <a:solidFill>
            <a:srgbClr val="059669"/>
          </a:solidFill>
          <a:ln/>
        </p:spPr>
      </p:sp>
      <p:sp>
        <p:nvSpPr>
          <p:cNvPr id="21" name="Text 19"/>
          <p:cNvSpPr/>
          <p:nvPr/>
        </p:nvSpPr>
        <p:spPr>
          <a:xfrm>
            <a:off x="365760" y="3227832"/>
            <a:ext cx="91440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2" name="Text 20"/>
          <p:cNvSpPr/>
          <p:nvPr/>
        </p:nvSpPr>
        <p:spPr>
          <a:xfrm>
            <a:off x="438912" y="3685032"/>
            <a:ext cx="822960" cy="502920"/>
          </a:xfrm>
          <a:prstGeom prst="rect">
            <a:avLst/>
          </a:prstGeom>
          <a:noFill/>
          <a:ln/>
        </p:spPr>
        <p:txBody>
          <a:bodyPr wrap="square" lIns="0" tIns="0" rIns="0" bIns="0" rtlCol="0" anchor="ctr"/>
          <a:lstStyle/>
          <a:p>
            <a:pPr algn="ctr" indent="0" marL="0">
              <a:lnSpc>
                <a:spcPct val="120000"/>
              </a:lnSpc>
              <a:buNone/>
            </a:pPr>
            <a:r>
              <a:rPr lang="en-US" sz="900" b="1" dirty="0">
                <a:solidFill>
                  <a:srgbClr val="FFFFFF"/>
                </a:solidFill>
                <a:latin typeface="Calibri" pitchFamily="34" charset="0"/>
                <a:ea typeface="Calibri" pitchFamily="34" charset="-122"/>
                <a:cs typeface="Calibri" pitchFamily="34" charset="-120"/>
              </a:rPr>
              <a:t>紹介元企業</a:t>
            </a:r>
            <a:endParaRPr lang="en-US" sz="900" dirty="0"/>
          </a:p>
        </p:txBody>
      </p:sp>
      <p:sp>
        <p:nvSpPr>
          <p:cNvPr id="23" name="Text 21"/>
          <p:cNvSpPr/>
          <p:nvPr/>
        </p:nvSpPr>
        <p:spPr>
          <a:xfrm>
            <a:off x="1371600" y="3392424"/>
            <a:ext cx="3108960" cy="475488"/>
          </a:xfrm>
          <a:prstGeom prst="rect">
            <a:avLst/>
          </a:prstGeom>
          <a:noFill/>
          <a:ln/>
        </p:spPr>
        <p:txBody>
          <a:bodyPr wrap="square" lIns="0" tIns="0" rIns="0" bIns="0" rtlCol="0" anchor="ctr"/>
          <a:lstStyle/>
          <a:p>
            <a:pPr indent="0" marL="0">
              <a:lnSpc>
                <a:spcPct val="115000"/>
              </a:lnSpc>
              <a:buNone/>
            </a:pPr>
            <a:r>
              <a:rPr lang="en-US" sz="1500" b="1" dirty="0">
                <a:solidFill>
                  <a:srgbClr val="1E293B"/>
                </a:solidFill>
                <a:latin typeface="Calibri" pitchFamily="34" charset="0"/>
                <a:ea typeface="Calibri" pitchFamily="34" charset="-122"/>
                <a:cs typeface="Calibri" pitchFamily="34" charset="-120"/>
              </a:rPr>
              <a:t>小貫 太秀 様</a:t>
            </a:r>
            <a:endParaRPr lang="en-US" sz="1500" dirty="0"/>
          </a:p>
        </p:txBody>
      </p:sp>
      <p:sp>
        <p:nvSpPr>
          <p:cNvPr id="24" name="Text 22"/>
          <p:cNvSpPr/>
          <p:nvPr/>
        </p:nvSpPr>
        <p:spPr>
          <a:xfrm>
            <a:off x="1371600" y="3886200"/>
            <a:ext cx="3108960" cy="548640"/>
          </a:xfrm>
          <a:prstGeom prst="rect">
            <a:avLst/>
          </a:prstGeom>
          <a:noFill/>
          <a:ln/>
        </p:spPr>
        <p:txBody>
          <a:bodyPr wrap="square" lIns="0" tIns="0" rIns="0" bIns="0" rtlCol="0" anchor="ctr"/>
          <a:lstStyle/>
          <a:p>
            <a:pPr indent="0" marL="0">
              <a:lnSpc>
                <a:spcPct val="135000"/>
              </a:lnSpc>
              <a:buNone/>
            </a:pPr>
            <a:r>
              <a:rPr lang="en-US" sz="1000" dirty="0">
                <a:solidFill>
                  <a:srgbClr val="64748B"/>
                </a:solidFill>
                <a:latin typeface="Calibri" pitchFamily="34" charset="0"/>
                <a:ea typeface="Calibri" pitchFamily="34" charset="-122"/>
                <a:cs typeface="Calibri" pitchFamily="34" charset="-120"/>
              </a:rPr>
              <a:t>契約・サービス全体の橋渡し担当</a:t>
            </a:r>
            <a:endParaRPr lang="en-US" sz="1000" dirty="0"/>
          </a:p>
        </p:txBody>
      </p:sp>
      <p:sp>
        <p:nvSpPr>
          <p:cNvPr id="25" name="Shape 23"/>
          <p:cNvSpPr/>
          <p:nvPr/>
        </p:nvSpPr>
        <p:spPr>
          <a:xfrm>
            <a:off x="4846320" y="3227832"/>
            <a:ext cx="4251960" cy="1463040"/>
          </a:xfrm>
          <a:prstGeom prst="roundRect">
            <a:avLst>
              <a:gd name="adj" fmla="val 6250"/>
            </a:avLst>
          </a:prstGeom>
          <a:solidFill>
            <a:srgbClr val="F8FAFC"/>
          </a:solidFill>
          <a:ln w="12700">
            <a:solidFill>
              <a:srgbClr val="CBD5E1"/>
            </a:solidFill>
            <a:prstDash val="solid"/>
          </a:ln>
          <a:effectLst>
            <a:outerShdw sx="100000" sy="100000" kx="0" ky="0" algn="bl" rotWithShape="0" blurRad="50800" dist="12700" dir="2700000">
              <a:srgbClr val="000000">
                <a:alpha val="12000"/>
              </a:srgbClr>
            </a:outerShdw>
          </a:effectLst>
        </p:spPr>
      </p:sp>
      <p:sp>
        <p:nvSpPr>
          <p:cNvPr id="26" name="Shape 24"/>
          <p:cNvSpPr/>
          <p:nvPr/>
        </p:nvSpPr>
        <p:spPr>
          <a:xfrm>
            <a:off x="4846320" y="3227832"/>
            <a:ext cx="914400" cy="1463040"/>
          </a:xfrm>
          <a:prstGeom prst="rect">
            <a:avLst/>
          </a:prstGeom>
          <a:solidFill>
            <a:srgbClr val="D97706"/>
          </a:solidFill>
          <a:ln/>
        </p:spPr>
      </p:sp>
      <p:sp>
        <p:nvSpPr>
          <p:cNvPr id="27" name="Text 25"/>
          <p:cNvSpPr/>
          <p:nvPr/>
        </p:nvSpPr>
        <p:spPr>
          <a:xfrm>
            <a:off x="4846320" y="3227832"/>
            <a:ext cx="91440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8" name="Text 26"/>
          <p:cNvSpPr/>
          <p:nvPr/>
        </p:nvSpPr>
        <p:spPr>
          <a:xfrm>
            <a:off x="4919472" y="3685032"/>
            <a:ext cx="822960" cy="502920"/>
          </a:xfrm>
          <a:prstGeom prst="rect">
            <a:avLst/>
          </a:prstGeom>
          <a:noFill/>
          <a:ln/>
        </p:spPr>
        <p:txBody>
          <a:bodyPr wrap="square" lIns="0" tIns="0" rIns="0" bIns="0" rtlCol="0" anchor="ctr"/>
          <a:lstStyle/>
          <a:p>
            <a:pPr algn="ctr" indent="0" marL="0">
              <a:lnSpc>
                <a:spcPct val="120000"/>
              </a:lnSpc>
              <a:buNone/>
            </a:pPr>
            <a:r>
              <a:rPr lang="en-US" sz="900" b="1" dirty="0">
                <a:solidFill>
                  <a:srgbClr val="FFFFFF"/>
                </a:solidFill>
                <a:latin typeface="Calibri" pitchFamily="34" charset="0"/>
                <a:ea typeface="Calibri" pitchFamily="34" charset="-122"/>
                <a:cs typeface="Calibri" pitchFamily="34" charset="-120"/>
              </a:rPr>
              <a:t>CS担当</a:t>
            </a:r>
            <a:endParaRPr lang="en-US" sz="900" dirty="0"/>
          </a:p>
        </p:txBody>
      </p:sp>
      <p:sp>
        <p:nvSpPr>
          <p:cNvPr id="29" name="Text 27"/>
          <p:cNvSpPr/>
          <p:nvPr/>
        </p:nvSpPr>
        <p:spPr>
          <a:xfrm>
            <a:off x="5852160" y="3392424"/>
            <a:ext cx="3108960" cy="475488"/>
          </a:xfrm>
          <a:prstGeom prst="rect">
            <a:avLst/>
          </a:prstGeom>
          <a:noFill/>
          <a:ln/>
        </p:spPr>
        <p:txBody>
          <a:bodyPr wrap="square" lIns="0" tIns="0" rIns="0" bIns="0" rtlCol="0" anchor="ctr"/>
          <a:lstStyle/>
          <a:p>
            <a:pPr indent="0" marL="0">
              <a:lnSpc>
                <a:spcPct val="115000"/>
              </a:lnSpc>
              <a:buNone/>
            </a:pPr>
            <a:r>
              <a:rPr lang="en-US" sz="1500" b="1" dirty="0">
                <a:solidFill>
                  <a:srgbClr val="1E293B"/>
                </a:solidFill>
                <a:latin typeface="Calibri" pitchFamily="34" charset="0"/>
                <a:ea typeface="Calibri" pitchFamily="34" charset="-122"/>
                <a:cs typeface="Calibri" pitchFamily="34" charset="-120"/>
              </a:rPr>
              <a:t>山田 晃路 様</a:t>
            </a:r>
            <a:endParaRPr lang="en-US" sz="1500" dirty="0"/>
          </a:p>
          <a:p>
            <a:pPr indent="0" marL="0">
              <a:lnSpc>
                <a:spcPct val="115000"/>
              </a:lnSpc>
              <a:buNone/>
            </a:pPr>
            <a:r>
              <a:rPr lang="en-US" sz="1500" b="1" dirty="0">
                <a:solidFill>
                  <a:srgbClr val="1E293B"/>
                </a:solidFill>
                <a:latin typeface="Calibri" pitchFamily="34" charset="0"/>
                <a:ea typeface="Calibri" pitchFamily="34" charset="-122"/>
                <a:cs typeface="Calibri" pitchFamily="34" charset="-120"/>
              </a:rPr>
              <a:t>青木 慎悟 様</a:t>
            </a:r>
            <a:endParaRPr lang="en-US" sz="1500" dirty="0"/>
          </a:p>
        </p:txBody>
      </p:sp>
      <p:sp>
        <p:nvSpPr>
          <p:cNvPr id="30" name="Text 28"/>
          <p:cNvSpPr/>
          <p:nvPr/>
        </p:nvSpPr>
        <p:spPr>
          <a:xfrm>
            <a:off x="5852160" y="3886200"/>
            <a:ext cx="3108960" cy="548640"/>
          </a:xfrm>
          <a:prstGeom prst="rect">
            <a:avLst/>
          </a:prstGeom>
          <a:noFill/>
          <a:ln/>
        </p:spPr>
        <p:txBody>
          <a:bodyPr wrap="square" lIns="0" tIns="0" rIns="0" bIns="0" rtlCol="0" anchor="ctr"/>
          <a:lstStyle/>
          <a:p>
            <a:pPr indent="0" marL="0">
              <a:lnSpc>
                <a:spcPct val="135000"/>
              </a:lnSpc>
              <a:buNone/>
            </a:pPr>
            <a:r>
              <a:rPr lang="en-US" sz="1000" dirty="0">
                <a:solidFill>
                  <a:srgbClr val="64748B"/>
                </a:solidFill>
                <a:latin typeface="Calibri" pitchFamily="34" charset="0"/>
                <a:ea typeface="Calibri" pitchFamily="34" charset="-122"/>
                <a:cs typeface="Calibri" pitchFamily="34" charset="-120"/>
              </a:rPr>
              <a:t>カスタマーサクセス・オンボーディング支援</a:t>
            </a:r>
            <a:endParaRPr lang="en-US" sz="1000" dirty="0"/>
          </a:p>
        </p:txBody>
      </p:sp>
      <p:sp>
        <p:nvSpPr>
          <p:cNvPr id="31" name="Shape 29"/>
          <p:cNvSpPr/>
          <p:nvPr/>
        </p:nvSpPr>
        <p:spPr>
          <a:xfrm>
            <a:off x="365760" y="4773168"/>
            <a:ext cx="8412480" cy="274320"/>
          </a:xfrm>
          <a:prstGeom prst="roundRect">
            <a:avLst>
              <a:gd name="adj" fmla="val 20000"/>
            </a:avLst>
          </a:prstGeom>
          <a:solidFill>
            <a:srgbClr val="EFF6FF"/>
          </a:solidFill>
          <a:ln w="12700">
            <a:solidFill>
              <a:srgbClr val="3B82F6"/>
            </a:solidFill>
            <a:prstDash val="solid"/>
          </a:ln>
        </p:spPr>
      </p:sp>
      <p:sp>
        <p:nvSpPr>
          <p:cNvPr id="32" name="Text 30"/>
          <p:cNvSpPr/>
          <p:nvPr/>
        </p:nvSpPr>
        <p:spPr>
          <a:xfrm>
            <a:off x="548640" y="4773168"/>
            <a:ext cx="8229600" cy="274320"/>
          </a:xfrm>
          <a:prstGeom prst="rect">
            <a:avLst/>
          </a:prstGeom>
          <a:noFill/>
          <a:ln/>
        </p:spPr>
        <p:txBody>
          <a:bodyPr wrap="square" lIns="0" tIns="0" rIns="0" bIns="0" rtlCol="0" anchor="ctr"/>
          <a:lstStyle/>
          <a:p>
            <a:pPr indent="0" marL="0">
              <a:buNone/>
            </a:pPr>
            <a:r>
              <a:rPr lang="en-US" sz="1000" dirty="0">
                <a:solidFill>
                  <a:srgbClr val="3B82F6"/>
                </a:solidFill>
                <a:latin typeface="Calibri" pitchFamily="34" charset="0"/>
                <a:ea typeface="Calibri" pitchFamily="34" charset="-122"/>
                <a:cs typeface="Calibri" pitchFamily="34" charset="-120"/>
              </a:rPr>
              <a:t>ChatWork URL: https://www.chatwork.com/#!rid418995000</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F1A3E"/>
          </a:solidFill>
          <a:ln/>
        </p:spPr>
      </p:sp>
      <p:sp>
        <p:nvSpPr>
          <p:cNvPr id="3" name="Text 1"/>
          <p:cNvSpPr/>
          <p:nvPr/>
        </p:nvSpPr>
        <p:spPr>
          <a:xfrm>
            <a:off x="457200" y="91440"/>
            <a:ext cx="8229600" cy="347472"/>
          </a:xfrm>
          <a:prstGeom prst="rect">
            <a:avLst/>
          </a:prstGeom>
          <a:noFill/>
          <a:ln/>
        </p:spPr>
        <p:txBody>
          <a:bodyPr wrap="square" lIns="0" tIns="0" rIns="0" bIns="0" rtlCol="0" anchor="ctr"/>
          <a:lstStyle/>
          <a:p>
            <a:pPr indent="0" marL="0">
              <a:buNone/>
            </a:pPr>
            <a:r>
              <a:rPr lang="en-US" sz="1100" b="1" spc="200" kern="0" dirty="0">
                <a:solidFill>
                  <a:srgbClr val="3B82F6"/>
                </a:solidFill>
                <a:latin typeface="Calibri" pitchFamily="34" charset="0"/>
                <a:ea typeface="Calibri" pitchFamily="34" charset="-122"/>
                <a:cs typeface="Calibri" pitchFamily="34" charset="-120"/>
              </a:rPr>
              <a:t>04  オンボーディング手順</a:t>
            </a:r>
            <a:endParaRPr lang="en-US" sz="1100" dirty="0"/>
          </a:p>
        </p:txBody>
      </p:sp>
      <p:sp>
        <p:nvSpPr>
          <p:cNvPr id="4" name="Text 2"/>
          <p:cNvSpPr/>
          <p:nvPr/>
        </p:nvSpPr>
        <p:spPr>
          <a:xfrm>
            <a:off x="457200" y="438912"/>
            <a:ext cx="8229600" cy="420624"/>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スタートまでの4ステップ</a:t>
            </a:r>
            <a:endParaRPr lang="en-US" sz="2400" dirty="0"/>
          </a:p>
        </p:txBody>
      </p:sp>
      <p:sp>
        <p:nvSpPr>
          <p:cNvPr id="5" name="Shape 3"/>
          <p:cNvSpPr/>
          <p:nvPr/>
        </p:nvSpPr>
        <p:spPr>
          <a:xfrm>
            <a:off x="365760" y="1024128"/>
            <a:ext cx="4251960" cy="1901952"/>
          </a:xfrm>
          <a:prstGeom prst="roundRect">
            <a:avLst>
              <a:gd name="adj" fmla="val 4808"/>
            </a:avLst>
          </a:prstGeom>
          <a:solidFill>
            <a:srgbClr val="F8FAFC"/>
          </a:solidFill>
          <a:ln w="12700">
            <a:solidFill>
              <a:srgbClr val="CBD5E1"/>
            </a:solidFill>
            <a:prstDash val="solid"/>
          </a:ln>
          <a:effectLst>
            <a:outerShdw sx="100000" sy="100000" kx="0" ky="0" algn="bl" rotWithShape="0" blurRad="101600" dist="38100" dir="2700000">
              <a:srgbClr val="000000">
                <a:alpha val="12000"/>
              </a:srgbClr>
            </a:outerShdw>
          </a:effectLst>
        </p:spPr>
      </p:sp>
      <p:sp>
        <p:nvSpPr>
          <p:cNvPr id="6" name="Shape 4"/>
          <p:cNvSpPr/>
          <p:nvPr/>
        </p:nvSpPr>
        <p:spPr>
          <a:xfrm>
            <a:off x="365760" y="1024128"/>
            <a:ext cx="658368" cy="1901952"/>
          </a:xfrm>
          <a:prstGeom prst="rect">
            <a:avLst/>
          </a:prstGeom>
          <a:solidFill>
            <a:srgbClr val="3B82F6"/>
          </a:solidFill>
          <a:ln/>
        </p:spPr>
      </p:sp>
      <p:sp>
        <p:nvSpPr>
          <p:cNvPr id="7" name="Text 5"/>
          <p:cNvSpPr/>
          <p:nvPr/>
        </p:nvSpPr>
        <p:spPr>
          <a:xfrm>
            <a:off x="365760" y="1024128"/>
            <a:ext cx="658368" cy="1901952"/>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01</a:t>
            </a:r>
            <a:endParaRPr lang="en-US" sz="2800" dirty="0"/>
          </a:p>
        </p:txBody>
      </p:sp>
      <p:sp>
        <p:nvSpPr>
          <p:cNvPr id="8" name="Text 6"/>
          <p:cNvSpPr/>
          <p:nvPr/>
        </p:nvSpPr>
        <p:spPr>
          <a:xfrm>
            <a:off x="1115568" y="1133856"/>
            <a:ext cx="3383280" cy="347472"/>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オンボーディング事前ガイドを確認</a:t>
            </a:r>
            <a:endParaRPr lang="en-US" sz="1300" dirty="0"/>
          </a:p>
        </p:txBody>
      </p:sp>
      <p:sp>
        <p:nvSpPr>
          <p:cNvPr id="9" name="Text 7"/>
          <p:cNvSpPr/>
          <p:nvPr/>
        </p:nvSpPr>
        <p:spPr>
          <a:xfrm>
            <a:off x="1115568" y="1554480"/>
            <a:ext cx="201168" cy="274320"/>
          </a:xfrm>
          <a:prstGeom prst="rect">
            <a:avLst/>
          </a:prstGeom>
          <a:noFill/>
          <a:ln/>
        </p:spPr>
        <p:txBody>
          <a:bodyPr wrap="square" lIns="0" tIns="0" rIns="0" bIns="0" rtlCol="0" anchor="ctr"/>
          <a:lstStyle/>
          <a:p>
            <a:pPr indent="0" marL="0">
              <a:buNone/>
            </a:pPr>
            <a:r>
              <a:rPr lang="en-US" sz="1100" b="1" dirty="0">
                <a:solidFill>
                  <a:srgbClr val="3B82F6"/>
                </a:solidFill>
                <a:latin typeface="Calibri" pitchFamily="34" charset="0"/>
                <a:ea typeface="Calibri" pitchFamily="34" charset="-122"/>
                <a:cs typeface="Calibri" pitchFamily="34" charset="-120"/>
              </a:rPr>
              <a:t>✓</a:t>
            </a:r>
            <a:endParaRPr lang="en-US" sz="1100" dirty="0"/>
          </a:p>
        </p:txBody>
      </p:sp>
      <p:sp>
        <p:nvSpPr>
          <p:cNvPr id="10" name="Text 8"/>
          <p:cNvSpPr/>
          <p:nvPr/>
        </p:nvSpPr>
        <p:spPr>
          <a:xfrm>
            <a:off x="1335024" y="1554480"/>
            <a:ext cx="3090672" cy="27432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初回オンボーディング事前ガイドURLを開く</a:t>
            </a:r>
            <a:endParaRPr lang="en-US" sz="1000" dirty="0"/>
          </a:p>
        </p:txBody>
      </p:sp>
      <p:sp>
        <p:nvSpPr>
          <p:cNvPr id="11" name="Text 9"/>
          <p:cNvSpPr/>
          <p:nvPr/>
        </p:nvSpPr>
        <p:spPr>
          <a:xfrm>
            <a:off x="1115568" y="1901952"/>
            <a:ext cx="201168" cy="274320"/>
          </a:xfrm>
          <a:prstGeom prst="rect">
            <a:avLst/>
          </a:prstGeom>
          <a:noFill/>
          <a:ln/>
        </p:spPr>
        <p:txBody>
          <a:bodyPr wrap="square" lIns="0" tIns="0" rIns="0" bIns="0" rtlCol="0" anchor="ctr"/>
          <a:lstStyle/>
          <a:p>
            <a:pPr indent="0" marL="0">
              <a:buNone/>
            </a:pPr>
            <a:r>
              <a:rPr lang="en-US" sz="1100" b="1" dirty="0">
                <a:solidFill>
                  <a:srgbClr val="3B82F6"/>
                </a:solidFill>
                <a:latin typeface="Calibri" pitchFamily="34" charset="0"/>
                <a:ea typeface="Calibri" pitchFamily="34" charset="-122"/>
                <a:cs typeface="Calibri" pitchFamily="34" charset="-120"/>
              </a:rPr>
              <a:t>✓</a:t>
            </a:r>
            <a:endParaRPr lang="en-US" sz="1100" dirty="0"/>
          </a:p>
        </p:txBody>
      </p:sp>
      <p:sp>
        <p:nvSpPr>
          <p:cNvPr id="12" name="Text 10"/>
          <p:cNvSpPr/>
          <p:nvPr/>
        </p:nvSpPr>
        <p:spPr>
          <a:xfrm>
            <a:off x="1335024" y="1901952"/>
            <a:ext cx="3090672" cy="27432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資料の内容を一読する</a:t>
            </a:r>
            <a:endParaRPr lang="en-US" sz="1000" dirty="0"/>
          </a:p>
        </p:txBody>
      </p:sp>
      <p:sp>
        <p:nvSpPr>
          <p:cNvPr id="13" name="Text 11"/>
          <p:cNvSpPr/>
          <p:nvPr/>
        </p:nvSpPr>
        <p:spPr>
          <a:xfrm>
            <a:off x="1115568" y="2487168"/>
            <a:ext cx="3291840" cy="329184"/>
          </a:xfrm>
          <a:prstGeom prst="rect">
            <a:avLst/>
          </a:prstGeom>
          <a:noFill/>
          <a:ln/>
        </p:spPr>
        <p:txBody>
          <a:bodyPr wrap="square" lIns="0" tIns="0" rIns="0" bIns="0" rtlCol="0" anchor="ctr"/>
          <a:lstStyle/>
          <a:p>
            <a:pPr indent="0" marL="0">
              <a:buNone/>
            </a:pPr>
            <a:r>
              <a:rPr lang="en-US" sz="900" dirty="0">
                <a:solidFill>
                  <a:srgbClr val="3B82F6"/>
                </a:solidFill>
                <a:latin typeface="Calibri" pitchFamily="34" charset="0"/>
                <a:ea typeface="Calibri" pitchFamily="34" charset="-122"/>
                <a:cs typeface="Calibri" pitchFamily="34" charset="-120"/>
              </a:rPr>
              <a:t>docs.google.com/document/d/1TeP-CyDEz...</a:t>
            </a:r>
            <a:endParaRPr lang="en-US" sz="900" dirty="0"/>
          </a:p>
        </p:txBody>
      </p:sp>
      <p:sp>
        <p:nvSpPr>
          <p:cNvPr id="14" name="Shape 12"/>
          <p:cNvSpPr/>
          <p:nvPr/>
        </p:nvSpPr>
        <p:spPr>
          <a:xfrm>
            <a:off x="4846320" y="1024128"/>
            <a:ext cx="4251960" cy="1901952"/>
          </a:xfrm>
          <a:prstGeom prst="roundRect">
            <a:avLst>
              <a:gd name="adj" fmla="val 4808"/>
            </a:avLst>
          </a:prstGeom>
          <a:solidFill>
            <a:srgbClr val="F8FAFC"/>
          </a:solidFill>
          <a:ln w="12700">
            <a:solidFill>
              <a:srgbClr val="CBD5E1"/>
            </a:solidFill>
            <a:prstDash val="solid"/>
          </a:ln>
          <a:effectLst>
            <a:outerShdw sx="100000" sy="100000" kx="0" ky="0" algn="bl" rotWithShape="0" blurRad="101600" dist="38100" dir="2700000">
              <a:srgbClr val="000000">
                <a:alpha val="12000"/>
              </a:srgbClr>
            </a:outerShdw>
          </a:effectLst>
        </p:spPr>
      </p:sp>
      <p:sp>
        <p:nvSpPr>
          <p:cNvPr id="15" name="Shape 13"/>
          <p:cNvSpPr/>
          <p:nvPr/>
        </p:nvSpPr>
        <p:spPr>
          <a:xfrm>
            <a:off x="4846320" y="1024128"/>
            <a:ext cx="658368" cy="1901952"/>
          </a:xfrm>
          <a:prstGeom prst="rect">
            <a:avLst/>
          </a:prstGeom>
          <a:solidFill>
            <a:srgbClr val="1E3A8A"/>
          </a:solidFill>
          <a:ln/>
        </p:spPr>
      </p:sp>
      <p:sp>
        <p:nvSpPr>
          <p:cNvPr id="16" name="Text 14"/>
          <p:cNvSpPr/>
          <p:nvPr/>
        </p:nvSpPr>
        <p:spPr>
          <a:xfrm>
            <a:off x="4846320" y="1024128"/>
            <a:ext cx="658368" cy="1901952"/>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02</a:t>
            </a:r>
            <a:endParaRPr lang="en-US" sz="2800" dirty="0"/>
          </a:p>
        </p:txBody>
      </p:sp>
      <p:sp>
        <p:nvSpPr>
          <p:cNvPr id="17" name="Text 15"/>
          <p:cNvSpPr/>
          <p:nvPr/>
        </p:nvSpPr>
        <p:spPr>
          <a:xfrm>
            <a:off x="5596128" y="1133856"/>
            <a:ext cx="3383280" cy="347472"/>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アンケートに回答</a:t>
            </a:r>
            <a:endParaRPr lang="en-US" sz="1300" dirty="0"/>
          </a:p>
        </p:txBody>
      </p:sp>
      <p:sp>
        <p:nvSpPr>
          <p:cNvPr id="18" name="Text 16"/>
          <p:cNvSpPr/>
          <p:nvPr/>
        </p:nvSpPr>
        <p:spPr>
          <a:xfrm>
            <a:off x="5596128" y="1554480"/>
            <a:ext cx="201168" cy="274320"/>
          </a:xfrm>
          <a:prstGeom prst="rect">
            <a:avLst/>
          </a:prstGeom>
          <a:noFill/>
          <a:ln/>
        </p:spPr>
        <p:txBody>
          <a:bodyPr wrap="square" lIns="0" tIns="0" rIns="0" bIns="0" rtlCol="0" anchor="ctr"/>
          <a:lstStyle/>
          <a:p>
            <a:pPr indent="0" marL="0">
              <a:buNone/>
            </a:pPr>
            <a:r>
              <a:rPr lang="en-US" sz="1100" b="1" dirty="0">
                <a:solidFill>
                  <a:srgbClr val="1E3A8A"/>
                </a:solidFill>
                <a:latin typeface="Calibri" pitchFamily="34" charset="0"/>
                <a:ea typeface="Calibri" pitchFamily="34" charset="-122"/>
                <a:cs typeface="Calibri" pitchFamily="34" charset="-120"/>
              </a:rPr>
              <a:t>✓</a:t>
            </a:r>
            <a:endParaRPr lang="en-US" sz="1100" dirty="0"/>
          </a:p>
        </p:txBody>
      </p:sp>
      <p:sp>
        <p:nvSpPr>
          <p:cNvPr id="19" name="Text 17"/>
          <p:cNvSpPr/>
          <p:nvPr/>
        </p:nvSpPr>
        <p:spPr>
          <a:xfrm>
            <a:off x="5815584" y="1554480"/>
            <a:ext cx="3090672" cy="27432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ベースAIスクリプト作成のためのアンケートに回答</a:t>
            </a:r>
            <a:endParaRPr lang="en-US" sz="1000" dirty="0"/>
          </a:p>
        </p:txBody>
      </p:sp>
      <p:sp>
        <p:nvSpPr>
          <p:cNvPr id="20" name="Text 18"/>
          <p:cNvSpPr/>
          <p:nvPr/>
        </p:nvSpPr>
        <p:spPr>
          <a:xfrm>
            <a:off x="5596128" y="1901952"/>
            <a:ext cx="201168" cy="274320"/>
          </a:xfrm>
          <a:prstGeom prst="rect">
            <a:avLst/>
          </a:prstGeom>
          <a:noFill/>
          <a:ln/>
        </p:spPr>
        <p:txBody>
          <a:bodyPr wrap="square" lIns="0" tIns="0" rIns="0" bIns="0" rtlCol="0" anchor="ctr"/>
          <a:lstStyle/>
          <a:p>
            <a:pPr indent="0" marL="0">
              <a:buNone/>
            </a:pPr>
            <a:r>
              <a:rPr lang="en-US" sz="1100" b="1" dirty="0">
                <a:solidFill>
                  <a:srgbClr val="1E3A8A"/>
                </a:solidFill>
                <a:latin typeface="Calibri" pitchFamily="34" charset="0"/>
                <a:ea typeface="Calibri" pitchFamily="34" charset="-122"/>
                <a:cs typeface="Calibri" pitchFamily="34" charset="-120"/>
              </a:rPr>
              <a:t>✓</a:t>
            </a:r>
            <a:endParaRPr lang="en-US" sz="1100" dirty="0"/>
          </a:p>
        </p:txBody>
      </p:sp>
      <p:sp>
        <p:nvSpPr>
          <p:cNvPr id="21" name="Text 19"/>
          <p:cNvSpPr/>
          <p:nvPr/>
        </p:nvSpPr>
        <p:spPr>
          <a:xfrm>
            <a:off x="5815584" y="1901952"/>
            <a:ext cx="3090672" cy="27432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自社商材・ターゲット情報を正確に記入</a:t>
            </a:r>
            <a:endParaRPr lang="en-US" sz="1000" dirty="0"/>
          </a:p>
        </p:txBody>
      </p:sp>
      <p:sp>
        <p:nvSpPr>
          <p:cNvPr id="22" name="Text 20"/>
          <p:cNvSpPr/>
          <p:nvPr/>
        </p:nvSpPr>
        <p:spPr>
          <a:xfrm>
            <a:off x="5596128" y="2487168"/>
            <a:ext cx="3291840" cy="329184"/>
          </a:xfrm>
          <a:prstGeom prst="rect">
            <a:avLst/>
          </a:prstGeom>
          <a:noFill/>
          <a:ln/>
        </p:spPr>
        <p:txBody>
          <a:bodyPr wrap="square" lIns="0" tIns="0" rIns="0" bIns="0" rtlCol="0" anchor="ctr"/>
          <a:lstStyle/>
          <a:p>
            <a:pPr indent="0" marL="0">
              <a:buNone/>
            </a:pPr>
            <a:r>
              <a:rPr lang="en-US" sz="900" dirty="0">
                <a:solidFill>
                  <a:srgbClr val="3B82F6"/>
                </a:solidFill>
                <a:latin typeface="Calibri" pitchFamily="34" charset="0"/>
                <a:ea typeface="Calibri" pitchFamily="34" charset="-122"/>
                <a:cs typeface="Calibri" pitchFamily="34" charset="-120"/>
              </a:rPr>
              <a:t>docs.google.com/document/d/1TeP-CyDEz...tab=bqf5ckb6151p</a:t>
            </a:r>
            <a:endParaRPr lang="en-US" sz="900" dirty="0"/>
          </a:p>
        </p:txBody>
      </p:sp>
      <p:sp>
        <p:nvSpPr>
          <p:cNvPr id="23" name="Shape 21"/>
          <p:cNvSpPr/>
          <p:nvPr/>
        </p:nvSpPr>
        <p:spPr>
          <a:xfrm>
            <a:off x="365760" y="3054096"/>
            <a:ext cx="4251960" cy="1901952"/>
          </a:xfrm>
          <a:prstGeom prst="roundRect">
            <a:avLst>
              <a:gd name="adj" fmla="val 4808"/>
            </a:avLst>
          </a:prstGeom>
          <a:solidFill>
            <a:srgbClr val="F8FAFC"/>
          </a:solidFill>
          <a:ln w="12700">
            <a:solidFill>
              <a:srgbClr val="CBD5E1"/>
            </a:solidFill>
            <a:prstDash val="solid"/>
          </a:ln>
          <a:effectLst>
            <a:outerShdw sx="100000" sy="100000" kx="0" ky="0" algn="bl" rotWithShape="0" blurRad="101600" dist="38100" dir="2700000">
              <a:srgbClr val="000000">
                <a:alpha val="12000"/>
              </a:srgbClr>
            </a:outerShdw>
          </a:effectLst>
        </p:spPr>
      </p:sp>
      <p:sp>
        <p:nvSpPr>
          <p:cNvPr id="24" name="Shape 22"/>
          <p:cNvSpPr/>
          <p:nvPr/>
        </p:nvSpPr>
        <p:spPr>
          <a:xfrm>
            <a:off x="365760" y="3054096"/>
            <a:ext cx="658368" cy="1901952"/>
          </a:xfrm>
          <a:prstGeom prst="rect">
            <a:avLst/>
          </a:prstGeom>
          <a:solidFill>
            <a:srgbClr val="059669"/>
          </a:solidFill>
          <a:ln/>
        </p:spPr>
      </p:sp>
      <p:sp>
        <p:nvSpPr>
          <p:cNvPr id="25" name="Text 23"/>
          <p:cNvSpPr/>
          <p:nvPr/>
        </p:nvSpPr>
        <p:spPr>
          <a:xfrm>
            <a:off x="365760" y="3054096"/>
            <a:ext cx="658368" cy="1901952"/>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03</a:t>
            </a:r>
            <a:endParaRPr lang="en-US" sz="2800" dirty="0"/>
          </a:p>
        </p:txBody>
      </p:sp>
      <p:sp>
        <p:nvSpPr>
          <p:cNvPr id="26" name="Text 24"/>
          <p:cNvSpPr/>
          <p:nvPr/>
        </p:nvSpPr>
        <p:spPr>
          <a:xfrm>
            <a:off x="1115568" y="3163824"/>
            <a:ext cx="3383280" cy="347472"/>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チュートリアル講座を受講</a:t>
            </a:r>
            <a:endParaRPr lang="en-US" sz="1300" dirty="0"/>
          </a:p>
        </p:txBody>
      </p:sp>
      <p:sp>
        <p:nvSpPr>
          <p:cNvPr id="27" name="Text 25"/>
          <p:cNvSpPr/>
          <p:nvPr/>
        </p:nvSpPr>
        <p:spPr>
          <a:xfrm>
            <a:off x="1115568" y="3584448"/>
            <a:ext cx="201168" cy="274320"/>
          </a:xfrm>
          <a:prstGeom prst="rect">
            <a:avLst/>
          </a:prstGeom>
          <a:noFill/>
          <a:ln/>
        </p:spPr>
        <p:txBody>
          <a:bodyPr wrap="square" lIns="0" tIns="0" rIns="0" bIns="0" rtlCol="0" anchor="ctr"/>
          <a:lstStyle/>
          <a:p>
            <a:pPr indent="0" marL="0">
              <a:buNone/>
            </a:pPr>
            <a:r>
              <a:rPr lang="en-US" sz="1100" b="1" dirty="0">
                <a:solidFill>
                  <a:srgbClr val="059669"/>
                </a:solidFill>
                <a:latin typeface="Calibri" pitchFamily="34" charset="0"/>
                <a:ea typeface="Calibri" pitchFamily="34" charset="-122"/>
                <a:cs typeface="Calibri" pitchFamily="34" charset="-120"/>
              </a:rPr>
              <a:t>✓</a:t>
            </a:r>
            <a:endParaRPr lang="en-US" sz="1100" dirty="0"/>
          </a:p>
        </p:txBody>
      </p:sp>
      <p:sp>
        <p:nvSpPr>
          <p:cNvPr id="28" name="Text 26"/>
          <p:cNvSpPr/>
          <p:nvPr/>
        </p:nvSpPr>
        <p:spPr>
          <a:xfrm>
            <a:off x="1335024" y="3584448"/>
            <a:ext cx="3090672" cy="27432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管理画面の使い方・架電設定を学習</a:t>
            </a:r>
            <a:endParaRPr lang="en-US" sz="1000" dirty="0"/>
          </a:p>
        </p:txBody>
      </p:sp>
      <p:sp>
        <p:nvSpPr>
          <p:cNvPr id="29" name="Text 27"/>
          <p:cNvSpPr/>
          <p:nvPr/>
        </p:nvSpPr>
        <p:spPr>
          <a:xfrm>
            <a:off x="1115568" y="3931920"/>
            <a:ext cx="201168" cy="274320"/>
          </a:xfrm>
          <a:prstGeom prst="rect">
            <a:avLst/>
          </a:prstGeom>
          <a:noFill/>
          <a:ln/>
        </p:spPr>
        <p:txBody>
          <a:bodyPr wrap="square" lIns="0" tIns="0" rIns="0" bIns="0" rtlCol="0" anchor="ctr"/>
          <a:lstStyle/>
          <a:p>
            <a:pPr indent="0" marL="0">
              <a:buNone/>
            </a:pPr>
            <a:r>
              <a:rPr lang="en-US" sz="1100" b="1" dirty="0">
                <a:solidFill>
                  <a:srgbClr val="059669"/>
                </a:solidFill>
                <a:latin typeface="Calibri" pitchFamily="34" charset="0"/>
                <a:ea typeface="Calibri" pitchFamily="34" charset="-122"/>
                <a:cs typeface="Calibri" pitchFamily="34" charset="-120"/>
              </a:rPr>
              <a:t>✓</a:t>
            </a:r>
            <a:endParaRPr lang="en-US" sz="1100" dirty="0"/>
          </a:p>
        </p:txBody>
      </p:sp>
      <p:sp>
        <p:nvSpPr>
          <p:cNvPr id="30" name="Text 28"/>
          <p:cNvSpPr/>
          <p:nvPr/>
        </p:nvSpPr>
        <p:spPr>
          <a:xfrm>
            <a:off x="1335024" y="3931920"/>
            <a:ext cx="3090672" cy="27432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オペレーター画面の操作を確認</a:t>
            </a:r>
            <a:endParaRPr lang="en-US" sz="1000" dirty="0"/>
          </a:p>
        </p:txBody>
      </p:sp>
      <p:sp>
        <p:nvSpPr>
          <p:cNvPr id="31" name="Text 29"/>
          <p:cNvSpPr/>
          <p:nvPr/>
        </p:nvSpPr>
        <p:spPr>
          <a:xfrm>
            <a:off x="1115568" y="4517136"/>
            <a:ext cx="3291840" cy="329184"/>
          </a:xfrm>
          <a:prstGeom prst="rect">
            <a:avLst/>
          </a:prstGeom>
          <a:noFill/>
          <a:ln/>
        </p:spPr>
        <p:txBody>
          <a:bodyPr wrap="square" lIns="0" tIns="0" rIns="0" bIns="0" rtlCol="0" anchor="ctr"/>
          <a:lstStyle/>
          <a:p>
            <a:pPr indent="0" marL="0">
              <a:buNone/>
            </a:pPr>
            <a:r>
              <a:rPr lang="en-US" sz="900" dirty="0">
                <a:solidFill>
                  <a:srgbClr val="3B82F6"/>
                </a:solidFill>
                <a:latin typeface="Calibri" pitchFamily="34" charset="0"/>
                <a:ea typeface="Calibri" pitchFamily="34" charset="-122"/>
                <a:cs typeface="Calibri" pitchFamily="34" charset="-120"/>
              </a:rPr>
              <a:t>docs.google.com/document/d/1TeP-CyDEz...</a:t>
            </a:r>
            <a:endParaRPr lang="en-US" sz="900" dirty="0"/>
          </a:p>
        </p:txBody>
      </p:sp>
      <p:sp>
        <p:nvSpPr>
          <p:cNvPr id="32" name="Shape 30"/>
          <p:cNvSpPr/>
          <p:nvPr/>
        </p:nvSpPr>
        <p:spPr>
          <a:xfrm>
            <a:off x="4846320" y="3054096"/>
            <a:ext cx="4251960" cy="1901952"/>
          </a:xfrm>
          <a:prstGeom prst="roundRect">
            <a:avLst>
              <a:gd name="adj" fmla="val 4808"/>
            </a:avLst>
          </a:prstGeom>
          <a:solidFill>
            <a:srgbClr val="F8FAFC"/>
          </a:solidFill>
          <a:ln w="12700">
            <a:solidFill>
              <a:srgbClr val="CBD5E1"/>
            </a:solidFill>
            <a:prstDash val="solid"/>
          </a:ln>
          <a:effectLst>
            <a:outerShdw sx="100000" sy="100000" kx="0" ky="0" algn="bl" rotWithShape="0" blurRad="101600" dist="38100" dir="2700000">
              <a:srgbClr val="000000">
                <a:alpha val="12000"/>
              </a:srgbClr>
            </a:outerShdw>
          </a:effectLst>
        </p:spPr>
      </p:sp>
      <p:sp>
        <p:nvSpPr>
          <p:cNvPr id="33" name="Shape 31"/>
          <p:cNvSpPr/>
          <p:nvPr/>
        </p:nvSpPr>
        <p:spPr>
          <a:xfrm>
            <a:off x="4846320" y="3054096"/>
            <a:ext cx="658368" cy="1901952"/>
          </a:xfrm>
          <a:prstGeom prst="rect">
            <a:avLst/>
          </a:prstGeom>
          <a:solidFill>
            <a:srgbClr val="D97706"/>
          </a:solidFill>
          <a:ln/>
        </p:spPr>
      </p:sp>
      <p:sp>
        <p:nvSpPr>
          <p:cNvPr id="34" name="Text 32"/>
          <p:cNvSpPr/>
          <p:nvPr/>
        </p:nvSpPr>
        <p:spPr>
          <a:xfrm>
            <a:off x="4846320" y="3054096"/>
            <a:ext cx="658368" cy="1901952"/>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04</a:t>
            </a:r>
            <a:endParaRPr lang="en-US" sz="2800" dirty="0"/>
          </a:p>
        </p:txBody>
      </p:sp>
      <p:sp>
        <p:nvSpPr>
          <p:cNvPr id="35" name="Text 33"/>
          <p:cNvSpPr/>
          <p:nvPr/>
        </p:nvSpPr>
        <p:spPr>
          <a:xfrm>
            <a:off x="5596128" y="3163824"/>
            <a:ext cx="3383280" cy="347472"/>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Kickoff ミーティング</a:t>
            </a:r>
            <a:endParaRPr lang="en-US" sz="1300" dirty="0"/>
          </a:p>
        </p:txBody>
      </p:sp>
      <p:sp>
        <p:nvSpPr>
          <p:cNvPr id="36" name="Text 34"/>
          <p:cNvSpPr/>
          <p:nvPr/>
        </p:nvSpPr>
        <p:spPr>
          <a:xfrm>
            <a:off x="5596128" y="3584448"/>
            <a:ext cx="201168" cy="274320"/>
          </a:xfrm>
          <a:prstGeom prst="rect">
            <a:avLst/>
          </a:prstGeom>
          <a:noFill/>
          <a:ln/>
        </p:spPr>
        <p:txBody>
          <a:bodyPr wrap="square" lIns="0" tIns="0" rIns="0" bIns="0" rtlCol="0" anchor="ctr"/>
          <a:lstStyle/>
          <a:p>
            <a:pPr indent="0" marL="0">
              <a:buNone/>
            </a:pPr>
            <a:r>
              <a:rPr lang="en-US" sz="1100" b="1" dirty="0">
                <a:solidFill>
                  <a:srgbClr val="D97706"/>
                </a:solidFill>
                <a:latin typeface="Calibri" pitchFamily="34" charset="0"/>
                <a:ea typeface="Calibri" pitchFamily="34" charset="-122"/>
                <a:cs typeface="Calibri" pitchFamily="34" charset="-120"/>
              </a:rPr>
              <a:t>✓</a:t>
            </a:r>
            <a:endParaRPr lang="en-US" sz="1100" dirty="0"/>
          </a:p>
        </p:txBody>
      </p:sp>
      <p:sp>
        <p:nvSpPr>
          <p:cNvPr id="37" name="Text 35"/>
          <p:cNvSpPr/>
          <p:nvPr/>
        </p:nvSpPr>
        <p:spPr>
          <a:xfrm>
            <a:off x="5815584" y="3584448"/>
            <a:ext cx="3090672" cy="27432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SoloptiLink担当者とKickoff（Week 1）</a:t>
            </a:r>
            <a:endParaRPr lang="en-US" sz="1000" dirty="0"/>
          </a:p>
        </p:txBody>
      </p:sp>
      <p:sp>
        <p:nvSpPr>
          <p:cNvPr id="38" name="Text 36"/>
          <p:cNvSpPr/>
          <p:nvPr/>
        </p:nvSpPr>
        <p:spPr>
          <a:xfrm>
            <a:off x="5596128" y="3931920"/>
            <a:ext cx="201168" cy="274320"/>
          </a:xfrm>
          <a:prstGeom prst="rect">
            <a:avLst/>
          </a:prstGeom>
          <a:noFill/>
          <a:ln/>
        </p:spPr>
        <p:txBody>
          <a:bodyPr wrap="square" lIns="0" tIns="0" rIns="0" bIns="0" rtlCol="0" anchor="ctr"/>
          <a:lstStyle/>
          <a:p>
            <a:pPr indent="0" marL="0">
              <a:buNone/>
            </a:pPr>
            <a:r>
              <a:rPr lang="en-US" sz="1100" b="1" dirty="0">
                <a:solidFill>
                  <a:srgbClr val="D97706"/>
                </a:solidFill>
                <a:latin typeface="Calibri" pitchFamily="34" charset="0"/>
                <a:ea typeface="Calibri" pitchFamily="34" charset="-122"/>
                <a:cs typeface="Calibri" pitchFamily="34" charset="-120"/>
              </a:rPr>
              <a:t>✓</a:t>
            </a:r>
            <a:endParaRPr lang="en-US" sz="1100" dirty="0"/>
          </a:p>
        </p:txBody>
      </p:sp>
      <p:sp>
        <p:nvSpPr>
          <p:cNvPr id="39" name="Text 37"/>
          <p:cNvSpPr/>
          <p:nvPr/>
        </p:nvSpPr>
        <p:spPr>
          <a:xfrm>
            <a:off x="5815584" y="3931920"/>
            <a:ext cx="3090672" cy="27432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KPI設定・ターゲット・スクリプト最終確認</a:t>
            </a:r>
            <a:endParaRPr lang="en-US" sz="1000" dirty="0"/>
          </a:p>
        </p:txBody>
      </p:sp>
      <p:sp>
        <p:nvSpPr>
          <p:cNvPr id="40" name="Text 38"/>
          <p:cNvSpPr/>
          <p:nvPr/>
        </p:nvSpPr>
        <p:spPr>
          <a:xfrm>
            <a:off x="5596128" y="4517136"/>
            <a:ext cx="3291840" cy="329184"/>
          </a:xfrm>
          <a:prstGeom prst="rect">
            <a:avLst/>
          </a:prstGeom>
          <a:noFill/>
          <a:ln/>
        </p:spPr>
        <p:txBody>
          <a:bodyPr wrap="square" lIns="0" tIns="0" rIns="0" bIns="0" rtlCol="0" anchor="ctr"/>
          <a:lstStyle/>
          <a:p>
            <a:pPr indent="0" marL="0">
              <a:buNone/>
            </a:pPr>
            <a:r>
              <a:rPr lang="en-US" sz="900" dirty="0">
                <a:solidFill>
                  <a:srgbClr val="3B82F6"/>
                </a:solidFill>
                <a:latin typeface="Calibri" pitchFamily="34" charset="0"/>
                <a:ea typeface="Calibri" pitchFamily="34" charset="-122"/>
                <a:cs typeface="Calibri" pitchFamily="34" charset="-120"/>
              </a:rPr>
              <a:t>ChatWorkまたは担当者から日程調整連絡</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F1A3E"/>
          </a:solidFill>
          <a:ln/>
        </p:spPr>
      </p:sp>
      <p:sp>
        <p:nvSpPr>
          <p:cNvPr id="3" name="Text 1"/>
          <p:cNvSpPr/>
          <p:nvPr/>
        </p:nvSpPr>
        <p:spPr>
          <a:xfrm>
            <a:off x="457200" y="91440"/>
            <a:ext cx="8229600" cy="347472"/>
          </a:xfrm>
          <a:prstGeom prst="rect">
            <a:avLst/>
          </a:prstGeom>
          <a:noFill/>
          <a:ln/>
        </p:spPr>
        <p:txBody>
          <a:bodyPr wrap="square" lIns="0" tIns="0" rIns="0" bIns="0" rtlCol="0" anchor="ctr"/>
          <a:lstStyle/>
          <a:p>
            <a:pPr indent="0" marL="0">
              <a:buNone/>
            </a:pPr>
            <a:r>
              <a:rPr lang="en-US" sz="1100" b="1" spc="200" kern="0" dirty="0">
                <a:solidFill>
                  <a:srgbClr val="3B82F6"/>
                </a:solidFill>
                <a:latin typeface="Calibri" pitchFamily="34" charset="0"/>
                <a:ea typeface="Calibri" pitchFamily="34" charset="-122"/>
                <a:cs typeface="Calibri" pitchFamily="34" charset="-120"/>
              </a:rPr>
              <a:t>05  スクリプト設計</a:t>
            </a:r>
            <a:endParaRPr lang="en-US" sz="1100" dirty="0"/>
          </a:p>
        </p:txBody>
      </p:sp>
      <p:sp>
        <p:nvSpPr>
          <p:cNvPr id="4" name="Text 2"/>
          <p:cNvSpPr/>
          <p:nvPr/>
        </p:nvSpPr>
        <p:spPr>
          <a:xfrm>
            <a:off x="457200" y="438912"/>
            <a:ext cx="8229600" cy="420624"/>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4つの基本ノード構造</a:t>
            </a:r>
            <a:endParaRPr lang="en-US" sz="2400" dirty="0"/>
          </a:p>
        </p:txBody>
      </p:sp>
      <p:sp>
        <p:nvSpPr>
          <p:cNvPr id="5" name="Shape 3"/>
          <p:cNvSpPr/>
          <p:nvPr/>
        </p:nvSpPr>
        <p:spPr>
          <a:xfrm>
            <a:off x="365760" y="1024128"/>
            <a:ext cx="4251960" cy="1883664"/>
          </a:xfrm>
          <a:prstGeom prst="roundRect">
            <a:avLst>
              <a:gd name="adj" fmla="val 4854"/>
            </a:avLst>
          </a:prstGeom>
          <a:solidFill>
            <a:srgbClr val="F8FAFC"/>
          </a:solidFill>
          <a:ln w="12700">
            <a:solidFill>
              <a:srgbClr val="CBD5E1"/>
            </a:solidFill>
            <a:prstDash val="solid"/>
          </a:ln>
          <a:effectLst>
            <a:outerShdw sx="100000" sy="100000" kx="0" ky="0" algn="bl" rotWithShape="0" blurRad="76200" dist="25400" dir="2700000">
              <a:srgbClr val="000000">
                <a:alpha val="12000"/>
              </a:srgbClr>
            </a:outerShdw>
          </a:effectLst>
        </p:spPr>
      </p:sp>
      <p:sp>
        <p:nvSpPr>
          <p:cNvPr id="6" name="Shape 4"/>
          <p:cNvSpPr/>
          <p:nvPr/>
        </p:nvSpPr>
        <p:spPr>
          <a:xfrm>
            <a:off x="493776" y="1133856"/>
            <a:ext cx="1463040" cy="237744"/>
          </a:xfrm>
          <a:prstGeom prst="roundRect">
            <a:avLst>
              <a:gd name="adj" fmla="val 15385"/>
            </a:avLst>
          </a:prstGeom>
          <a:solidFill>
            <a:srgbClr val="374151"/>
          </a:solidFill>
          <a:ln/>
        </p:spPr>
      </p:sp>
      <p:sp>
        <p:nvSpPr>
          <p:cNvPr id="7" name="Text 5"/>
          <p:cNvSpPr/>
          <p:nvPr/>
        </p:nvSpPr>
        <p:spPr>
          <a:xfrm>
            <a:off x="493776" y="1133856"/>
            <a:ext cx="1463040" cy="237744"/>
          </a:xfrm>
          <a:prstGeom prst="rect">
            <a:avLst/>
          </a:prstGeom>
          <a:noFill/>
          <a:ln/>
        </p:spPr>
        <p:txBody>
          <a:bodyPr wrap="square" lIns="0" tIns="0" rIns="0" bIns="0" rtlCol="0" anchor="ctr"/>
          <a:lstStyle/>
          <a:p>
            <a:pPr algn="ctr" indent="0" marL="0">
              <a:buNone/>
            </a:pPr>
            <a:r>
              <a:rPr lang="en-US" sz="900" b="1" dirty="0">
                <a:solidFill>
                  <a:srgbClr val="93C5FD"/>
                </a:solidFill>
                <a:latin typeface="Calibri" pitchFamily="34" charset="0"/>
                <a:ea typeface="Calibri" pitchFamily="34" charset="-122"/>
                <a:cs typeface="Calibri" pitchFamily="34" charset="-120"/>
              </a:rPr>
              <a:t>通常ノード</a:t>
            </a:r>
            <a:endParaRPr lang="en-US" sz="900" dirty="0"/>
          </a:p>
        </p:txBody>
      </p:sp>
      <p:sp>
        <p:nvSpPr>
          <p:cNvPr id="8" name="Text 6"/>
          <p:cNvSpPr/>
          <p:nvPr/>
        </p:nvSpPr>
        <p:spPr>
          <a:xfrm>
            <a:off x="493776" y="1444752"/>
            <a:ext cx="3931920" cy="32004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 もしもし</a:t>
            </a:r>
            <a:endParaRPr lang="en-US" sz="1400" dirty="0"/>
          </a:p>
        </p:txBody>
      </p:sp>
      <p:sp>
        <p:nvSpPr>
          <p:cNvPr id="9" name="Shape 7"/>
          <p:cNvSpPr/>
          <p:nvPr/>
        </p:nvSpPr>
        <p:spPr>
          <a:xfrm>
            <a:off x="530352" y="1938528"/>
            <a:ext cx="91440" cy="91440"/>
          </a:xfrm>
          <a:prstGeom prst="ellipse">
            <a:avLst/>
          </a:prstGeom>
          <a:solidFill>
            <a:srgbClr val="1E3A8A"/>
          </a:solidFill>
          <a:ln/>
        </p:spPr>
      </p:sp>
      <p:sp>
        <p:nvSpPr>
          <p:cNvPr id="10" name="Text 8"/>
          <p:cNvSpPr/>
          <p:nvPr/>
        </p:nvSpPr>
        <p:spPr>
          <a:xfrm>
            <a:off x="676656" y="1847088"/>
            <a:ext cx="3749040" cy="256032"/>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音声: （3秒空白音）もしもし</a:t>
            </a:r>
            <a:endParaRPr lang="en-US" sz="1050" dirty="0"/>
          </a:p>
        </p:txBody>
      </p:sp>
      <p:sp>
        <p:nvSpPr>
          <p:cNvPr id="11" name="Shape 9"/>
          <p:cNvSpPr/>
          <p:nvPr/>
        </p:nvSpPr>
        <p:spPr>
          <a:xfrm>
            <a:off x="530352" y="2231136"/>
            <a:ext cx="91440" cy="91440"/>
          </a:xfrm>
          <a:prstGeom prst="ellipse">
            <a:avLst/>
          </a:prstGeom>
          <a:solidFill>
            <a:srgbClr val="1E3A8A"/>
          </a:solidFill>
          <a:ln/>
        </p:spPr>
      </p:sp>
      <p:sp>
        <p:nvSpPr>
          <p:cNvPr id="12" name="Text 10"/>
          <p:cNvSpPr/>
          <p:nvPr/>
        </p:nvSpPr>
        <p:spPr>
          <a:xfrm>
            <a:off x="676656" y="2139696"/>
            <a:ext cx="3749040" cy="256032"/>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中断許可: ON</a:t>
            </a:r>
            <a:endParaRPr lang="en-US" sz="1050" dirty="0"/>
          </a:p>
        </p:txBody>
      </p:sp>
      <p:sp>
        <p:nvSpPr>
          <p:cNvPr id="13" name="Shape 11"/>
          <p:cNvSpPr/>
          <p:nvPr/>
        </p:nvSpPr>
        <p:spPr>
          <a:xfrm>
            <a:off x="530352" y="2523744"/>
            <a:ext cx="91440" cy="91440"/>
          </a:xfrm>
          <a:prstGeom prst="ellipse">
            <a:avLst/>
          </a:prstGeom>
          <a:solidFill>
            <a:srgbClr val="1E3A8A"/>
          </a:solidFill>
          <a:ln/>
        </p:spPr>
      </p:sp>
      <p:sp>
        <p:nvSpPr>
          <p:cNvPr id="14" name="Text 12"/>
          <p:cNvSpPr/>
          <p:nvPr/>
        </p:nvSpPr>
        <p:spPr>
          <a:xfrm>
            <a:off x="676656" y="2432304"/>
            <a:ext cx="3749040" cy="256032"/>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用途: AI第一声 / 留守電スキップ</a:t>
            </a:r>
            <a:endParaRPr lang="en-US" sz="1050" dirty="0"/>
          </a:p>
        </p:txBody>
      </p:sp>
      <p:sp>
        <p:nvSpPr>
          <p:cNvPr id="15" name="Shape 13"/>
          <p:cNvSpPr/>
          <p:nvPr/>
        </p:nvSpPr>
        <p:spPr>
          <a:xfrm>
            <a:off x="4846320" y="1024128"/>
            <a:ext cx="4251960" cy="1883664"/>
          </a:xfrm>
          <a:prstGeom prst="roundRect">
            <a:avLst>
              <a:gd name="adj" fmla="val 4854"/>
            </a:avLst>
          </a:prstGeom>
          <a:solidFill>
            <a:srgbClr val="F8FAFC"/>
          </a:solidFill>
          <a:ln w="12700">
            <a:solidFill>
              <a:srgbClr val="CBD5E1"/>
            </a:solidFill>
            <a:prstDash val="solid"/>
          </a:ln>
          <a:effectLst>
            <a:outerShdw sx="100000" sy="100000" kx="0" ky="0" algn="bl" rotWithShape="0" blurRad="76200" dist="25400" dir="2700000">
              <a:srgbClr val="000000">
                <a:alpha val="12000"/>
              </a:srgbClr>
            </a:outerShdw>
          </a:effectLst>
        </p:spPr>
      </p:sp>
      <p:sp>
        <p:nvSpPr>
          <p:cNvPr id="16" name="Shape 14"/>
          <p:cNvSpPr/>
          <p:nvPr/>
        </p:nvSpPr>
        <p:spPr>
          <a:xfrm>
            <a:off x="4974336" y="1133856"/>
            <a:ext cx="1463040" cy="237744"/>
          </a:xfrm>
          <a:prstGeom prst="roundRect">
            <a:avLst>
              <a:gd name="adj" fmla="val 15385"/>
            </a:avLst>
          </a:prstGeom>
          <a:solidFill>
            <a:srgbClr val="374151"/>
          </a:solidFill>
          <a:ln/>
        </p:spPr>
      </p:sp>
      <p:sp>
        <p:nvSpPr>
          <p:cNvPr id="17" name="Text 15"/>
          <p:cNvSpPr/>
          <p:nvPr/>
        </p:nvSpPr>
        <p:spPr>
          <a:xfrm>
            <a:off x="4974336" y="1133856"/>
            <a:ext cx="1463040" cy="237744"/>
          </a:xfrm>
          <a:prstGeom prst="rect">
            <a:avLst/>
          </a:prstGeom>
          <a:noFill/>
          <a:ln/>
        </p:spPr>
        <p:txBody>
          <a:bodyPr wrap="square" lIns="0" tIns="0" rIns="0" bIns="0" rtlCol="0" anchor="ctr"/>
          <a:lstStyle/>
          <a:p>
            <a:pPr algn="ctr" indent="0" marL="0">
              <a:buNone/>
            </a:pPr>
            <a:r>
              <a:rPr lang="en-US" sz="900" b="1" dirty="0">
                <a:solidFill>
                  <a:srgbClr val="93C5FD"/>
                </a:solidFill>
                <a:latin typeface="Calibri" pitchFamily="34" charset="0"/>
                <a:ea typeface="Calibri" pitchFamily="34" charset="-122"/>
                <a:cs typeface="Calibri" pitchFamily="34" charset="-120"/>
              </a:rPr>
              <a:t>通常ノード</a:t>
            </a:r>
            <a:endParaRPr lang="en-US" sz="900" dirty="0"/>
          </a:p>
        </p:txBody>
      </p:sp>
      <p:sp>
        <p:nvSpPr>
          <p:cNvPr id="18" name="Text 16"/>
          <p:cNvSpPr/>
          <p:nvPr/>
        </p:nvSpPr>
        <p:spPr>
          <a:xfrm>
            <a:off x="4974336" y="1444752"/>
            <a:ext cx="3931920" cy="32004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 自己紹介</a:t>
            </a:r>
            <a:endParaRPr lang="en-US" sz="1400" dirty="0"/>
          </a:p>
        </p:txBody>
      </p:sp>
      <p:sp>
        <p:nvSpPr>
          <p:cNvPr id="19" name="Shape 17"/>
          <p:cNvSpPr/>
          <p:nvPr/>
        </p:nvSpPr>
        <p:spPr>
          <a:xfrm>
            <a:off x="5010912" y="1938528"/>
            <a:ext cx="91440" cy="91440"/>
          </a:xfrm>
          <a:prstGeom prst="ellipse">
            <a:avLst/>
          </a:prstGeom>
          <a:solidFill>
            <a:srgbClr val="1D4ED8"/>
          </a:solidFill>
          <a:ln/>
        </p:spPr>
      </p:sp>
      <p:sp>
        <p:nvSpPr>
          <p:cNvPr id="20" name="Text 18"/>
          <p:cNvSpPr/>
          <p:nvPr/>
        </p:nvSpPr>
        <p:spPr>
          <a:xfrm>
            <a:off x="5157216" y="1847088"/>
            <a:ext cx="3749040" cy="256032"/>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音声: 社名・担当者確認の一文</a:t>
            </a:r>
            <a:endParaRPr lang="en-US" sz="1050" dirty="0"/>
          </a:p>
        </p:txBody>
      </p:sp>
      <p:sp>
        <p:nvSpPr>
          <p:cNvPr id="21" name="Shape 19"/>
          <p:cNvSpPr/>
          <p:nvPr/>
        </p:nvSpPr>
        <p:spPr>
          <a:xfrm>
            <a:off x="5010912" y="2231136"/>
            <a:ext cx="91440" cy="91440"/>
          </a:xfrm>
          <a:prstGeom prst="ellipse">
            <a:avLst/>
          </a:prstGeom>
          <a:solidFill>
            <a:srgbClr val="1D4ED8"/>
          </a:solidFill>
          <a:ln/>
        </p:spPr>
      </p:sp>
      <p:sp>
        <p:nvSpPr>
          <p:cNvPr id="22" name="Text 20"/>
          <p:cNvSpPr/>
          <p:nvPr/>
        </p:nvSpPr>
        <p:spPr>
          <a:xfrm>
            <a:off x="5157216" y="2139696"/>
            <a:ext cx="3749040" cy="256032"/>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中断許可: OFF ← 必須</a:t>
            </a:r>
            <a:endParaRPr lang="en-US" sz="1050" dirty="0"/>
          </a:p>
        </p:txBody>
      </p:sp>
      <p:sp>
        <p:nvSpPr>
          <p:cNvPr id="23" name="Shape 21"/>
          <p:cNvSpPr/>
          <p:nvPr/>
        </p:nvSpPr>
        <p:spPr>
          <a:xfrm>
            <a:off x="5010912" y="2523744"/>
            <a:ext cx="91440" cy="91440"/>
          </a:xfrm>
          <a:prstGeom prst="ellipse">
            <a:avLst/>
          </a:prstGeom>
          <a:solidFill>
            <a:srgbClr val="1D4ED8"/>
          </a:solidFill>
          <a:ln/>
        </p:spPr>
      </p:sp>
      <p:sp>
        <p:nvSpPr>
          <p:cNvPr id="24" name="Text 22"/>
          <p:cNvSpPr/>
          <p:nvPr/>
        </p:nvSpPr>
        <p:spPr>
          <a:xfrm>
            <a:off x="5157216" y="2432304"/>
            <a:ext cx="3749040" cy="256032"/>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用途: 用件を最後まで伝えきる</a:t>
            </a:r>
            <a:endParaRPr lang="en-US" sz="1050" dirty="0"/>
          </a:p>
        </p:txBody>
      </p:sp>
      <p:sp>
        <p:nvSpPr>
          <p:cNvPr id="25" name="Shape 23"/>
          <p:cNvSpPr/>
          <p:nvPr/>
        </p:nvSpPr>
        <p:spPr>
          <a:xfrm>
            <a:off x="365760" y="3035808"/>
            <a:ext cx="4251960" cy="1883664"/>
          </a:xfrm>
          <a:prstGeom prst="roundRect">
            <a:avLst>
              <a:gd name="adj" fmla="val 4854"/>
            </a:avLst>
          </a:prstGeom>
          <a:solidFill>
            <a:srgbClr val="F8FAFC"/>
          </a:solidFill>
          <a:ln w="12700">
            <a:solidFill>
              <a:srgbClr val="CBD5E1"/>
            </a:solidFill>
            <a:prstDash val="solid"/>
          </a:ln>
          <a:effectLst>
            <a:outerShdw sx="100000" sy="100000" kx="0" ky="0" algn="bl" rotWithShape="0" blurRad="76200" dist="25400" dir="2700000">
              <a:srgbClr val="000000">
                <a:alpha val="12000"/>
              </a:srgbClr>
            </a:outerShdw>
          </a:effectLst>
        </p:spPr>
      </p:sp>
      <p:sp>
        <p:nvSpPr>
          <p:cNvPr id="26" name="Shape 24"/>
          <p:cNvSpPr/>
          <p:nvPr/>
        </p:nvSpPr>
        <p:spPr>
          <a:xfrm>
            <a:off x="493776" y="3145536"/>
            <a:ext cx="1463040" cy="237744"/>
          </a:xfrm>
          <a:prstGeom prst="roundRect">
            <a:avLst>
              <a:gd name="adj" fmla="val 15385"/>
            </a:avLst>
          </a:prstGeom>
          <a:solidFill>
            <a:srgbClr val="064E3B"/>
          </a:solidFill>
          <a:ln/>
        </p:spPr>
      </p:sp>
      <p:sp>
        <p:nvSpPr>
          <p:cNvPr id="27" name="Text 25"/>
          <p:cNvSpPr/>
          <p:nvPr/>
        </p:nvSpPr>
        <p:spPr>
          <a:xfrm>
            <a:off x="493776" y="3145536"/>
            <a:ext cx="1463040" cy="237744"/>
          </a:xfrm>
          <a:prstGeom prst="rect">
            <a:avLst/>
          </a:prstGeom>
          <a:noFill/>
          <a:ln/>
        </p:spPr>
        <p:txBody>
          <a:bodyPr wrap="square" lIns="0" tIns="0" rIns="0" bIns="0" rtlCol="0" anchor="ctr"/>
          <a:lstStyle/>
          <a:p>
            <a:pPr algn="ctr" indent="0" marL="0">
              <a:buNone/>
            </a:pPr>
            <a:r>
              <a:rPr lang="en-US" sz="900" b="1" dirty="0">
                <a:solidFill>
                  <a:srgbClr val="6EE7B7"/>
                </a:solidFill>
                <a:latin typeface="Calibri" pitchFamily="34" charset="0"/>
                <a:ea typeface="Calibri" pitchFamily="34" charset="-122"/>
                <a:cs typeface="Calibri" pitchFamily="34" charset="-120"/>
              </a:rPr>
              <a:t>ジャンプノード</a:t>
            </a:r>
            <a:endParaRPr lang="en-US" sz="900" dirty="0"/>
          </a:p>
        </p:txBody>
      </p:sp>
      <p:sp>
        <p:nvSpPr>
          <p:cNvPr id="28" name="Text 26"/>
          <p:cNvSpPr/>
          <p:nvPr/>
        </p:nvSpPr>
        <p:spPr>
          <a:xfrm>
            <a:off x="493776" y="3456432"/>
            <a:ext cx="3931920" cy="32004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 オペレーターに転送</a:t>
            </a:r>
            <a:endParaRPr lang="en-US" sz="1400" dirty="0"/>
          </a:p>
        </p:txBody>
      </p:sp>
      <p:sp>
        <p:nvSpPr>
          <p:cNvPr id="29" name="Shape 27"/>
          <p:cNvSpPr/>
          <p:nvPr/>
        </p:nvSpPr>
        <p:spPr>
          <a:xfrm>
            <a:off x="530352" y="3950208"/>
            <a:ext cx="91440" cy="91440"/>
          </a:xfrm>
          <a:prstGeom prst="ellipse">
            <a:avLst/>
          </a:prstGeom>
          <a:solidFill>
            <a:srgbClr val="059669"/>
          </a:solidFill>
          <a:ln/>
        </p:spPr>
      </p:sp>
      <p:sp>
        <p:nvSpPr>
          <p:cNvPr id="30" name="Text 28"/>
          <p:cNvSpPr/>
          <p:nvPr/>
        </p:nvSpPr>
        <p:spPr>
          <a:xfrm>
            <a:off x="676656" y="3858768"/>
            <a:ext cx="3749040" cy="256032"/>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次のステップ: 転送</a:t>
            </a:r>
            <a:endParaRPr lang="en-US" sz="1050" dirty="0"/>
          </a:p>
        </p:txBody>
      </p:sp>
      <p:sp>
        <p:nvSpPr>
          <p:cNvPr id="31" name="Shape 29"/>
          <p:cNvSpPr/>
          <p:nvPr/>
        </p:nvSpPr>
        <p:spPr>
          <a:xfrm>
            <a:off x="530352" y="4242816"/>
            <a:ext cx="91440" cy="91440"/>
          </a:xfrm>
          <a:prstGeom prst="ellipse">
            <a:avLst/>
          </a:prstGeom>
          <a:solidFill>
            <a:srgbClr val="059669"/>
          </a:solidFill>
          <a:ln/>
        </p:spPr>
      </p:sp>
      <p:sp>
        <p:nvSpPr>
          <p:cNvPr id="32" name="Text 30"/>
          <p:cNvSpPr/>
          <p:nvPr/>
        </p:nvSpPr>
        <p:spPr>
          <a:xfrm>
            <a:off x="676656" y="4151376"/>
            <a:ext cx="3749040" cy="256032"/>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転送設定: ON</a:t>
            </a:r>
            <a:endParaRPr lang="en-US" sz="1050" dirty="0"/>
          </a:p>
        </p:txBody>
      </p:sp>
      <p:sp>
        <p:nvSpPr>
          <p:cNvPr id="33" name="Shape 31"/>
          <p:cNvSpPr/>
          <p:nvPr/>
        </p:nvSpPr>
        <p:spPr>
          <a:xfrm>
            <a:off x="530352" y="4535424"/>
            <a:ext cx="91440" cy="91440"/>
          </a:xfrm>
          <a:prstGeom prst="ellipse">
            <a:avLst/>
          </a:prstGeom>
          <a:solidFill>
            <a:srgbClr val="059669"/>
          </a:solidFill>
          <a:ln/>
        </p:spPr>
      </p:sp>
      <p:sp>
        <p:nvSpPr>
          <p:cNvPr id="34" name="Text 32"/>
          <p:cNvSpPr/>
          <p:nvPr/>
        </p:nvSpPr>
        <p:spPr>
          <a:xfrm>
            <a:off x="676656" y="4443984"/>
            <a:ext cx="3749040" cy="256032"/>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末尾: 1分の空白音（代電待機）</a:t>
            </a:r>
            <a:endParaRPr lang="en-US" sz="1050" dirty="0"/>
          </a:p>
        </p:txBody>
      </p:sp>
      <p:sp>
        <p:nvSpPr>
          <p:cNvPr id="35" name="Shape 33"/>
          <p:cNvSpPr/>
          <p:nvPr/>
        </p:nvSpPr>
        <p:spPr>
          <a:xfrm>
            <a:off x="4846320" y="3035808"/>
            <a:ext cx="4251960" cy="1883664"/>
          </a:xfrm>
          <a:prstGeom prst="roundRect">
            <a:avLst>
              <a:gd name="adj" fmla="val 4854"/>
            </a:avLst>
          </a:prstGeom>
          <a:solidFill>
            <a:srgbClr val="F8FAFC"/>
          </a:solidFill>
          <a:ln w="12700">
            <a:solidFill>
              <a:srgbClr val="CBD5E1"/>
            </a:solidFill>
            <a:prstDash val="solid"/>
          </a:ln>
          <a:effectLst>
            <a:outerShdw sx="100000" sy="100000" kx="0" ky="0" algn="bl" rotWithShape="0" blurRad="76200" dist="25400" dir="2700000">
              <a:srgbClr val="000000">
                <a:alpha val="12000"/>
              </a:srgbClr>
            </a:outerShdw>
          </a:effectLst>
        </p:spPr>
      </p:sp>
      <p:sp>
        <p:nvSpPr>
          <p:cNvPr id="36" name="Shape 34"/>
          <p:cNvSpPr/>
          <p:nvPr/>
        </p:nvSpPr>
        <p:spPr>
          <a:xfrm>
            <a:off x="4974336" y="3145536"/>
            <a:ext cx="1463040" cy="237744"/>
          </a:xfrm>
          <a:prstGeom prst="roundRect">
            <a:avLst>
              <a:gd name="adj" fmla="val 15385"/>
            </a:avLst>
          </a:prstGeom>
          <a:solidFill>
            <a:srgbClr val="064E3B"/>
          </a:solidFill>
          <a:ln/>
        </p:spPr>
      </p:sp>
      <p:sp>
        <p:nvSpPr>
          <p:cNvPr id="37" name="Text 35"/>
          <p:cNvSpPr/>
          <p:nvPr/>
        </p:nvSpPr>
        <p:spPr>
          <a:xfrm>
            <a:off x="4974336" y="3145536"/>
            <a:ext cx="1463040" cy="237744"/>
          </a:xfrm>
          <a:prstGeom prst="rect">
            <a:avLst/>
          </a:prstGeom>
          <a:noFill/>
          <a:ln/>
        </p:spPr>
        <p:txBody>
          <a:bodyPr wrap="square" lIns="0" tIns="0" rIns="0" bIns="0" rtlCol="0" anchor="ctr"/>
          <a:lstStyle/>
          <a:p>
            <a:pPr algn="ctr" indent="0" marL="0">
              <a:buNone/>
            </a:pPr>
            <a:r>
              <a:rPr lang="en-US" sz="900" b="1" dirty="0">
                <a:solidFill>
                  <a:srgbClr val="6EE7B7"/>
                </a:solidFill>
                <a:latin typeface="Calibri" pitchFamily="34" charset="0"/>
                <a:ea typeface="Calibri" pitchFamily="34" charset="-122"/>
                <a:cs typeface="Calibri" pitchFamily="34" charset="-120"/>
              </a:rPr>
              <a:t>ジャンプノード</a:t>
            </a:r>
            <a:endParaRPr lang="en-US" sz="900" dirty="0"/>
          </a:p>
        </p:txBody>
      </p:sp>
      <p:sp>
        <p:nvSpPr>
          <p:cNvPr id="38" name="Text 36"/>
          <p:cNvSpPr/>
          <p:nvPr/>
        </p:nvSpPr>
        <p:spPr>
          <a:xfrm>
            <a:off x="4974336" y="3456432"/>
            <a:ext cx="3931920" cy="32004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 お断り</a:t>
            </a:r>
            <a:endParaRPr lang="en-US" sz="1400" dirty="0"/>
          </a:p>
        </p:txBody>
      </p:sp>
      <p:sp>
        <p:nvSpPr>
          <p:cNvPr id="39" name="Shape 37"/>
          <p:cNvSpPr/>
          <p:nvPr/>
        </p:nvSpPr>
        <p:spPr>
          <a:xfrm>
            <a:off x="5010912" y="3950208"/>
            <a:ext cx="91440" cy="91440"/>
          </a:xfrm>
          <a:prstGeom prst="ellipse">
            <a:avLst/>
          </a:prstGeom>
          <a:solidFill>
            <a:srgbClr val="DC2626"/>
          </a:solidFill>
          <a:ln/>
        </p:spPr>
      </p:sp>
      <p:sp>
        <p:nvSpPr>
          <p:cNvPr id="40" name="Text 38"/>
          <p:cNvSpPr/>
          <p:nvPr/>
        </p:nvSpPr>
        <p:spPr>
          <a:xfrm>
            <a:off x="5157216" y="3858768"/>
            <a:ext cx="3749040" cy="256032"/>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次のステップ: 切断</a:t>
            </a:r>
            <a:endParaRPr lang="en-US" sz="1050" dirty="0"/>
          </a:p>
        </p:txBody>
      </p:sp>
      <p:sp>
        <p:nvSpPr>
          <p:cNvPr id="41" name="Shape 39"/>
          <p:cNvSpPr/>
          <p:nvPr/>
        </p:nvSpPr>
        <p:spPr>
          <a:xfrm>
            <a:off x="5010912" y="4242816"/>
            <a:ext cx="91440" cy="91440"/>
          </a:xfrm>
          <a:prstGeom prst="ellipse">
            <a:avLst/>
          </a:prstGeom>
          <a:solidFill>
            <a:srgbClr val="DC2626"/>
          </a:solidFill>
          <a:ln/>
        </p:spPr>
      </p:sp>
      <p:sp>
        <p:nvSpPr>
          <p:cNvPr id="42" name="Text 40"/>
          <p:cNvSpPr/>
          <p:nvPr/>
        </p:nvSpPr>
        <p:spPr>
          <a:xfrm>
            <a:off x="5157216" y="4151376"/>
            <a:ext cx="3749040" cy="256032"/>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中断許可: OFF</a:t>
            </a:r>
            <a:endParaRPr lang="en-US" sz="1050" dirty="0"/>
          </a:p>
        </p:txBody>
      </p:sp>
      <p:sp>
        <p:nvSpPr>
          <p:cNvPr id="43" name="Shape 41"/>
          <p:cNvSpPr/>
          <p:nvPr/>
        </p:nvSpPr>
        <p:spPr>
          <a:xfrm>
            <a:off x="5010912" y="4535424"/>
            <a:ext cx="91440" cy="91440"/>
          </a:xfrm>
          <a:prstGeom prst="ellipse">
            <a:avLst/>
          </a:prstGeom>
          <a:solidFill>
            <a:srgbClr val="DC2626"/>
          </a:solidFill>
          <a:ln/>
        </p:spPr>
      </p:sp>
      <p:sp>
        <p:nvSpPr>
          <p:cNvPr id="44" name="Text 42"/>
          <p:cNvSpPr/>
          <p:nvPr/>
        </p:nvSpPr>
        <p:spPr>
          <a:xfrm>
            <a:off x="5157216" y="4443984"/>
            <a:ext cx="3749040" cy="256032"/>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音声: かしこまりました。失礼いたします</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F1A3E"/>
          </a:solidFill>
          <a:ln/>
        </p:spPr>
      </p:sp>
      <p:sp>
        <p:nvSpPr>
          <p:cNvPr id="3" name="Text 1"/>
          <p:cNvSpPr/>
          <p:nvPr/>
        </p:nvSpPr>
        <p:spPr>
          <a:xfrm>
            <a:off x="457200" y="91440"/>
            <a:ext cx="8229600" cy="347472"/>
          </a:xfrm>
          <a:prstGeom prst="rect">
            <a:avLst/>
          </a:prstGeom>
          <a:noFill/>
          <a:ln/>
        </p:spPr>
        <p:txBody>
          <a:bodyPr wrap="square" lIns="0" tIns="0" rIns="0" bIns="0" rtlCol="0" anchor="ctr"/>
          <a:lstStyle/>
          <a:p>
            <a:pPr indent="0" marL="0">
              <a:buNone/>
            </a:pPr>
            <a:r>
              <a:rPr lang="en-US" sz="1100" b="1" spc="200" kern="0" dirty="0">
                <a:solidFill>
                  <a:srgbClr val="3B82F6"/>
                </a:solidFill>
                <a:latin typeface="Calibri" pitchFamily="34" charset="0"/>
                <a:ea typeface="Calibri" pitchFamily="34" charset="-122"/>
                <a:cs typeface="Calibri" pitchFamily="34" charset="-120"/>
              </a:rPr>
              <a:t>05  スクリプト設計</a:t>
            </a:r>
            <a:endParaRPr lang="en-US" sz="1100" dirty="0"/>
          </a:p>
        </p:txBody>
      </p:sp>
      <p:sp>
        <p:nvSpPr>
          <p:cNvPr id="4" name="Text 2"/>
          <p:cNvSpPr/>
          <p:nvPr/>
        </p:nvSpPr>
        <p:spPr>
          <a:xfrm>
            <a:off x="457200" y="438912"/>
            <a:ext cx="8229600" cy="420624"/>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キーワード設定と出口の優先順位</a:t>
            </a:r>
            <a:endParaRPr lang="en-US" sz="2400" dirty="0"/>
          </a:p>
        </p:txBody>
      </p:sp>
      <p:sp>
        <p:nvSpPr>
          <p:cNvPr id="5" name="Shape 3"/>
          <p:cNvSpPr/>
          <p:nvPr/>
        </p:nvSpPr>
        <p:spPr>
          <a:xfrm>
            <a:off x="365760" y="1051560"/>
            <a:ext cx="5074920" cy="1143000"/>
          </a:xfrm>
          <a:prstGeom prst="roundRect">
            <a:avLst>
              <a:gd name="adj" fmla="val 6400"/>
            </a:avLst>
          </a:prstGeom>
          <a:solidFill>
            <a:srgbClr val="F8FAFC"/>
          </a:solidFill>
          <a:ln w="12700">
            <a:solidFill>
              <a:srgbClr val="CBD5E1"/>
            </a:solidFill>
            <a:prstDash val="solid"/>
          </a:ln>
          <a:effectLst>
            <a:outerShdw sx="100000" sy="100000" kx="0" ky="0" algn="bl" rotWithShape="0" blurRad="50800" dist="12700" dir="2700000">
              <a:srgbClr val="000000">
                <a:alpha val="12000"/>
              </a:srgbClr>
            </a:outerShdw>
          </a:effectLst>
        </p:spPr>
      </p:sp>
      <p:sp>
        <p:nvSpPr>
          <p:cNvPr id="6" name="Shape 4"/>
          <p:cNvSpPr/>
          <p:nvPr/>
        </p:nvSpPr>
        <p:spPr>
          <a:xfrm>
            <a:off x="502920" y="1143000"/>
            <a:ext cx="182880" cy="182880"/>
          </a:xfrm>
          <a:prstGeom prst="ellipse">
            <a:avLst/>
          </a:prstGeom>
          <a:solidFill>
            <a:srgbClr val="059669"/>
          </a:solidFill>
          <a:ln/>
        </p:spPr>
      </p:sp>
      <p:sp>
        <p:nvSpPr>
          <p:cNvPr id="7" name="Text 5"/>
          <p:cNvSpPr/>
          <p:nvPr/>
        </p:nvSpPr>
        <p:spPr>
          <a:xfrm>
            <a:off x="749808" y="1115568"/>
            <a:ext cx="4480560" cy="256032"/>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私が担当者</a:t>
            </a:r>
            <a:endParaRPr lang="en-US" sz="1300" dirty="0"/>
          </a:p>
        </p:txBody>
      </p:sp>
      <p:sp>
        <p:nvSpPr>
          <p:cNvPr id="8" name="Text 6"/>
          <p:cNvSpPr/>
          <p:nvPr/>
        </p:nvSpPr>
        <p:spPr>
          <a:xfrm>
            <a:off x="502920" y="1435608"/>
            <a:ext cx="4754880" cy="640080"/>
          </a:xfrm>
          <a:prstGeom prst="rect">
            <a:avLst/>
          </a:prstGeom>
          <a:noFill/>
          <a:ln/>
        </p:spPr>
        <p:txBody>
          <a:bodyPr wrap="square" lIns="0" tIns="0" rIns="0" bIns="0" rtlCol="0" anchor="ctr"/>
          <a:lstStyle/>
          <a:p>
            <a:pPr indent="0" marL="0">
              <a:lnSpc>
                <a:spcPct val="140000"/>
              </a:lnSpc>
              <a:buNone/>
            </a:pPr>
            <a:r>
              <a:rPr lang="en-US" sz="1050" dirty="0">
                <a:solidFill>
                  <a:srgbClr val="64748B"/>
                </a:solidFill>
                <a:latin typeface="Calibri" pitchFamily="34" charset="0"/>
                <a:ea typeface="Calibri" pitchFamily="34" charset="-122"/>
                <a:cs typeface="Calibri" pitchFamily="34" charset="-120"/>
              </a:rPr>
              <a:t>私です / 私が担当者 / 僕が担当者 / 担当者は私 / オーナーです / 私がオーナー / オーナーになります</a:t>
            </a:r>
            <a:endParaRPr lang="en-US" sz="1050" dirty="0"/>
          </a:p>
        </p:txBody>
      </p:sp>
      <p:sp>
        <p:nvSpPr>
          <p:cNvPr id="9" name="Shape 7"/>
          <p:cNvSpPr/>
          <p:nvPr/>
        </p:nvSpPr>
        <p:spPr>
          <a:xfrm>
            <a:off x="365760" y="2313432"/>
            <a:ext cx="5074920" cy="1143000"/>
          </a:xfrm>
          <a:prstGeom prst="roundRect">
            <a:avLst>
              <a:gd name="adj" fmla="val 6400"/>
            </a:avLst>
          </a:prstGeom>
          <a:solidFill>
            <a:srgbClr val="F8FAFC"/>
          </a:solidFill>
          <a:ln w="12700">
            <a:solidFill>
              <a:srgbClr val="CBD5E1"/>
            </a:solidFill>
            <a:prstDash val="solid"/>
          </a:ln>
          <a:effectLst>
            <a:outerShdw sx="100000" sy="100000" kx="0" ky="0" algn="bl" rotWithShape="0" blurRad="50800" dist="12700" dir="2700000">
              <a:srgbClr val="000000">
                <a:alpha val="12000"/>
              </a:srgbClr>
            </a:outerShdw>
          </a:effectLst>
        </p:spPr>
      </p:sp>
      <p:sp>
        <p:nvSpPr>
          <p:cNvPr id="10" name="Shape 8"/>
          <p:cNvSpPr/>
          <p:nvPr/>
        </p:nvSpPr>
        <p:spPr>
          <a:xfrm>
            <a:off x="502920" y="2404872"/>
            <a:ext cx="182880" cy="182880"/>
          </a:xfrm>
          <a:prstGeom prst="ellipse">
            <a:avLst/>
          </a:prstGeom>
          <a:solidFill>
            <a:srgbClr val="DC2626"/>
          </a:solidFill>
          <a:ln/>
        </p:spPr>
      </p:sp>
      <p:sp>
        <p:nvSpPr>
          <p:cNvPr id="11" name="Text 9"/>
          <p:cNvSpPr/>
          <p:nvPr/>
        </p:nvSpPr>
        <p:spPr>
          <a:xfrm>
            <a:off x="749808" y="2377440"/>
            <a:ext cx="4480560" cy="256032"/>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興味なし</a:t>
            </a:r>
            <a:endParaRPr lang="en-US" sz="1300" dirty="0"/>
          </a:p>
        </p:txBody>
      </p:sp>
      <p:sp>
        <p:nvSpPr>
          <p:cNvPr id="12" name="Text 10"/>
          <p:cNvSpPr/>
          <p:nvPr/>
        </p:nvSpPr>
        <p:spPr>
          <a:xfrm>
            <a:off x="502920" y="2697480"/>
            <a:ext cx="4754880" cy="640080"/>
          </a:xfrm>
          <a:prstGeom prst="rect">
            <a:avLst/>
          </a:prstGeom>
          <a:noFill/>
          <a:ln/>
        </p:spPr>
        <p:txBody>
          <a:bodyPr wrap="square" lIns="0" tIns="0" rIns="0" bIns="0" rtlCol="0" anchor="ctr"/>
          <a:lstStyle/>
          <a:p>
            <a:pPr indent="0" marL="0">
              <a:lnSpc>
                <a:spcPct val="140000"/>
              </a:lnSpc>
              <a:buNone/>
            </a:pPr>
            <a:r>
              <a:rPr lang="en-US" sz="1050" dirty="0">
                <a:solidFill>
                  <a:srgbClr val="64748B"/>
                </a:solidFill>
                <a:latin typeface="Calibri" pitchFamily="34" charset="0"/>
                <a:ea typeface="Calibri" pitchFamily="34" charset="-122"/>
                <a:cs typeface="Calibri" pitchFamily="34" charset="-120"/>
              </a:rPr>
              <a:t>お断り / 興味な / 興味無 / 興味ありません / 結構です</a:t>
            </a:r>
            <a:endParaRPr lang="en-US" sz="1050" dirty="0"/>
          </a:p>
        </p:txBody>
      </p:sp>
      <p:sp>
        <p:nvSpPr>
          <p:cNvPr id="13" name="Shape 11"/>
          <p:cNvSpPr/>
          <p:nvPr/>
        </p:nvSpPr>
        <p:spPr>
          <a:xfrm>
            <a:off x="365760" y="3575304"/>
            <a:ext cx="5074920" cy="1143000"/>
          </a:xfrm>
          <a:prstGeom prst="roundRect">
            <a:avLst>
              <a:gd name="adj" fmla="val 6400"/>
            </a:avLst>
          </a:prstGeom>
          <a:solidFill>
            <a:srgbClr val="F8FAFC"/>
          </a:solidFill>
          <a:ln w="12700">
            <a:solidFill>
              <a:srgbClr val="CBD5E1"/>
            </a:solidFill>
            <a:prstDash val="solid"/>
          </a:ln>
          <a:effectLst>
            <a:outerShdw sx="100000" sy="100000" kx="0" ky="0" algn="bl" rotWithShape="0" blurRad="50800" dist="12700" dir="2700000">
              <a:srgbClr val="000000">
                <a:alpha val="12000"/>
              </a:srgbClr>
            </a:outerShdw>
          </a:effectLst>
        </p:spPr>
      </p:sp>
      <p:sp>
        <p:nvSpPr>
          <p:cNvPr id="14" name="Shape 12"/>
          <p:cNvSpPr/>
          <p:nvPr/>
        </p:nvSpPr>
        <p:spPr>
          <a:xfrm>
            <a:off x="502920" y="3666744"/>
            <a:ext cx="182880" cy="182880"/>
          </a:xfrm>
          <a:prstGeom prst="ellipse">
            <a:avLst/>
          </a:prstGeom>
          <a:solidFill>
            <a:srgbClr val="D97706"/>
          </a:solidFill>
          <a:ln/>
        </p:spPr>
      </p:sp>
      <p:sp>
        <p:nvSpPr>
          <p:cNvPr id="15" name="Text 13"/>
          <p:cNvSpPr/>
          <p:nvPr/>
        </p:nvSpPr>
        <p:spPr>
          <a:xfrm>
            <a:off x="749808" y="3639312"/>
            <a:ext cx="4480560" cy="256032"/>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解析不能（受け皿）</a:t>
            </a:r>
            <a:endParaRPr lang="en-US" sz="1300" dirty="0"/>
          </a:p>
        </p:txBody>
      </p:sp>
      <p:sp>
        <p:nvSpPr>
          <p:cNvPr id="16" name="Text 14"/>
          <p:cNvSpPr/>
          <p:nvPr/>
        </p:nvSpPr>
        <p:spPr>
          <a:xfrm>
            <a:off x="502920" y="3959352"/>
            <a:ext cx="4754880" cy="640080"/>
          </a:xfrm>
          <a:prstGeom prst="rect">
            <a:avLst/>
          </a:prstGeom>
          <a:noFill/>
          <a:ln/>
        </p:spPr>
        <p:txBody>
          <a:bodyPr wrap="square" lIns="0" tIns="0" rIns="0" bIns="0" rtlCol="0" anchor="ctr"/>
          <a:lstStyle/>
          <a:p>
            <a:pPr indent="0" marL="0">
              <a:lnSpc>
                <a:spcPct val="140000"/>
              </a:lnSpc>
              <a:buNone/>
            </a:pPr>
            <a:r>
              <a:rPr lang="en-US" sz="1050" dirty="0">
                <a:solidFill>
                  <a:srgbClr val="64748B"/>
                </a:solidFill>
                <a:latin typeface="Calibri" pitchFamily="34" charset="0"/>
                <a:ea typeface="Calibri" pitchFamily="34" charset="-122"/>
                <a:cs typeface="Calibri" pitchFamily="34" charset="-120"/>
              </a:rPr>
              <a:t>上記いずれにもヒットしない発言すべて → 解析不能プロセスへ移行</a:t>
            </a:r>
            <a:endParaRPr lang="en-US" sz="1050" dirty="0"/>
          </a:p>
        </p:txBody>
      </p:sp>
      <p:sp>
        <p:nvSpPr>
          <p:cNvPr id="17" name="Shape 15"/>
          <p:cNvSpPr/>
          <p:nvPr/>
        </p:nvSpPr>
        <p:spPr>
          <a:xfrm>
            <a:off x="5577840" y="1024128"/>
            <a:ext cx="3337560" cy="3749040"/>
          </a:xfrm>
          <a:prstGeom prst="roundRect">
            <a:avLst>
              <a:gd name="adj" fmla="val 2740"/>
            </a:avLst>
          </a:prstGeom>
          <a:solidFill>
            <a:srgbClr val="FFF7ED"/>
          </a:solidFill>
          <a:ln w="12700">
            <a:solidFill>
              <a:srgbClr val="D97706"/>
            </a:solidFill>
            <a:prstDash val="solid"/>
          </a:ln>
        </p:spPr>
      </p:sp>
      <p:sp>
        <p:nvSpPr>
          <p:cNvPr id="18" name="Text 16"/>
          <p:cNvSpPr/>
          <p:nvPr/>
        </p:nvSpPr>
        <p:spPr>
          <a:xfrm>
            <a:off x="5715000" y="1115568"/>
            <a:ext cx="3017520" cy="301752"/>
          </a:xfrm>
          <a:prstGeom prst="rect">
            <a:avLst/>
          </a:prstGeom>
          <a:noFill/>
          <a:ln/>
        </p:spPr>
        <p:txBody>
          <a:bodyPr wrap="square" lIns="0" tIns="0" rIns="0" bIns="0" rtlCol="0" anchor="ctr"/>
          <a:lstStyle/>
          <a:p>
            <a:pPr indent="0" marL="0">
              <a:buNone/>
            </a:pPr>
            <a:r>
              <a:rPr lang="en-US" sz="1300" b="1" dirty="0">
                <a:solidFill>
                  <a:srgbClr val="D97706"/>
                </a:solidFill>
                <a:latin typeface="Calibri" pitchFamily="34" charset="0"/>
                <a:ea typeface="Calibri" pitchFamily="34" charset="-122"/>
                <a:cs typeface="Calibri" pitchFamily="34" charset="-120"/>
              </a:rPr>
              <a:t>⚠️ 優先順位ルール</a:t>
            </a:r>
            <a:endParaRPr lang="en-US" sz="1300" dirty="0"/>
          </a:p>
        </p:txBody>
      </p:sp>
      <p:sp>
        <p:nvSpPr>
          <p:cNvPr id="19" name="Text 17"/>
          <p:cNvSpPr/>
          <p:nvPr/>
        </p:nvSpPr>
        <p:spPr>
          <a:xfrm>
            <a:off x="5715000" y="1426464"/>
            <a:ext cx="3017520" cy="256032"/>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左上にあるほど優先度が高い</a:t>
            </a:r>
            <a:endParaRPr lang="en-US" sz="1100" dirty="0"/>
          </a:p>
        </p:txBody>
      </p:sp>
      <p:sp>
        <p:nvSpPr>
          <p:cNvPr id="20" name="Shape 18"/>
          <p:cNvSpPr/>
          <p:nvPr/>
        </p:nvSpPr>
        <p:spPr>
          <a:xfrm>
            <a:off x="5669280" y="1810512"/>
            <a:ext cx="3108960" cy="1316736"/>
          </a:xfrm>
          <a:prstGeom prst="roundRect">
            <a:avLst>
              <a:gd name="adj" fmla="val 5556"/>
            </a:avLst>
          </a:prstGeom>
          <a:solidFill>
            <a:srgbClr val="FEF2F2"/>
          </a:solidFill>
          <a:ln w="12700">
            <a:solidFill>
              <a:srgbClr val="FCA5A5"/>
            </a:solidFill>
            <a:prstDash val="solid"/>
          </a:ln>
        </p:spPr>
      </p:sp>
      <p:sp>
        <p:nvSpPr>
          <p:cNvPr id="21" name="Text 19"/>
          <p:cNvSpPr/>
          <p:nvPr/>
        </p:nvSpPr>
        <p:spPr>
          <a:xfrm>
            <a:off x="5797296" y="1901952"/>
            <a:ext cx="2834640" cy="237744"/>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 悪い設定</a:t>
            </a:r>
            <a:endParaRPr lang="en-US" sz="1100" dirty="0"/>
          </a:p>
        </p:txBody>
      </p:sp>
      <p:sp>
        <p:nvSpPr>
          <p:cNvPr id="22" name="Text 20"/>
          <p:cNvSpPr/>
          <p:nvPr/>
        </p:nvSpPr>
        <p:spPr>
          <a:xfrm>
            <a:off x="5797296" y="2176272"/>
            <a:ext cx="2834640" cy="822960"/>
          </a:xfrm>
          <a:prstGeom prst="rect">
            <a:avLst/>
          </a:prstGeom>
          <a:noFill/>
          <a:ln/>
        </p:spPr>
        <p:txBody>
          <a:bodyPr wrap="square" lIns="0" tIns="0" rIns="0" bIns="0" rtlCol="0" anchor="ctr"/>
          <a:lstStyle/>
          <a:p>
            <a:pPr indent="0" marL="0">
              <a:lnSpc>
                <a:spcPct val="130000"/>
              </a:lnSpc>
              <a:buNone/>
            </a:pPr>
            <a:r>
              <a:rPr lang="en-US" sz="950" dirty="0">
                <a:solidFill>
                  <a:srgbClr val="1E293B"/>
                </a:solidFill>
                <a:latin typeface="Calibri" pitchFamily="34" charset="0"/>
                <a:ea typeface="Calibri" pitchFamily="34" charset="-122"/>
                <a:cs typeface="Calibri" pitchFamily="34" charset="-120"/>
              </a:rPr>
              <a:t>優先①: 私が担当者</a:t>
            </a:r>
            <a:endParaRPr lang="en-US" sz="950" dirty="0"/>
          </a:p>
          <a:p>
            <a:pPr indent="0" marL="0">
              <a:lnSpc>
                <a:spcPct val="130000"/>
              </a:lnSpc>
              <a:buNone/>
            </a:pPr>
            <a:r>
              <a:rPr lang="en-US" sz="950" dirty="0">
                <a:solidFill>
                  <a:srgbClr val="1E293B"/>
                </a:solidFill>
                <a:latin typeface="Calibri" pitchFamily="34" charset="0"/>
                <a:ea typeface="Calibri" pitchFamily="34" charset="-122"/>
                <a:cs typeface="Calibri" pitchFamily="34" charset="-120"/>
              </a:rPr>
              <a:t>優先②: 興味なし</a:t>
            </a:r>
            <a:endParaRPr lang="en-US" sz="950" dirty="0"/>
          </a:p>
          <a:p>
            <a:pPr indent="0" marL="0">
              <a:lnSpc>
                <a:spcPct val="130000"/>
              </a:lnSpc>
              <a:buNone/>
            </a:pPr>
            <a:endParaRPr lang="en-US" sz="950" dirty="0"/>
          </a:p>
          <a:p>
            <a:pPr indent="0" marL="0">
              <a:lnSpc>
                <a:spcPct val="130000"/>
              </a:lnSpc>
              <a:buNone/>
            </a:pPr>
            <a:r>
              <a:rPr lang="en-US" sz="950" dirty="0">
                <a:solidFill>
                  <a:srgbClr val="1E293B"/>
                </a:solidFill>
                <a:latin typeface="Calibri" pitchFamily="34" charset="0"/>
                <a:ea typeface="Calibri" pitchFamily="34" charset="-122"/>
                <a:cs typeface="Calibri" pitchFamily="34" charset="-120"/>
              </a:rPr>
              <a:t>「私が担当ですがお断りです」</a:t>
            </a:r>
            <a:endParaRPr lang="en-US" sz="950" dirty="0"/>
          </a:p>
          <a:p>
            <a:pPr indent="0" marL="0">
              <a:lnSpc>
                <a:spcPct val="130000"/>
              </a:lnSpc>
              <a:buNone/>
            </a:pPr>
            <a:r>
              <a:rPr lang="en-US" sz="950" dirty="0">
                <a:solidFill>
                  <a:srgbClr val="1E293B"/>
                </a:solidFill>
                <a:latin typeface="Calibri" pitchFamily="34" charset="0"/>
                <a:ea typeface="Calibri" pitchFamily="34" charset="-122"/>
                <a:cs typeface="Calibri" pitchFamily="34" charset="-120"/>
              </a:rPr>
              <a:t>→「私が担当者」ヒット → 転送❌</a:t>
            </a:r>
            <a:endParaRPr lang="en-US" sz="950" dirty="0"/>
          </a:p>
        </p:txBody>
      </p:sp>
      <p:sp>
        <p:nvSpPr>
          <p:cNvPr id="23" name="Shape 21"/>
          <p:cNvSpPr/>
          <p:nvPr/>
        </p:nvSpPr>
        <p:spPr>
          <a:xfrm>
            <a:off x="5669280" y="3236976"/>
            <a:ext cx="3108960" cy="1316736"/>
          </a:xfrm>
          <a:prstGeom prst="roundRect">
            <a:avLst>
              <a:gd name="adj" fmla="val 5556"/>
            </a:avLst>
          </a:prstGeom>
          <a:solidFill>
            <a:srgbClr val="F0FDF4"/>
          </a:solidFill>
          <a:ln w="12700">
            <a:solidFill>
              <a:srgbClr val="86EFAC"/>
            </a:solidFill>
            <a:prstDash val="solid"/>
          </a:ln>
        </p:spPr>
      </p:sp>
      <p:sp>
        <p:nvSpPr>
          <p:cNvPr id="24" name="Text 22"/>
          <p:cNvSpPr/>
          <p:nvPr/>
        </p:nvSpPr>
        <p:spPr>
          <a:xfrm>
            <a:off x="5797296" y="3328416"/>
            <a:ext cx="2834640" cy="237744"/>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 正しい設定</a:t>
            </a:r>
            <a:endParaRPr lang="en-US" sz="1100" dirty="0"/>
          </a:p>
        </p:txBody>
      </p:sp>
      <p:sp>
        <p:nvSpPr>
          <p:cNvPr id="25" name="Text 23"/>
          <p:cNvSpPr/>
          <p:nvPr/>
        </p:nvSpPr>
        <p:spPr>
          <a:xfrm>
            <a:off x="5797296" y="3602736"/>
            <a:ext cx="2834640" cy="822960"/>
          </a:xfrm>
          <a:prstGeom prst="rect">
            <a:avLst/>
          </a:prstGeom>
          <a:noFill/>
          <a:ln/>
        </p:spPr>
        <p:txBody>
          <a:bodyPr wrap="square" lIns="0" tIns="0" rIns="0" bIns="0" rtlCol="0" anchor="ctr"/>
          <a:lstStyle/>
          <a:p>
            <a:pPr indent="0" marL="0">
              <a:lnSpc>
                <a:spcPct val="130000"/>
              </a:lnSpc>
              <a:buNone/>
            </a:pPr>
            <a:r>
              <a:rPr lang="en-US" sz="950" dirty="0">
                <a:solidFill>
                  <a:srgbClr val="1E293B"/>
                </a:solidFill>
                <a:latin typeface="Calibri" pitchFamily="34" charset="0"/>
                <a:ea typeface="Calibri" pitchFamily="34" charset="-122"/>
                <a:cs typeface="Calibri" pitchFamily="34" charset="-120"/>
              </a:rPr>
              <a:t>優先①: 興味なし</a:t>
            </a:r>
            <a:endParaRPr lang="en-US" sz="950" dirty="0"/>
          </a:p>
          <a:p>
            <a:pPr indent="0" marL="0">
              <a:lnSpc>
                <a:spcPct val="130000"/>
              </a:lnSpc>
              <a:buNone/>
            </a:pPr>
            <a:r>
              <a:rPr lang="en-US" sz="950" dirty="0">
                <a:solidFill>
                  <a:srgbClr val="1E293B"/>
                </a:solidFill>
                <a:latin typeface="Calibri" pitchFamily="34" charset="0"/>
                <a:ea typeface="Calibri" pitchFamily="34" charset="-122"/>
                <a:cs typeface="Calibri" pitchFamily="34" charset="-120"/>
              </a:rPr>
              <a:t>優先②: 私が担当者</a:t>
            </a:r>
            <a:endParaRPr lang="en-US" sz="950" dirty="0"/>
          </a:p>
          <a:p>
            <a:pPr indent="0" marL="0">
              <a:lnSpc>
                <a:spcPct val="130000"/>
              </a:lnSpc>
              <a:buNone/>
            </a:pPr>
            <a:endParaRPr lang="en-US" sz="950" dirty="0"/>
          </a:p>
          <a:p>
            <a:pPr indent="0" marL="0">
              <a:lnSpc>
                <a:spcPct val="130000"/>
              </a:lnSpc>
              <a:buNone/>
            </a:pPr>
            <a:r>
              <a:rPr lang="en-US" sz="950" dirty="0">
                <a:solidFill>
                  <a:srgbClr val="1E293B"/>
                </a:solidFill>
                <a:latin typeface="Calibri" pitchFamily="34" charset="0"/>
                <a:ea typeface="Calibri" pitchFamily="34" charset="-122"/>
                <a:cs typeface="Calibri" pitchFamily="34" charset="-120"/>
              </a:rPr>
              <a:t>「私が担当ですがお断りです」</a:t>
            </a:r>
            <a:endParaRPr lang="en-US" sz="950" dirty="0"/>
          </a:p>
          <a:p>
            <a:pPr indent="0" marL="0">
              <a:lnSpc>
                <a:spcPct val="130000"/>
              </a:lnSpc>
              <a:buNone/>
            </a:pPr>
            <a:r>
              <a:rPr lang="en-US" sz="950" dirty="0">
                <a:solidFill>
                  <a:srgbClr val="1E293B"/>
                </a:solidFill>
                <a:latin typeface="Calibri" pitchFamily="34" charset="0"/>
                <a:ea typeface="Calibri" pitchFamily="34" charset="-122"/>
                <a:cs typeface="Calibri" pitchFamily="34" charset="-120"/>
              </a:rPr>
              <a:t>→「興味なし」ヒット → 断り✅</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F1A3E"/>
          </a:solidFill>
          <a:ln/>
        </p:spPr>
      </p:sp>
      <p:sp>
        <p:nvSpPr>
          <p:cNvPr id="3" name="Text 1"/>
          <p:cNvSpPr/>
          <p:nvPr/>
        </p:nvSpPr>
        <p:spPr>
          <a:xfrm>
            <a:off x="457200" y="91440"/>
            <a:ext cx="8229600" cy="347472"/>
          </a:xfrm>
          <a:prstGeom prst="rect">
            <a:avLst/>
          </a:prstGeom>
          <a:noFill/>
          <a:ln/>
        </p:spPr>
        <p:txBody>
          <a:bodyPr wrap="square" lIns="0" tIns="0" rIns="0" bIns="0" rtlCol="0" anchor="ctr"/>
          <a:lstStyle/>
          <a:p>
            <a:pPr indent="0" marL="0">
              <a:buNone/>
            </a:pPr>
            <a:r>
              <a:rPr lang="en-US" sz="1100" b="1" spc="200" kern="0" dirty="0">
                <a:solidFill>
                  <a:srgbClr val="3B82F6"/>
                </a:solidFill>
                <a:latin typeface="Calibri" pitchFamily="34" charset="0"/>
                <a:ea typeface="Calibri" pitchFamily="34" charset="-122"/>
                <a:cs typeface="Calibri" pitchFamily="34" charset="-120"/>
              </a:rPr>
              <a:t>06  録音 &amp; 発信準備</a:t>
            </a:r>
            <a:endParaRPr lang="en-US" sz="1100" dirty="0"/>
          </a:p>
        </p:txBody>
      </p:sp>
      <p:sp>
        <p:nvSpPr>
          <p:cNvPr id="4" name="Text 2"/>
          <p:cNvSpPr/>
          <p:nvPr/>
        </p:nvSpPr>
        <p:spPr>
          <a:xfrm>
            <a:off x="457200" y="438912"/>
            <a:ext cx="8229600" cy="420624"/>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録音ルール・ツール・チャンネル設定</a:t>
            </a:r>
            <a:endParaRPr lang="en-US" sz="2400" dirty="0"/>
          </a:p>
        </p:txBody>
      </p:sp>
      <p:sp>
        <p:nvSpPr>
          <p:cNvPr id="5" name="Shape 3"/>
          <p:cNvSpPr/>
          <p:nvPr/>
        </p:nvSpPr>
        <p:spPr>
          <a:xfrm>
            <a:off x="365760" y="1005840"/>
            <a:ext cx="2011680" cy="1828800"/>
          </a:xfrm>
          <a:prstGeom prst="roundRect">
            <a:avLst>
              <a:gd name="adj" fmla="val 5000"/>
            </a:avLst>
          </a:prstGeom>
          <a:solidFill>
            <a:srgbClr val="F8FAFC"/>
          </a:solidFill>
          <a:ln w="12700">
            <a:solidFill>
              <a:srgbClr val="CBD5E1"/>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365760" y="1170432"/>
            <a:ext cx="2011680" cy="41148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7" name="Text 5"/>
          <p:cNvSpPr/>
          <p:nvPr/>
        </p:nvSpPr>
        <p:spPr>
          <a:xfrm>
            <a:off x="457200" y="1627632"/>
            <a:ext cx="1828800" cy="274320"/>
          </a:xfrm>
          <a:prstGeom prst="rect">
            <a:avLst/>
          </a:prstGeom>
          <a:noFill/>
          <a:ln/>
        </p:spPr>
        <p:txBody>
          <a:bodyPr wrap="square" lIns="0" tIns="0" rIns="0" bIns="0" rtlCol="0" anchor="ctr"/>
          <a:lstStyle/>
          <a:p>
            <a:pPr algn="ctr" indent="0" marL="0">
              <a:buNone/>
            </a:pPr>
            <a:r>
              <a:rPr lang="en-US" sz="1200" b="1" dirty="0">
                <a:solidFill>
                  <a:srgbClr val="1E293B"/>
                </a:solidFill>
                <a:latin typeface="Calibri" pitchFamily="34" charset="0"/>
                <a:ea typeface="Calibri" pitchFamily="34" charset="-122"/>
                <a:cs typeface="Calibri" pitchFamily="34" charset="-120"/>
              </a:rPr>
              <a:t>形式</a:t>
            </a:r>
            <a:endParaRPr lang="en-US" sz="1200" dirty="0"/>
          </a:p>
        </p:txBody>
      </p:sp>
      <p:sp>
        <p:nvSpPr>
          <p:cNvPr id="8" name="Text 6"/>
          <p:cNvSpPr/>
          <p:nvPr/>
        </p:nvSpPr>
        <p:spPr>
          <a:xfrm>
            <a:off x="457200" y="1920240"/>
            <a:ext cx="1828800" cy="804672"/>
          </a:xfrm>
          <a:prstGeom prst="rect">
            <a:avLst/>
          </a:prstGeom>
          <a:noFill/>
          <a:ln/>
        </p:spPr>
        <p:txBody>
          <a:bodyPr wrap="square" lIns="0" tIns="0" rIns="0" bIns="0" rtlCol="0" anchor="ctr"/>
          <a:lstStyle/>
          <a:p>
            <a:pPr algn="ctr" indent="0" marL="0">
              <a:lnSpc>
                <a:spcPct val="145000"/>
              </a:lnSpc>
              <a:buNone/>
            </a:pPr>
            <a:r>
              <a:rPr lang="en-US" sz="1000" dirty="0">
                <a:solidFill>
                  <a:srgbClr val="64748B"/>
                </a:solidFill>
                <a:latin typeface="Calibri" pitchFamily="34" charset="0"/>
                <a:ea typeface="Calibri" pitchFamily="34" charset="-122"/>
                <a:cs typeface="Calibri" pitchFamily="34" charset="-120"/>
              </a:rPr>
              <a:t>WAV 推奨</a:t>
            </a:r>
            <a:endParaRPr lang="en-US" sz="1000" dirty="0"/>
          </a:p>
          <a:p>
            <a:pPr algn="ctr" indent="0" marL="0">
              <a:lnSpc>
                <a:spcPct val="145000"/>
              </a:lnSpc>
              <a:buNone/>
            </a:pPr>
            <a:r>
              <a:rPr lang="en-US" sz="1000" dirty="0">
                <a:solidFill>
                  <a:srgbClr val="64748B"/>
                </a:solidFill>
                <a:latin typeface="Calibri" pitchFamily="34" charset="0"/>
                <a:ea typeface="Calibri" pitchFamily="34" charset="-122"/>
                <a:cs typeface="Calibri" pitchFamily="34" charset="-120"/>
              </a:rPr>
              <a:t>(44100Hz / モノラル)</a:t>
            </a:r>
            <a:endParaRPr lang="en-US" sz="1000" dirty="0"/>
          </a:p>
          <a:p>
            <a:pPr algn="ctr" indent="0" marL="0">
              <a:lnSpc>
                <a:spcPct val="145000"/>
              </a:lnSpc>
              <a:buNone/>
            </a:pPr>
            <a:r>
              <a:rPr lang="en-US" sz="1000" dirty="0">
                <a:solidFill>
                  <a:srgbClr val="64748B"/>
                </a:solidFill>
                <a:latin typeface="Calibri" pitchFamily="34" charset="0"/>
                <a:ea typeface="Calibri" pitchFamily="34" charset="-122"/>
                <a:cs typeface="Calibri" pitchFamily="34" charset="-120"/>
              </a:rPr>
              <a:t>MP3も可（128kbps）</a:t>
            </a:r>
            <a:endParaRPr lang="en-US" sz="1000" dirty="0"/>
          </a:p>
        </p:txBody>
      </p:sp>
      <p:sp>
        <p:nvSpPr>
          <p:cNvPr id="9" name="Shape 7"/>
          <p:cNvSpPr/>
          <p:nvPr/>
        </p:nvSpPr>
        <p:spPr>
          <a:xfrm>
            <a:off x="2542032" y="1005840"/>
            <a:ext cx="2011680" cy="1828800"/>
          </a:xfrm>
          <a:prstGeom prst="roundRect">
            <a:avLst>
              <a:gd name="adj" fmla="val 5000"/>
            </a:avLst>
          </a:prstGeom>
          <a:solidFill>
            <a:srgbClr val="F8FAFC"/>
          </a:solidFill>
          <a:ln w="12700">
            <a:solidFill>
              <a:srgbClr val="CBD5E1"/>
            </a:solidFill>
            <a:prstDash val="solid"/>
          </a:ln>
          <a:effectLst>
            <a:outerShdw sx="100000" sy="100000" kx="0" ky="0" algn="bl" rotWithShape="0" blurRad="101600" dist="38100" dir="2700000">
              <a:srgbClr val="000000">
                <a:alpha val="12000"/>
              </a:srgbClr>
            </a:outerShdw>
          </a:effectLst>
        </p:spPr>
      </p:sp>
      <p:sp>
        <p:nvSpPr>
          <p:cNvPr id="10" name="Text 8"/>
          <p:cNvSpPr/>
          <p:nvPr/>
        </p:nvSpPr>
        <p:spPr>
          <a:xfrm>
            <a:off x="2542032" y="1170432"/>
            <a:ext cx="2011680" cy="41148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1" name="Text 9"/>
          <p:cNvSpPr/>
          <p:nvPr/>
        </p:nvSpPr>
        <p:spPr>
          <a:xfrm>
            <a:off x="2633472" y="1627632"/>
            <a:ext cx="1828800" cy="274320"/>
          </a:xfrm>
          <a:prstGeom prst="rect">
            <a:avLst/>
          </a:prstGeom>
          <a:noFill/>
          <a:ln/>
        </p:spPr>
        <p:txBody>
          <a:bodyPr wrap="square" lIns="0" tIns="0" rIns="0" bIns="0" rtlCol="0" anchor="ctr"/>
          <a:lstStyle/>
          <a:p>
            <a:pPr algn="ctr" indent="0" marL="0">
              <a:buNone/>
            </a:pPr>
            <a:r>
              <a:rPr lang="en-US" sz="1200" b="1" dirty="0">
                <a:solidFill>
                  <a:srgbClr val="1E293B"/>
                </a:solidFill>
                <a:latin typeface="Calibri" pitchFamily="34" charset="0"/>
                <a:ea typeface="Calibri" pitchFamily="34" charset="-122"/>
                <a:cs typeface="Calibri" pitchFamily="34" charset="-120"/>
              </a:rPr>
              <a:t>無音トリム</a:t>
            </a:r>
            <a:endParaRPr lang="en-US" sz="1200" dirty="0"/>
          </a:p>
        </p:txBody>
      </p:sp>
      <p:sp>
        <p:nvSpPr>
          <p:cNvPr id="12" name="Text 10"/>
          <p:cNvSpPr/>
          <p:nvPr/>
        </p:nvSpPr>
        <p:spPr>
          <a:xfrm>
            <a:off x="2633472" y="1920240"/>
            <a:ext cx="1828800" cy="804672"/>
          </a:xfrm>
          <a:prstGeom prst="rect">
            <a:avLst/>
          </a:prstGeom>
          <a:noFill/>
          <a:ln/>
        </p:spPr>
        <p:txBody>
          <a:bodyPr wrap="square" lIns="0" tIns="0" rIns="0" bIns="0" rtlCol="0" anchor="ctr"/>
          <a:lstStyle/>
          <a:p>
            <a:pPr algn="ctr" indent="0" marL="0">
              <a:lnSpc>
                <a:spcPct val="145000"/>
              </a:lnSpc>
              <a:buNone/>
            </a:pPr>
            <a:r>
              <a:rPr lang="en-US" sz="1000" dirty="0">
                <a:solidFill>
                  <a:srgbClr val="64748B"/>
                </a:solidFill>
                <a:latin typeface="Calibri" pitchFamily="34" charset="0"/>
                <a:ea typeface="Calibri" pitchFamily="34" charset="-122"/>
                <a:cs typeface="Calibri" pitchFamily="34" charset="-120"/>
              </a:rPr>
              <a:t>先頭・末尾は 0.1秒 残す</a:t>
            </a:r>
            <a:endParaRPr lang="en-US" sz="1000" dirty="0"/>
          </a:p>
          <a:p>
            <a:pPr algn="ctr" indent="0" marL="0">
              <a:lnSpc>
                <a:spcPct val="145000"/>
              </a:lnSpc>
              <a:buNone/>
            </a:pPr>
            <a:r>
              <a:rPr lang="en-US" sz="1000" dirty="0">
                <a:solidFill>
                  <a:srgbClr val="64748B"/>
                </a:solidFill>
                <a:latin typeface="Calibri" pitchFamily="34" charset="0"/>
                <a:ea typeface="Calibri" pitchFamily="34" charset="-122"/>
                <a:cs typeface="Calibri" pitchFamily="34" charset="-120"/>
              </a:rPr>
              <a:t>アプリで自動カット可能</a:t>
            </a:r>
            <a:endParaRPr lang="en-US" sz="1000" dirty="0"/>
          </a:p>
          <a:p>
            <a:pPr algn="ctr" indent="0" marL="0">
              <a:lnSpc>
                <a:spcPct val="145000"/>
              </a:lnSpc>
              <a:buNone/>
            </a:pPr>
            <a:r>
              <a:rPr lang="en-US" sz="1000" dirty="0">
                <a:solidFill>
                  <a:srgbClr val="64748B"/>
                </a:solidFill>
                <a:latin typeface="Calibri" pitchFamily="34" charset="0"/>
                <a:ea typeface="Calibri" pitchFamily="34" charset="-122"/>
                <a:cs typeface="Calibri" pitchFamily="34" charset="-120"/>
              </a:rPr>
              <a:t>短すぎると認識エラーに</a:t>
            </a:r>
            <a:endParaRPr lang="en-US" sz="1000" dirty="0"/>
          </a:p>
        </p:txBody>
      </p:sp>
      <p:sp>
        <p:nvSpPr>
          <p:cNvPr id="13" name="Shape 11"/>
          <p:cNvSpPr/>
          <p:nvPr/>
        </p:nvSpPr>
        <p:spPr>
          <a:xfrm>
            <a:off x="4718304" y="1005840"/>
            <a:ext cx="2011680" cy="1828800"/>
          </a:xfrm>
          <a:prstGeom prst="roundRect">
            <a:avLst>
              <a:gd name="adj" fmla="val 5000"/>
            </a:avLst>
          </a:prstGeom>
          <a:solidFill>
            <a:srgbClr val="F8FAFC"/>
          </a:solidFill>
          <a:ln w="12700">
            <a:solidFill>
              <a:srgbClr val="CBD5E1"/>
            </a:solidFill>
            <a:prstDash val="solid"/>
          </a:ln>
          <a:effectLst>
            <a:outerShdw sx="100000" sy="100000" kx="0" ky="0" algn="bl" rotWithShape="0" blurRad="101600" dist="38100" dir="2700000">
              <a:srgbClr val="000000">
                <a:alpha val="12000"/>
              </a:srgbClr>
            </a:outerShdw>
          </a:effectLst>
        </p:spPr>
      </p:sp>
      <p:sp>
        <p:nvSpPr>
          <p:cNvPr id="14" name="Text 12"/>
          <p:cNvSpPr/>
          <p:nvPr/>
        </p:nvSpPr>
        <p:spPr>
          <a:xfrm>
            <a:off x="4718304" y="1170432"/>
            <a:ext cx="2011680" cy="41148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5" name="Text 13"/>
          <p:cNvSpPr/>
          <p:nvPr/>
        </p:nvSpPr>
        <p:spPr>
          <a:xfrm>
            <a:off x="4809744" y="1627632"/>
            <a:ext cx="1828800" cy="274320"/>
          </a:xfrm>
          <a:prstGeom prst="rect">
            <a:avLst/>
          </a:prstGeom>
          <a:noFill/>
          <a:ln/>
        </p:spPr>
        <p:txBody>
          <a:bodyPr wrap="square" lIns="0" tIns="0" rIns="0" bIns="0" rtlCol="0" anchor="ctr"/>
          <a:lstStyle/>
          <a:p>
            <a:pPr algn="ctr" indent="0" marL="0">
              <a:buNone/>
            </a:pPr>
            <a:r>
              <a:rPr lang="en-US" sz="1200" b="1" dirty="0">
                <a:solidFill>
                  <a:srgbClr val="1E293B"/>
                </a:solidFill>
                <a:latin typeface="Calibri" pitchFamily="34" charset="0"/>
                <a:ea typeface="Calibri" pitchFamily="34" charset="-122"/>
                <a:cs typeface="Calibri" pitchFamily="34" charset="-120"/>
              </a:rPr>
              <a:t>転送ノードのみ</a:t>
            </a:r>
            <a:endParaRPr lang="en-US" sz="1200" dirty="0"/>
          </a:p>
        </p:txBody>
      </p:sp>
      <p:sp>
        <p:nvSpPr>
          <p:cNvPr id="16" name="Text 14"/>
          <p:cNvSpPr/>
          <p:nvPr/>
        </p:nvSpPr>
        <p:spPr>
          <a:xfrm>
            <a:off x="4809744" y="1920240"/>
            <a:ext cx="1828800" cy="804672"/>
          </a:xfrm>
          <a:prstGeom prst="rect">
            <a:avLst/>
          </a:prstGeom>
          <a:noFill/>
          <a:ln/>
        </p:spPr>
        <p:txBody>
          <a:bodyPr wrap="square" lIns="0" tIns="0" rIns="0" bIns="0" rtlCol="0" anchor="ctr"/>
          <a:lstStyle/>
          <a:p>
            <a:pPr algn="ctr" indent="0" marL="0">
              <a:lnSpc>
                <a:spcPct val="145000"/>
              </a:lnSpc>
              <a:buNone/>
            </a:pPr>
            <a:r>
              <a:rPr lang="en-US" sz="1000" dirty="0">
                <a:solidFill>
                  <a:srgbClr val="64748B"/>
                </a:solidFill>
                <a:latin typeface="Calibri" pitchFamily="34" charset="0"/>
                <a:ea typeface="Calibri" pitchFamily="34" charset="-122"/>
                <a:cs typeface="Calibri" pitchFamily="34" charset="-120"/>
              </a:rPr>
              <a:t>末尾に 1分の空白音</a:t>
            </a:r>
            <a:endParaRPr lang="en-US" sz="1000" dirty="0"/>
          </a:p>
          <a:p>
            <a:pPr algn="ctr" indent="0" marL="0">
              <a:lnSpc>
                <a:spcPct val="145000"/>
              </a:lnSpc>
              <a:buNone/>
            </a:pPr>
            <a:r>
              <a:rPr lang="en-US" sz="1000" dirty="0">
                <a:solidFill>
                  <a:srgbClr val="64748B"/>
                </a:solidFill>
                <a:latin typeface="Calibri" pitchFamily="34" charset="0"/>
                <a:ea typeface="Calibri" pitchFamily="34" charset="-122"/>
                <a:cs typeface="Calibri" pitchFamily="34" charset="-120"/>
              </a:rPr>
              <a:t>オペレーター代電待機</a:t>
            </a:r>
            <a:endParaRPr lang="en-US" sz="1000" dirty="0"/>
          </a:p>
          <a:p>
            <a:pPr algn="ctr" indent="0" marL="0">
              <a:lnSpc>
                <a:spcPct val="145000"/>
              </a:lnSpc>
              <a:buNone/>
            </a:pPr>
            <a:r>
              <a:rPr lang="en-US" sz="1000" dirty="0">
                <a:solidFill>
                  <a:srgbClr val="64748B"/>
                </a:solidFill>
                <a:latin typeface="Calibri" pitchFamily="34" charset="0"/>
                <a:ea typeface="Calibri" pitchFamily="34" charset="-122"/>
                <a:cs typeface="Calibri" pitchFamily="34" charset="-120"/>
              </a:rPr>
              <a:t>時間として必須</a:t>
            </a:r>
            <a:endParaRPr lang="en-US" sz="1000" dirty="0"/>
          </a:p>
        </p:txBody>
      </p:sp>
      <p:sp>
        <p:nvSpPr>
          <p:cNvPr id="17" name="Shape 15"/>
          <p:cNvSpPr/>
          <p:nvPr/>
        </p:nvSpPr>
        <p:spPr>
          <a:xfrm>
            <a:off x="6894576" y="1005840"/>
            <a:ext cx="2011680" cy="1828800"/>
          </a:xfrm>
          <a:prstGeom prst="roundRect">
            <a:avLst>
              <a:gd name="adj" fmla="val 5000"/>
            </a:avLst>
          </a:prstGeom>
          <a:solidFill>
            <a:srgbClr val="F8FAFC"/>
          </a:solidFill>
          <a:ln w="12700">
            <a:solidFill>
              <a:srgbClr val="CBD5E1"/>
            </a:solidFill>
            <a:prstDash val="solid"/>
          </a:ln>
          <a:effectLst>
            <a:outerShdw sx="100000" sy="100000" kx="0" ky="0" algn="bl" rotWithShape="0" blurRad="101600" dist="38100" dir="2700000">
              <a:srgbClr val="000000">
                <a:alpha val="12000"/>
              </a:srgbClr>
            </a:outerShdw>
          </a:effectLst>
        </p:spPr>
      </p:sp>
      <p:sp>
        <p:nvSpPr>
          <p:cNvPr id="18" name="Text 16"/>
          <p:cNvSpPr/>
          <p:nvPr/>
        </p:nvSpPr>
        <p:spPr>
          <a:xfrm>
            <a:off x="6894576" y="1170432"/>
            <a:ext cx="2011680" cy="41148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9" name="Text 17"/>
          <p:cNvSpPr/>
          <p:nvPr/>
        </p:nvSpPr>
        <p:spPr>
          <a:xfrm>
            <a:off x="6986016" y="1627632"/>
            <a:ext cx="1828800" cy="274320"/>
          </a:xfrm>
          <a:prstGeom prst="rect">
            <a:avLst/>
          </a:prstGeom>
          <a:noFill/>
          <a:ln/>
        </p:spPr>
        <p:txBody>
          <a:bodyPr wrap="square" lIns="0" tIns="0" rIns="0" bIns="0" rtlCol="0" anchor="ctr"/>
          <a:lstStyle/>
          <a:p>
            <a:pPr algn="ctr" indent="0" marL="0">
              <a:buNone/>
            </a:pPr>
            <a:r>
              <a:rPr lang="en-US" sz="1200" b="1" dirty="0">
                <a:solidFill>
                  <a:srgbClr val="1E293B"/>
                </a:solidFill>
                <a:latin typeface="Calibri" pitchFamily="34" charset="0"/>
                <a:ea typeface="Calibri" pitchFamily="34" charset="-122"/>
                <a:cs typeface="Calibri" pitchFamily="34" charset="-120"/>
              </a:rPr>
              <a:t>アップロード</a:t>
            </a:r>
            <a:endParaRPr lang="en-US" sz="1200" dirty="0"/>
          </a:p>
        </p:txBody>
      </p:sp>
      <p:sp>
        <p:nvSpPr>
          <p:cNvPr id="20" name="Text 18"/>
          <p:cNvSpPr/>
          <p:nvPr/>
        </p:nvSpPr>
        <p:spPr>
          <a:xfrm>
            <a:off x="6986016" y="1920240"/>
            <a:ext cx="1828800" cy="804672"/>
          </a:xfrm>
          <a:prstGeom prst="rect">
            <a:avLst/>
          </a:prstGeom>
          <a:noFill/>
          <a:ln/>
        </p:spPr>
        <p:txBody>
          <a:bodyPr wrap="square" lIns="0" tIns="0" rIns="0" bIns="0" rtlCol="0" anchor="ctr"/>
          <a:lstStyle/>
          <a:p>
            <a:pPr algn="ctr" indent="0" marL="0">
              <a:lnSpc>
                <a:spcPct val="145000"/>
              </a:lnSpc>
              <a:buNone/>
            </a:pPr>
            <a:r>
              <a:rPr lang="en-US" sz="1000" dirty="0">
                <a:solidFill>
                  <a:srgbClr val="64748B"/>
                </a:solidFill>
                <a:latin typeface="Calibri" pitchFamily="34" charset="0"/>
                <a:ea typeface="Calibri" pitchFamily="34" charset="-122"/>
                <a:cs typeface="Calibri" pitchFamily="34" charset="-120"/>
              </a:rPr>
              <a:t>録音アプリで録音→DL</a:t>
            </a:r>
            <a:endParaRPr lang="en-US" sz="1000" dirty="0"/>
          </a:p>
          <a:p>
            <a:pPr algn="ctr" indent="0" marL="0">
              <a:lnSpc>
                <a:spcPct val="145000"/>
              </a:lnSpc>
              <a:buNone/>
            </a:pPr>
            <a:r>
              <a:rPr lang="en-US" sz="1000" dirty="0">
                <a:solidFill>
                  <a:srgbClr val="64748B"/>
                </a:solidFill>
                <a:latin typeface="Calibri" pitchFamily="34" charset="0"/>
                <a:ea typeface="Calibri" pitchFamily="34" charset="-122"/>
                <a:cs typeface="Calibri" pitchFamily="34" charset="-120"/>
              </a:rPr>
              <a:t>管理画面ノード編集から</a:t>
            </a:r>
            <a:endParaRPr lang="en-US" sz="1000" dirty="0"/>
          </a:p>
          <a:p>
            <a:pPr algn="ctr" indent="0" marL="0">
              <a:lnSpc>
                <a:spcPct val="145000"/>
              </a:lnSpc>
              <a:buNone/>
            </a:pPr>
            <a:r>
              <a:rPr lang="en-US" sz="1000" dirty="0">
                <a:solidFill>
                  <a:srgbClr val="64748B"/>
                </a:solidFill>
                <a:latin typeface="Calibri" pitchFamily="34" charset="0"/>
                <a:ea typeface="Calibri" pitchFamily="34" charset="-122"/>
                <a:cs typeface="Calibri" pitchFamily="34" charset="-120"/>
              </a:rPr>
              <a:t>WAVをアップロード</a:t>
            </a:r>
            <a:endParaRPr lang="en-US" sz="1000" dirty="0"/>
          </a:p>
        </p:txBody>
      </p:sp>
      <p:sp>
        <p:nvSpPr>
          <p:cNvPr id="21" name="Shape 19"/>
          <p:cNvSpPr/>
          <p:nvPr/>
        </p:nvSpPr>
        <p:spPr>
          <a:xfrm>
            <a:off x="365760" y="2944368"/>
            <a:ext cx="8412480" cy="621792"/>
          </a:xfrm>
          <a:prstGeom prst="roundRect">
            <a:avLst>
              <a:gd name="adj" fmla="val 14706"/>
            </a:avLst>
          </a:prstGeom>
          <a:solidFill>
            <a:srgbClr val="EFF6FF"/>
          </a:solidFill>
          <a:ln w="12700">
            <a:solidFill>
              <a:srgbClr val="3B82F6"/>
            </a:solidFill>
            <a:prstDash val="solid"/>
          </a:ln>
        </p:spPr>
      </p:sp>
      <p:sp>
        <p:nvSpPr>
          <p:cNvPr id="22" name="Text 20"/>
          <p:cNvSpPr/>
          <p:nvPr/>
        </p:nvSpPr>
        <p:spPr>
          <a:xfrm>
            <a:off x="548640" y="2962656"/>
            <a:ext cx="5943600" cy="274320"/>
          </a:xfrm>
          <a:prstGeom prst="rect">
            <a:avLst/>
          </a:prstGeom>
          <a:noFill/>
          <a:ln/>
        </p:spPr>
        <p:txBody>
          <a:bodyPr wrap="square" lIns="0" tIns="0" rIns="0" bIns="0" rtlCol="0" anchor="ctr"/>
          <a:lstStyle/>
          <a:p>
            <a:pPr indent="0" marL="0">
              <a:buNone/>
            </a:pPr>
            <a:r>
              <a:rPr lang="en-US" sz="1300" b="1" dirty="0">
                <a:solidFill>
                  <a:srgbClr val="1E3A8A"/>
                </a:solidFill>
                <a:latin typeface="Calibri" pitchFamily="34" charset="0"/>
                <a:ea typeface="Calibri" pitchFamily="34" charset="-122"/>
                <a:cs typeface="Calibri" pitchFamily="34" charset="-120"/>
              </a:rPr>
              <a:t>🎙️ 専用録音ツール（ブラウザで動作・インストール不要）</a:t>
            </a:r>
            <a:endParaRPr lang="en-US" sz="1300" dirty="0"/>
          </a:p>
        </p:txBody>
      </p:sp>
      <p:sp>
        <p:nvSpPr>
          <p:cNvPr id="23" name="Text 21"/>
          <p:cNvSpPr/>
          <p:nvPr/>
        </p:nvSpPr>
        <p:spPr>
          <a:xfrm>
            <a:off x="548640" y="3236976"/>
            <a:ext cx="7772400" cy="256032"/>
          </a:xfrm>
          <a:prstGeom prst="rect">
            <a:avLst/>
          </a:prstGeom>
          <a:noFill/>
          <a:ln/>
        </p:spPr>
        <p:txBody>
          <a:bodyPr wrap="square" lIns="0" tIns="0" rIns="0" bIns="0" rtlCol="0" anchor="ctr"/>
          <a:lstStyle/>
          <a:p>
            <a:pPr indent="0" marL="0">
              <a:buNone/>
            </a:pPr>
            <a:r>
              <a:rPr lang="en-US" sz="1100" dirty="0">
                <a:solidFill>
                  <a:srgbClr val="3B82F6"/>
                </a:solidFill>
                <a:latin typeface="Calibri" pitchFamily="34" charset="0"/>
                <a:ea typeface="Calibri" pitchFamily="34" charset="-122"/>
                <a:cs typeface="Calibri" pitchFamily="34" charset="-120"/>
              </a:rPr>
              <a:t>https://apclo-dev.github.io/aitelesa-recorder/</a:t>
            </a:r>
            <a:endParaRPr lang="en-US" sz="1100" dirty="0"/>
          </a:p>
        </p:txBody>
      </p:sp>
      <p:sp>
        <p:nvSpPr>
          <p:cNvPr id="24" name="Shape 22"/>
          <p:cNvSpPr/>
          <p:nvPr/>
        </p:nvSpPr>
        <p:spPr>
          <a:xfrm>
            <a:off x="384048" y="3712464"/>
            <a:ext cx="237744" cy="237744"/>
          </a:xfrm>
          <a:prstGeom prst="ellipse">
            <a:avLst/>
          </a:prstGeom>
          <a:solidFill>
            <a:srgbClr val="3B82F6"/>
          </a:solidFill>
          <a:ln/>
        </p:spPr>
      </p:sp>
      <p:sp>
        <p:nvSpPr>
          <p:cNvPr id="25" name="Text 23"/>
          <p:cNvSpPr/>
          <p:nvPr/>
        </p:nvSpPr>
        <p:spPr>
          <a:xfrm>
            <a:off x="384048" y="3712464"/>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①</a:t>
            </a:r>
            <a:endParaRPr lang="en-US" sz="1000" dirty="0"/>
          </a:p>
        </p:txBody>
      </p:sp>
      <p:sp>
        <p:nvSpPr>
          <p:cNvPr id="26" name="Text 24"/>
          <p:cNvSpPr/>
          <p:nvPr/>
        </p:nvSpPr>
        <p:spPr>
          <a:xfrm>
            <a:off x="694944" y="3694176"/>
            <a:ext cx="2286000" cy="237744"/>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管理者の同時数を 0 に</a:t>
            </a:r>
            <a:endParaRPr lang="en-US" sz="1100" dirty="0"/>
          </a:p>
        </p:txBody>
      </p:sp>
      <p:sp>
        <p:nvSpPr>
          <p:cNvPr id="27" name="Text 25"/>
          <p:cNvSpPr/>
          <p:nvPr/>
        </p:nvSpPr>
        <p:spPr>
          <a:xfrm>
            <a:off x="3035808" y="3694176"/>
            <a:ext cx="5852160" cy="237744"/>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管理者アカウントの同時数を0に変更してからオペレーターに割り当てる</a:t>
            </a:r>
            <a:endParaRPr lang="en-US" sz="1000" dirty="0"/>
          </a:p>
        </p:txBody>
      </p:sp>
      <p:sp>
        <p:nvSpPr>
          <p:cNvPr id="28" name="Shape 26"/>
          <p:cNvSpPr/>
          <p:nvPr/>
        </p:nvSpPr>
        <p:spPr>
          <a:xfrm>
            <a:off x="384048" y="4041648"/>
            <a:ext cx="237744" cy="237744"/>
          </a:xfrm>
          <a:prstGeom prst="ellipse">
            <a:avLst/>
          </a:prstGeom>
          <a:solidFill>
            <a:srgbClr val="3B82F6"/>
          </a:solidFill>
          <a:ln/>
        </p:spPr>
      </p:sp>
      <p:sp>
        <p:nvSpPr>
          <p:cNvPr id="29" name="Text 27"/>
          <p:cNvSpPr/>
          <p:nvPr/>
        </p:nvSpPr>
        <p:spPr>
          <a:xfrm>
            <a:off x="384048" y="4041648"/>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②</a:t>
            </a:r>
            <a:endParaRPr lang="en-US" sz="1000" dirty="0"/>
          </a:p>
        </p:txBody>
      </p:sp>
      <p:sp>
        <p:nvSpPr>
          <p:cNvPr id="30" name="Text 28"/>
          <p:cNvSpPr/>
          <p:nvPr/>
        </p:nvSpPr>
        <p:spPr>
          <a:xfrm>
            <a:off x="694944" y="4023360"/>
            <a:ext cx="2286000" cy="237744"/>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オペレーターに 3以上 を設定</a:t>
            </a:r>
            <a:endParaRPr lang="en-US" sz="1100" dirty="0"/>
          </a:p>
        </p:txBody>
      </p:sp>
      <p:sp>
        <p:nvSpPr>
          <p:cNvPr id="31" name="Text 29"/>
          <p:cNvSpPr/>
          <p:nvPr/>
        </p:nvSpPr>
        <p:spPr>
          <a:xfrm>
            <a:off x="3035808" y="4023360"/>
            <a:ext cx="5852160" cy="237744"/>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ユーザー編集 → 同時数 3〜8（0のままだと発信不可）</a:t>
            </a:r>
            <a:endParaRPr lang="en-US" sz="1000" dirty="0"/>
          </a:p>
        </p:txBody>
      </p:sp>
      <p:sp>
        <p:nvSpPr>
          <p:cNvPr id="32" name="Shape 30"/>
          <p:cNvSpPr/>
          <p:nvPr/>
        </p:nvSpPr>
        <p:spPr>
          <a:xfrm>
            <a:off x="384048" y="4370832"/>
            <a:ext cx="237744" cy="237744"/>
          </a:xfrm>
          <a:prstGeom prst="ellipse">
            <a:avLst/>
          </a:prstGeom>
          <a:solidFill>
            <a:srgbClr val="3B82F6"/>
          </a:solidFill>
          <a:ln/>
        </p:spPr>
      </p:sp>
      <p:sp>
        <p:nvSpPr>
          <p:cNvPr id="33" name="Text 31"/>
          <p:cNvSpPr/>
          <p:nvPr/>
        </p:nvSpPr>
        <p:spPr>
          <a:xfrm>
            <a:off x="384048" y="4370832"/>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③</a:t>
            </a:r>
            <a:endParaRPr lang="en-US" sz="1000" dirty="0"/>
          </a:p>
        </p:txBody>
      </p:sp>
      <p:sp>
        <p:nvSpPr>
          <p:cNvPr id="34" name="Text 32"/>
          <p:cNvSpPr/>
          <p:nvPr/>
        </p:nvSpPr>
        <p:spPr>
          <a:xfrm>
            <a:off x="694944" y="4352544"/>
            <a:ext cx="2286000" cy="237744"/>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タスク設定: 0:00〜23:59</a:t>
            </a:r>
            <a:endParaRPr lang="en-US" sz="1100" dirty="0"/>
          </a:p>
        </p:txBody>
      </p:sp>
      <p:sp>
        <p:nvSpPr>
          <p:cNvPr id="35" name="Text 33"/>
          <p:cNvSpPr/>
          <p:nvPr/>
        </p:nvSpPr>
        <p:spPr>
          <a:xfrm>
            <a:off x="3035808" y="4352544"/>
            <a:ext cx="5852160" cy="237744"/>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発信開始・停止は手動。時間制限は設けない推奨</a:t>
            </a:r>
            <a:endParaRPr lang="en-US" sz="1000" dirty="0"/>
          </a:p>
        </p:txBody>
      </p:sp>
      <p:sp>
        <p:nvSpPr>
          <p:cNvPr id="36" name="Shape 34"/>
          <p:cNvSpPr/>
          <p:nvPr/>
        </p:nvSpPr>
        <p:spPr>
          <a:xfrm>
            <a:off x="384048" y="4700016"/>
            <a:ext cx="237744" cy="237744"/>
          </a:xfrm>
          <a:prstGeom prst="ellipse">
            <a:avLst/>
          </a:prstGeom>
          <a:solidFill>
            <a:srgbClr val="3B82F6"/>
          </a:solidFill>
          <a:ln/>
        </p:spPr>
      </p:sp>
      <p:sp>
        <p:nvSpPr>
          <p:cNvPr id="37" name="Text 35"/>
          <p:cNvSpPr/>
          <p:nvPr/>
        </p:nvSpPr>
        <p:spPr>
          <a:xfrm>
            <a:off x="384048" y="4700016"/>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④</a:t>
            </a:r>
            <a:endParaRPr lang="en-US" sz="1000" dirty="0"/>
          </a:p>
        </p:txBody>
      </p:sp>
      <p:sp>
        <p:nvSpPr>
          <p:cNvPr id="38" name="Text 36"/>
          <p:cNvSpPr/>
          <p:nvPr/>
        </p:nvSpPr>
        <p:spPr>
          <a:xfrm>
            <a:off x="694944" y="4681728"/>
            <a:ext cx="2286000" cy="237744"/>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タスク作成 → リストアップロード</a:t>
            </a:r>
            <a:endParaRPr lang="en-US" sz="1100" dirty="0"/>
          </a:p>
        </p:txBody>
      </p:sp>
      <p:sp>
        <p:nvSpPr>
          <p:cNvPr id="39" name="Text 37"/>
          <p:cNvSpPr/>
          <p:nvPr/>
        </p:nvSpPr>
        <p:spPr>
          <a:xfrm>
            <a:off x="3035808" y="4681728"/>
            <a:ext cx="5852160" cy="237744"/>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スクリプト・回線・所有者を設定。電話番号はハイフンなし文字列形式</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F1A3E"/>
          </a:solidFill>
          <a:ln/>
        </p:spPr>
      </p:sp>
      <p:sp>
        <p:nvSpPr>
          <p:cNvPr id="3" name="Text 1"/>
          <p:cNvSpPr/>
          <p:nvPr/>
        </p:nvSpPr>
        <p:spPr>
          <a:xfrm>
            <a:off x="457200" y="91440"/>
            <a:ext cx="8229600" cy="347472"/>
          </a:xfrm>
          <a:prstGeom prst="rect">
            <a:avLst/>
          </a:prstGeom>
          <a:noFill/>
          <a:ln/>
        </p:spPr>
        <p:txBody>
          <a:bodyPr wrap="square" lIns="0" tIns="0" rIns="0" bIns="0" rtlCol="0" anchor="ctr"/>
          <a:lstStyle/>
          <a:p>
            <a:pPr indent="0" marL="0">
              <a:buNone/>
            </a:pPr>
            <a:r>
              <a:rPr lang="en-US" sz="1100" b="1" spc="200" kern="0" dirty="0">
                <a:solidFill>
                  <a:srgbClr val="3B82F6"/>
                </a:solidFill>
                <a:latin typeface="Calibri" pitchFamily="34" charset="0"/>
                <a:ea typeface="Calibri" pitchFamily="34" charset="-122"/>
                <a:cs typeface="Calibri" pitchFamily="34" charset="-120"/>
              </a:rPr>
              <a:t>07  オペレーター対応</a:t>
            </a:r>
            <a:endParaRPr lang="en-US" sz="1100" dirty="0"/>
          </a:p>
        </p:txBody>
      </p:sp>
      <p:sp>
        <p:nvSpPr>
          <p:cNvPr id="4" name="Text 2"/>
          <p:cNvSpPr/>
          <p:nvPr/>
        </p:nvSpPr>
        <p:spPr>
          <a:xfrm>
            <a:off x="457200" y="438912"/>
            <a:ext cx="8229600" cy="420624"/>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転送 → 代電 → 通話終了フロー</a:t>
            </a:r>
            <a:endParaRPr lang="en-US" sz="2400" dirty="0"/>
          </a:p>
        </p:txBody>
      </p:sp>
      <p:sp>
        <p:nvSpPr>
          <p:cNvPr id="5" name="Shape 3"/>
          <p:cNvSpPr/>
          <p:nvPr/>
        </p:nvSpPr>
        <p:spPr>
          <a:xfrm>
            <a:off x="365760" y="1024128"/>
            <a:ext cx="4114800" cy="3822192"/>
          </a:xfrm>
          <a:prstGeom prst="roundRect">
            <a:avLst>
              <a:gd name="adj" fmla="val 2392"/>
            </a:avLst>
          </a:prstGeom>
          <a:solidFill>
            <a:srgbClr val="F8FAFC"/>
          </a:solidFill>
          <a:ln w="12700">
            <a:solidFill>
              <a:srgbClr val="CBD5E1"/>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30352" y="1133856"/>
            <a:ext cx="3749040" cy="292608"/>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 初期設定（初回のみ）</a:t>
            </a:r>
            <a:endParaRPr lang="en-US" sz="1300" dirty="0"/>
          </a:p>
        </p:txBody>
      </p:sp>
      <p:sp>
        <p:nvSpPr>
          <p:cNvPr id="7" name="Text 5"/>
          <p:cNvSpPr/>
          <p:nvPr/>
        </p:nvSpPr>
        <p:spPr>
          <a:xfrm>
            <a:off x="530352" y="1499616"/>
            <a:ext cx="3749040" cy="219456"/>
          </a:xfrm>
          <a:prstGeom prst="rect">
            <a:avLst/>
          </a:prstGeom>
          <a:noFill/>
          <a:ln/>
        </p:spPr>
        <p:txBody>
          <a:bodyPr wrap="square" lIns="0" tIns="0" rIns="0" bIns="0" rtlCol="0" anchor="ctr"/>
          <a:lstStyle/>
          <a:p>
            <a:pPr indent="0" marL="0">
              <a:buNone/>
            </a:pPr>
            <a:r>
              <a:rPr lang="en-US" sz="1000" b="1" dirty="0">
                <a:solidFill>
                  <a:srgbClr val="3B82F6"/>
                </a:solidFill>
                <a:latin typeface="Calibri" pitchFamily="34" charset="0"/>
                <a:ea typeface="Calibri" pitchFamily="34" charset="-122"/>
                <a:cs typeface="Calibri" pitchFamily="34" charset="-120"/>
              </a:rPr>
              <a:t>オペレーター画面URL</a:t>
            </a:r>
            <a:endParaRPr lang="en-US" sz="1000" dirty="0"/>
          </a:p>
        </p:txBody>
      </p:sp>
      <p:sp>
        <p:nvSpPr>
          <p:cNvPr id="8" name="Text 6"/>
          <p:cNvSpPr/>
          <p:nvPr/>
        </p:nvSpPr>
        <p:spPr>
          <a:xfrm>
            <a:off x="530352" y="1719072"/>
            <a:ext cx="3749040" cy="438912"/>
          </a:xfrm>
          <a:prstGeom prst="rect">
            <a:avLst/>
          </a:prstGeom>
          <a:noFill/>
          <a:ln/>
        </p:spPr>
        <p:txBody>
          <a:bodyPr wrap="square" lIns="0" tIns="0" rIns="0" bIns="0" rtlCol="0" anchor="ctr"/>
          <a:lstStyle/>
          <a:p>
            <a:pPr indent="0" marL="0">
              <a:lnSpc>
                <a:spcPct val="135000"/>
              </a:lnSpc>
              <a:buNone/>
            </a:pPr>
            <a:r>
              <a:rPr lang="en-US" sz="1000" dirty="0">
                <a:solidFill>
                  <a:srgbClr val="64748B"/>
                </a:solidFill>
                <a:latin typeface="Calibri" pitchFamily="34" charset="0"/>
                <a:ea typeface="Calibri" pitchFamily="34" charset="-122"/>
                <a:cs typeface="Calibri" pitchFamily="34" charset="-120"/>
              </a:rPr>
              <a:t>co.topsaler.cc/user/login</a:t>
            </a:r>
            <a:endParaRPr lang="en-US" sz="1000" dirty="0"/>
          </a:p>
          <a:p>
            <a:pPr indent="0" marL="0">
              <a:lnSpc>
                <a:spcPct val="135000"/>
              </a:lnSpc>
              <a:buNone/>
            </a:pPr>
            <a:r>
              <a:rPr lang="en-US" sz="1000" dirty="0">
                <a:solidFill>
                  <a:srgbClr val="64748B"/>
                </a:solidFill>
                <a:latin typeface="Calibri" pitchFamily="34" charset="0"/>
                <a:ea typeface="Calibri" pitchFamily="34" charset="-122"/>
                <a:cs typeface="Calibri" pitchFamily="34" charset="-120"/>
              </a:rPr>
              <a:t>※ 管理画面とは別アカウント</a:t>
            </a:r>
            <a:endParaRPr lang="en-US" sz="1000" dirty="0"/>
          </a:p>
        </p:txBody>
      </p:sp>
      <p:sp>
        <p:nvSpPr>
          <p:cNvPr id="9" name="Text 7"/>
          <p:cNvSpPr/>
          <p:nvPr/>
        </p:nvSpPr>
        <p:spPr>
          <a:xfrm>
            <a:off x="530352" y="2267712"/>
            <a:ext cx="3749040" cy="219456"/>
          </a:xfrm>
          <a:prstGeom prst="rect">
            <a:avLst/>
          </a:prstGeom>
          <a:noFill/>
          <a:ln/>
        </p:spPr>
        <p:txBody>
          <a:bodyPr wrap="square" lIns="0" tIns="0" rIns="0" bIns="0" rtlCol="0" anchor="ctr"/>
          <a:lstStyle/>
          <a:p>
            <a:pPr indent="0" marL="0">
              <a:buNone/>
            </a:pPr>
            <a:r>
              <a:rPr lang="en-US" sz="1000" b="1" dirty="0">
                <a:solidFill>
                  <a:srgbClr val="3B82F6"/>
                </a:solidFill>
                <a:latin typeface="Calibri" pitchFamily="34" charset="0"/>
                <a:ea typeface="Calibri" pitchFamily="34" charset="-122"/>
                <a:cs typeface="Calibri" pitchFamily="34" charset="-120"/>
              </a:rPr>
              <a:t>転送後タスク一時停止</a:t>
            </a:r>
            <a:endParaRPr lang="en-US" sz="1000" dirty="0"/>
          </a:p>
        </p:txBody>
      </p:sp>
      <p:sp>
        <p:nvSpPr>
          <p:cNvPr id="10" name="Text 8"/>
          <p:cNvSpPr/>
          <p:nvPr/>
        </p:nvSpPr>
        <p:spPr>
          <a:xfrm>
            <a:off x="530352" y="2487168"/>
            <a:ext cx="3749040" cy="438912"/>
          </a:xfrm>
          <a:prstGeom prst="rect">
            <a:avLst/>
          </a:prstGeom>
          <a:noFill/>
          <a:ln/>
        </p:spPr>
        <p:txBody>
          <a:bodyPr wrap="square" lIns="0" tIns="0" rIns="0" bIns="0" rtlCol="0" anchor="ctr"/>
          <a:lstStyle/>
          <a:p>
            <a:pPr indent="0" marL="0">
              <a:lnSpc>
                <a:spcPct val="135000"/>
              </a:lnSpc>
              <a:buNone/>
            </a:pPr>
            <a:r>
              <a:rPr lang="en-US" sz="1000" dirty="0">
                <a:solidFill>
                  <a:srgbClr val="64748B"/>
                </a:solidFill>
                <a:latin typeface="Calibri" pitchFamily="34" charset="0"/>
                <a:ea typeface="Calibri" pitchFamily="34" charset="-122"/>
                <a:cs typeface="Calibri" pitchFamily="34" charset="-120"/>
              </a:rPr>
              <a:t>ON に設定（転送後に発信自動停止）</a:t>
            </a:r>
            <a:endParaRPr lang="en-US" sz="1000" dirty="0"/>
          </a:p>
        </p:txBody>
      </p:sp>
      <p:sp>
        <p:nvSpPr>
          <p:cNvPr id="11" name="Text 9"/>
          <p:cNvSpPr/>
          <p:nvPr/>
        </p:nvSpPr>
        <p:spPr>
          <a:xfrm>
            <a:off x="530352" y="3035808"/>
            <a:ext cx="3749040" cy="219456"/>
          </a:xfrm>
          <a:prstGeom prst="rect">
            <a:avLst/>
          </a:prstGeom>
          <a:noFill/>
          <a:ln/>
        </p:spPr>
        <p:txBody>
          <a:bodyPr wrap="square" lIns="0" tIns="0" rIns="0" bIns="0" rtlCol="0" anchor="ctr"/>
          <a:lstStyle/>
          <a:p>
            <a:pPr indent="0" marL="0">
              <a:buNone/>
            </a:pPr>
            <a:r>
              <a:rPr lang="en-US" sz="1000" b="1" dirty="0">
                <a:solidFill>
                  <a:srgbClr val="3B82F6"/>
                </a:solidFill>
                <a:latin typeface="Calibri" pitchFamily="34" charset="0"/>
                <a:ea typeface="Calibri" pitchFamily="34" charset="-122"/>
                <a:cs typeface="Calibri" pitchFamily="34" charset="-120"/>
              </a:rPr>
              <a:t>手動チェックイン</a:t>
            </a:r>
            <a:endParaRPr lang="en-US" sz="1000" dirty="0"/>
          </a:p>
        </p:txBody>
      </p:sp>
      <p:sp>
        <p:nvSpPr>
          <p:cNvPr id="12" name="Text 10"/>
          <p:cNvSpPr/>
          <p:nvPr/>
        </p:nvSpPr>
        <p:spPr>
          <a:xfrm>
            <a:off x="530352" y="3255264"/>
            <a:ext cx="3749040" cy="438912"/>
          </a:xfrm>
          <a:prstGeom prst="rect">
            <a:avLst/>
          </a:prstGeom>
          <a:noFill/>
          <a:ln/>
        </p:spPr>
        <p:txBody>
          <a:bodyPr wrap="square" lIns="0" tIns="0" rIns="0" bIns="0" rtlCol="0" anchor="ctr"/>
          <a:lstStyle/>
          <a:p>
            <a:pPr indent="0" marL="0">
              <a:lnSpc>
                <a:spcPct val="135000"/>
              </a:lnSpc>
              <a:buNone/>
            </a:pPr>
            <a:r>
              <a:rPr lang="en-US" sz="1000" dirty="0">
                <a:solidFill>
                  <a:srgbClr val="64748B"/>
                </a:solidFill>
                <a:latin typeface="Calibri" pitchFamily="34" charset="0"/>
                <a:ea typeface="Calibri" pitchFamily="34" charset="-122"/>
                <a:cs typeface="Calibri" pitchFamily="34" charset="-120"/>
              </a:rPr>
              <a:t>ON にすると稼働/非稼働を手動制御</a:t>
            </a:r>
            <a:endParaRPr lang="en-US" sz="1000" dirty="0"/>
          </a:p>
        </p:txBody>
      </p:sp>
      <p:sp>
        <p:nvSpPr>
          <p:cNvPr id="13" name="Text 11"/>
          <p:cNvSpPr/>
          <p:nvPr/>
        </p:nvSpPr>
        <p:spPr>
          <a:xfrm>
            <a:off x="530352" y="3803904"/>
            <a:ext cx="3749040" cy="219456"/>
          </a:xfrm>
          <a:prstGeom prst="rect">
            <a:avLst/>
          </a:prstGeom>
          <a:noFill/>
          <a:ln/>
        </p:spPr>
        <p:txBody>
          <a:bodyPr wrap="square" lIns="0" tIns="0" rIns="0" bIns="0" rtlCol="0" anchor="ctr"/>
          <a:lstStyle/>
          <a:p>
            <a:pPr indent="0" marL="0">
              <a:buNone/>
            </a:pPr>
            <a:r>
              <a:rPr lang="en-US" sz="1000" b="1" dirty="0">
                <a:solidFill>
                  <a:srgbClr val="3B82F6"/>
                </a:solidFill>
                <a:latin typeface="Calibri" pitchFamily="34" charset="0"/>
                <a:ea typeface="Calibri" pitchFamily="34" charset="-122"/>
                <a:cs typeface="Calibri" pitchFamily="34" charset="-120"/>
              </a:rPr>
              <a:t>Chrome拡張機能</a:t>
            </a:r>
            <a:endParaRPr lang="en-US" sz="1000" dirty="0"/>
          </a:p>
        </p:txBody>
      </p:sp>
      <p:sp>
        <p:nvSpPr>
          <p:cNvPr id="14" name="Text 12"/>
          <p:cNvSpPr/>
          <p:nvPr/>
        </p:nvSpPr>
        <p:spPr>
          <a:xfrm>
            <a:off x="530352" y="4023360"/>
            <a:ext cx="3749040" cy="438912"/>
          </a:xfrm>
          <a:prstGeom prst="rect">
            <a:avLst/>
          </a:prstGeom>
          <a:noFill/>
          <a:ln/>
        </p:spPr>
        <p:txBody>
          <a:bodyPr wrap="square" lIns="0" tIns="0" rIns="0" bIns="0" rtlCol="0" anchor="ctr"/>
          <a:lstStyle/>
          <a:p>
            <a:pPr indent="0" marL="0">
              <a:lnSpc>
                <a:spcPct val="135000"/>
              </a:lnSpc>
              <a:buNone/>
            </a:pPr>
            <a:r>
              <a:rPr lang="en-US" sz="1000" dirty="0">
                <a:solidFill>
                  <a:srgbClr val="64748B"/>
                </a:solidFill>
                <a:latin typeface="Calibri" pitchFamily="34" charset="0"/>
                <a:ea typeface="Calibri" pitchFamily="34" charset="-122"/>
                <a:cs typeface="Calibri" pitchFamily="34" charset="-120"/>
              </a:rPr>
              <a:t>転送通知をブラウザ通知で受け取り可能</a:t>
            </a:r>
            <a:endParaRPr lang="en-US" sz="1000" dirty="0"/>
          </a:p>
        </p:txBody>
      </p:sp>
      <p:sp>
        <p:nvSpPr>
          <p:cNvPr id="15" name="Shape 13"/>
          <p:cNvSpPr/>
          <p:nvPr/>
        </p:nvSpPr>
        <p:spPr>
          <a:xfrm>
            <a:off x="4663440" y="1024128"/>
            <a:ext cx="4206240" cy="3822192"/>
          </a:xfrm>
          <a:prstGeom prst="roundRect">
            <a:avLst>
              <a:gd name="adj" fmla="val 2392"/>
            </a:avLst>
          </a:prstGeom>
          <a:solidFill>
            <a:srgbClr val="F8FAFC"/>
          </a:solidFill>
          <a:ln w="12700">
            <a:solidFill>
              <a:srgbClr val="CBD5E1"/>
            </a:solidFill>
            <a:prstDash val="solid"/>
          </a:ln>
          <a:effectLst>
            <a:outerShdw sx="100000" sy="100000" kx="0" ky="0" algn="bl" rotWithShape="0" blurRad="101600" dist="38100" dir="2700000">
              <a:srgbClr val="000000">
                <a:alpha val="12000"/>
              </a:srgbClr>
            </a:outerShdw>
          </a:effectLst>
        </p:spPr>
      </p:sp>
      <p:sp>
        <p:nvSpPr>
          <p:cNvPr id="16" name="Text 14"/>
          <p:cNvSpPr/>
          <p:nvPr/>
        </p:nvSpPr>
        <p:spPr>
          <a:xfrm>
            <a:off x="4828032" y="1133856"/>
            <a:ext cx="3840480" cy="292608"/>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 通話フロー</a:t>
            </a:r>
            <a:endParaRPr lang="en-US" sz="1300" dirty="0"/>
          </a:p>
        </p:txBody>
      </p:sp>
      <p:sp>
        <p:nvSpPr>
          <p:cNvPr id="17" name="Shape 15"/>
          <p:cNvSpPr/>
          <p:nvPr/>
        </p:nvSpPr>
        <p:spPr>
          <a:xfrm>
            <a:off x="4809744" y="1563624"/>
            <a:ext cx="237744" cy="237744"/>
          </a:xfrm>
          <a:prstGeom prst="ellipse">
            <a:avLst/>
          </a:prstGeom>
          <a:solidFill>
            <a:srgbClr val="3B82F6"/>
          </a:solidFill>
          <a:ln/>
        </p:spPr>
      </p:sp>
      <p:sp>
        <p:nvSpPr>
          <p:cNvPr id="18" name="Text 16"/>
          <p:cNvSpPr/>
          <p:nvPr/>
        </p:nvSpPr>
        <p:spPr>
          <a:xfrm>
            <a:off x="4773168" y="1545336"/>
            <a:ext cx="237744" cy="237744"/>
          </a:xfrm>
          <a:prstGeom prst="rect">
            <a:avLst/>
          </a:prstGeom>
          <a:noFill/>
          <a:ln/>
        </p:spPr>
        <p:txBody>
          <a:bodyPr wrap="square" lIns="0" tIns="0" rIns="0" bIns="0" rtlCol="0" anchor="ctr"/>
          <a:lstStyle/>
          <a:p>
            <a:pPr algn="ctr" indent="0" marL="0">
              <a:buNone/>
            </a:pPr>
            <a:r>
              <a:rPr lang="en-US" sz="1000" dirty="0">
                <a:solidFill>
                  <a:srgbClr val="000000"/>
                </a:solidFill>
              </a:rPr>
              <a:t>🤖</a:t>
            </a:r>
            <a:endParaRPr lang="en-US" sz="1000" dirty="0"/>
          </a:p>
        </p:txBody>
      </p:sp>
      <p:sp>
        <p:nvSpPr>
          <p:cNvPr id="19" name="Text 17"/>
          <p:cNvSpPr/>
          <p:nvPr/>
        </p:nvSpPr>
        <p:spPr>
          <a:xfrm>
            <a:off x="5120640" y="1545336"/>
            <a:ext cx="621792" cy="237744"/>
          </a:xfrm>
          <a:prstGeom prst="rect">
            <a:avLst/>
          </a:prstGeom>
          <a:noFill/>
          <a:ln/>
        </p:spPr>
        <p:txBody>
          <a:bodyPr wrap="square" lIns="0" tIns="0" rIns="0" bIns="0" rtlCol="0" anchor="ctr"/>
          <a:lstStyle/>
          <a:p>
            <a:pPr indent="0" marL="0">
              <a:buNone/>
            </a:pPr>
            <a:r>
              <a:rPr lang="en-US" sz="1000" b="1" dirty="0">
                <a:solidFill>
                  <a:srgbClr val="3B82F6"/>
                </a:solidFill>
                <a:latin typeface="Calibri" pitchFamily="34" charset="0"/>
                <a:ea typeface="Calibri" pitchFamily="34" charset="-122"/>
                <a:cs typeface="Calibri" pitchFamily="34" charset="-120"/>
              </a:rPr>
              <a:t>AI</a:t>
            </a:r>
            <a:endParaRPr lang="en-US" sz="1000" dirty="0"/>
          </a:p>
        </p:txBody>
      </p:sp>
      <p:sp>
        <p:nvSpPr>
          <p:cNvPr id="20" name="Text 18"/>
          <p:cNvSpPr/>
          <p:nvPr/>
        </p:nvSpPr>
        <p:spPr>
          <a:xfrm>
            <a:off x="5779008" y="1545336"/>
            <a:ext cx="2926080" cy="310896"/>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「もしもし」→「自己紹介」を再生</a:t>
            </a:r>
            <a:endParaRPr lang="en-US" sz="1000" dirty="0"/>
          </a:p>
        </p:txBody>
      </p:sp>
      <p:sp>
        <p:nvSpPr>
          <p:cNvPr id="21" name="Shape 19"/>
          <p:cNvSpPr/>
          <p:nvPr/>
        </p:nvSpPr>
        <p:spPr>
          <a:xfrm>
            <a:off x="4901184" y="1783080"/>
            <a:ext cx="0" cy="182880"/>
          </a:xfrm>
          <a:prstGeom prst="line">
            <a:avLst/>
          </a:prstGeom>
          <a:noFill/>
          <a:ln w="12700">
            <a:solidFill>
              <a:srgbClr val="CBD5E1"/>
            </a:solidFill>
            <a:prstDash val="dash"/>
          </a:ln>
        </p:spPr>
      </p:sp>
      <p:sp>
        <p:nvSpPr>
          <p:cNvPr id="22" name="Shape 20"/>
          <p:cNvSpPr/>
          <p:nvPr/>
        </p:nvSpPr>
        <p:spPr>
          <a:xfrm>
            <a:off x="4809744" y="2020824"/>
            <a:ext cx="237744" cy="237744"/>
          </a:xfrm>
          <a:prstGeom prst="ellipse">
            <a:avLst/>
          </a:prstGeom>
          <a:solidFill>
            <a:srgbClr val="3B82F6"/>
          </a:solidFill>
          <a:ln/>
        </p:spPr>
      </p:sp>
      <p:sp>
        <p:nvSpPr>
          <p:cNvPr id="23" name="Text 21"/>
          <p:cNvSpPr/>
          <p:nvPr/>
        </p:nvSpPr>
        <p:spPr>
          <a:xfrm>
            <a:off x="4773168" y="2002536"/>
            <a:ext cx="237744" cy="237744"/>
          </a:xfrm>
          <a:prstGeom prst="rect">
            <a:avLst/>
          </a:prstGeom>
          <a:noFill/>
          <a:ln/>
        </p:spPr>
        <p:txBody>
          <a:bodyPr wrap="square" lIns="0" tIns="0" rIns="0" bIns="0" rtlCol="0" anchor="ctr"/>
          <a:lstStyle/>
          <a:p>
            <a:pPr algn="ctr" indent="0" marL="0">
              <a:buNone/>
            </a:pPr>
            <a:r>
              <a:rPr lang="en-US" sz="1000" dirty="0">
                <a:solidFill>
                  <a:srgbClr val="000000"/>
                </a:solidFill>
              </a:rPr>
              <a:t>👤</a:t>
            </a:r>
            <a:endParaRPr lang="en-US" sz="1000" dirty="0"/>
          </a:p>
        </p:txBody>
      </p:sp>
      <p:sp>
        <p:nvSpPr>
          <p:cNvPr id="24" name="Text 22"/>
          <p:cNvSpPr/>
          <p:nvPr/>
        </p:nvSpPr>
        <p:spPr>
          <a:xfrm>
            <a:off x="5120640" y="2002536"/>
            <a:ext cx="621792" cy="237744"/>
          </a:xfrm>
          <a:prstGeom prst="rect">
            <a:avLst/>
          </a:prstGeom>
          <a:noFill/>
          <a:ln/>
        </p:spPr>
        <p:txBody>
          <a:bodyPr wrap="square" lIns="0" tIns="0" rIns="0" bIns="0" rtlCol="0" anchor="ctr"/>
          <a:lstStyle/>
          <a:p>
            <a:pPr indent="0" marL="0">
              <a:buNone/>
            </a:pPr>
            <a:r>
              <a:rPr lang="en-US" sz="1000" b="1" dirty="0">
                <a:solidFill>
                  <a:srgbClr val="3B82F6"/>
                </a:solidFill>
                <a:latin typeface="Calibri" pitchFamily="34" charset="0"/>
                <a:ea typeface="Calibri" pitchFamily="34" charset="-122"/>
                <a:cs typeface="Calibri" pitchFamily="34" charset="-120"/>
              </a:rPr>
              <a:t>相手</a:t>
            </a:r>
            <a:endParaRPr lang="en-US" sz="1000" dirty="0"/>
          </a:p>
        </p:txBody>
      </p:sp>
      <p:sp>
        <p:nvSpPr>
          <p:cNvPr id="25" name="Text 23"/>
          <p:cNvSpPr/>
          <p:nvPr/>
        </p:nvSpPr>
        <p:spPr>
          <a:xfrm>
            <a:off x="5779008" y="2002536"/>
            <a:ext cx="2926080" cy="310896"/>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担当者確認の返答（キーワード判定）</a:t>
            </a:r>
            <a:endParaRPr lang="en-US" sz="1000" dirty="0"/>
          </a:p>
        </p:txBody>
      </p:sp>
      <p:sp>
        <p:nvSpPr>
          <p:cNvPr id="26" name="Shape 24"/>
          <p:cNvSpPr/>
          <p:nvPr/>
        </p:nvSpPr>
        <p:spPr>
          <a:xfrm>
            <a:off x="4901184" y="2240280"/>
            <a:ext cx="0" cy="182880"/>
          </a:xfrm>
          <a:prstGeom prst="line">
            <a:avLst/>
          </a:prstGeom>
          <a:noFill/>
          <a:ln w="12700">
            <a:solidFill>
              <a:srgbClr val="CBD5E1"/>
            </a:solidFill>
            <a:prstDash val="dash"/>
          </a:ln>
        </p:spPr>
      </p:sp>
      <p:sp>
        <p:nvSpPr>
          <p:cNvPr id="27" name="Shape 25"/>
          <p:cNvSpPr/>
          <p:nvPr/>
        </p:nvSpPr>
        <p:spPr>
          <a:xfrm>
            <a:off x="4809744" y="2478024"/>
            <a:ext cx="237744" cy="237744"/>
          </a:xfrm>
          <a:prstGeom prst="ellipse">
            <a:avLst/>
          </a:prstGeom>
          <a:solidFill>
            <a:srgbClr val="3B82F6"/>
          </a:solidFill>
          <a:ln/>
        </p:spPr>
      </p:sp>
      <p:sp>
        <p:nvSpPr>
          <p:cNvPr id="28" name="Text 26"/>
          <p:cNvSpPr/>
          <p:nvPr/>
        </p:nvSpPr>
        <p:spPr>
          <a:xfrm>
            <a:off x="4773168" y="2459736"/>
            <a:ext cx="237744" cy="237744"/>
          </a:xfrm>
          <a:prstGeom prst="rect">
            <a:avLst/>
          </a:prstGeom>
          <a:noFill/>
          <a:ln/>
        </p:spPr>
        <p:txBody>
          <a:bodyPr wrap="square" lIns="0" tIns="0" rIns="0" bIns="0" rtlCol="0" anchor="ctr"/>
          <a:lstStyle/>
          <a:p>
            <a:pPr algn="ctr" indent="0" marL="0">
              <a:buNone/>
            </a:pPr>
            <a:r>
              <a:rPr lang="en-US" sz="1000" dirty="0">
                <a:solidFill>
                  <a:srgbClr val="000000"/>
                </a:solidFill>
              </a:rPr>
              <a:t>🤖</a:t>
            </a:r>
            <a:endParaRPr lang="en-US" sz="1000" dirty="0"/>
          </a:p>
        </p:txBody>
      </p:sp>
      <p:sp>
        <p:nvSpPr>
          <p:cNvPr id="29" name="Text 27"/>
          <p:cNvSpPr/>
          <p:nvPr/>
        </p:nvSpPr>
        <p:spPr>
          <a:xfrm>
            <a:off x="5120640" y="2459736"/>
            <a:ext cx="621792" cy="237744"/>
          </a:xfrm>
          <a:prstGeom prst="rect">
            <a:avLst/>
          </a:prstGeom>
          <a:noFill/>
          <a:ln/>
        </p:spPr>
        <p:txBody>
          <a:bodyPr wrap="square" lIns="0" tIns="0" rIns="0" bIns="0" rtlCol="0" anchor="ctr"/>
          <a:lstStyle/>
          <a:p>
            <a:pPr indent="0" marL="0">
              <a:buNone/>
            </a:pPr>
            <a:r>
              <a:rPr lang="en-US" sz="1000" b="1" dirty="0">
                <a:solidFill>
                  <a:srgbClr val="3B82F6"/>
                </a:solidFill>
                <a:latin typeface="Calibri" pitchFamily="34" charset="0"/>
                <a:ea typeface="Calibri" pitchFamily="34" charset="-122"/>
                <a:cs typeface="Calibri" pitchFamily="34" charset="-120"/>
              </a:rPr>
              <a:t>AI</a:t>
            </a:r>
            <a:endParaRPr lang="en-US" sz="1000" dirty="0"/>
          </a:p>
        </p:txBody>
      </p:sp>
      <p:sp>
        <p:nvSpPr>
          <p:cNvPr id="30" name="Text 28"/>
          <p:cNvSpPr/>
          <p:nvPr/>
        </p:nvSpPr>
        <p:spPr>
          <a:xfrm>
            <a:off x="5779008" y="2459736"/>
            <a:ext cx="2926080" cy="310896"/>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判定結果 → 転送 or お断り処理</a:t>
            </a:r>
            <a:endParaRPr lang="en-US" sz="1000" dirty="0"/>
          </a:p>
        </p:txBody>
      </p:sp>
      <p:sp>
        <p:nvSpPr>
          <p:cNvPr id="31" name="Shape 29"/>
          <p:cNvSpPr/>
          <p:nvPr/>
        </p:nvSpPr>
        <p:spPr>
          <a:xfrm>
            <a:off x="4901184" y="2697480"/>
            <a:ext cx="0" cy="182880"/>
          </a:xfrm>
          <a:prstGeom prst="line">
            <a:avLst/>
          </a:prstGeom>
          <a:noFill/>
          <a:ln w="12700">
            <a:solidFill>
              <a:srgbClr val="CBD5E1"/>
            </a:solidFill>
            <a:prstDash val="dash"/>
          </a:ln>
        </p:spPr>
      </p:sp>
      <p:sp>
        <p:nvSpPr>
          <p:cNvPr id="32" name="Shape 30"/>
          <p:cNvSpPr/>
          <p:nvPr/>
        </p:nvSpPr>
        <p:spPr>
          <a:xfrm>
            <a:off x="4809744" y="2935224"/>
            <a:ext cx="237744" cy="237744"/>
          </a:xfrm>
          <a:prstGeom prst="ellipse">
            <a:avLst/>
          </a:prstGeom>
          <a:solidFill>
            <a:srgbClr val="3B82F6"/>
          </a:solidFill>
          <a:ln/>
        </p:spPr>
      </p:sp>
      <p:sp>
        <p:nvSpPr>
          <p:cNvPr id="33" name="Text 31"/>
          <p:cNvSpPr/>
          <p:nvPr/>
        </p:nvSpPr>
        <p:spPr>
          <a:xfrm>
            <a:off x="4773168" y="2916936"/>
            <a:ext cx="237744" cy="237744"/>
          </a:xfrm>
          <a:prstGeom prst="rect">
            <a:avLst/>
          </a:prstGeom>
          <a:noFill/>
          <a:ln/>
        </p:spPr>
        <p:txBody>
          <a:bodyPr wrap="square" lIns="0" tIns="0" rIns="0" bIns="0" rtlCol="0" anchor="ctr"/>
          <a:lstStyle/>
          <a:p>
            <a:pPr algn="ctr" indent="0" marL="0">
              <a:buNone/>
            </a:pPr>
            <a:r>
              <a:rPr lang="en-US" sz="1000" dirty="0">
                <a:solidFill>
                  <a:srgbClr val="000000"/>
                </a:solidFill>
              </a:rPr>
              <a:t>🔔</a:t>
            </a:r>
            <a:endParaRPr lang="en-US" sz="1000" dirty="0"/>
          </a:p>
        </p:txBody>
      </p:sp>
      <p:sp>
        <p:nvSpPr>
          <p:cNvPr id="34" name="Text 32"/>
          <p:cNvSpPr/>
          <p:nvPr/>
        </p:nvSpPr>
        <p:spPr>
          <a:xfrm>
            <a:off x="5120640" y="2916936"/>
            <a:ext cx="621792" cy="237744"/>
          </a:xfrm>
          <a:prstGeom prst="rect">
            <a:avLst/>
          </a:prstGeom>
          <a:noFill/>
          <a:ln/>
        </p:spPr>
        <p:txBody>
          <a:bodyPr wrap="square" lIns="0" tIns="0" rIns="0" bIns="0" rtlCol="0" anchor="ctr"/>
          <a:lstStyle/>
          <a:p>
            <a:pPr indent="0" marL="0">
              <a:buNone/>
            </a:pPr>
            <a:r>
              <a:rPr lang="en-US" sz="1000" b="1" dirty="0">
                <a:solidFill>
                  <a:srgbClr val="3B82F6"/>
                </a:solidFill>
                <a:latin typeface="Calibri" pitchFamily="34" charset="0"/>
                <a:ea typeface="Calibri" pitchFamily="34" charset="-122"/>
                <a:cs typeface="Calibri" pitchFamily="34" charset="-120"/>
              </a:rPr>
              <a:t>通知</a:t>
            </a:r>
            <a:endParaRPr lang="en-US" sz="1000" dirty="0"/>
          </a:p>
        </p:txBody>
      </p:sp>
      <p:sp>
        <p:nvSpPr>
          <p:cNvPr id="35" name="Text 33"/>
          <p:cNvSpPr/>
          <p:nvPr/>
        </p:nvSpPr>
        <p:spPr>
          <a:xfrm>
            <a:off x="5779008" y="2916936"/>
            <a:ext cx="2926080" cy="310896"/>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オペレーター画面に転送通知が届く</a:t>
            </a:r>
            <a:endParaRPr lang="en-US" sz="1000" dirty="0"/>
          </a:p>
        </p:txBody>
      </p:sp>
      <p:sp>
        <p:nvSpPr>
          <p:cNvPr id="36" name="Shape 34"/>
          <p:cNvSpPr/>
          <p:nvPr/>
        </p:nvSpPr>
        <p:spPr>
          <a:xfrm>
            <a:off x="4901184" y="3154680"/>
            <a:ext cx="0" cy="182880"/>
          </a:xfrm>
          <a:prstGeom prst="line">
            <a:avLst/>
          </a:prstGeom>
          <a:noFill/>
          <a:ln w="12700">
            <a:solidFill>
              <a:srgbClr val="CBD5E1"/>
            </a:solidFill>
            <a:prstDash val="dash"/>
          </a:ln>
        </p:spPr>
      </p:sp>
      <p:sp>
        <p:nvSpPr>
          <p:cNvPr id="37" name="Shape 35"/>
          <p:cNvSpPr/>
          <p:nvPr/>
        </p:nvSpPr>
        <p:spPr>
          <a:xfrm>
            <a:off x="4809744" y="3392424"/>
            <a:ext cx="237744" cy="237744"/>
          </a:xfrm>
          <a:prstGeom prst="ellipse">
            <a:avLst/>
          </a:prstGeom>
          <a:solidFill>
            <a:srgbClr val="3B82F6"/>
          </a:solidFill>
          <a:ln/>
        </p:spPr>
      </p:sp>
      <p:sp>
        <p:nvSpPr>
          <p:cNvPr id="38" name="Text 36"/>
          <p:cNvSpPr/>
          <p:nvPr/>
        </p:nvSpPr>
        <p:spPr>
          <a:xfrm>
            <a:off x="4773168" y="3374136"/>
            <a:ext cx="237744" cy="237744"/>
          </a:xfrm>
          <a:prstGeom prst="rect">
            <a:avLst/>
          </a:prstGeom>
          <a:noFill/>
          <a:ln/>
        </p:spPr>
        <p:txBody>
          <a:bodyPr wrap="square" lIns="0" tIns="0" rIns="0" bIns="0" rtlCol="0" anchor="ctr"/>
          <a:lstStyle/>
          <a:p>
            <a:pPr algn="ctr" indent="0" marL="0">
              <a:buNone/>
            </a:pPr>
            <a:r>
              <a:rPr lang="en-US" sz="1000" dirty="0">
                <a:solidFill>
                  <a:srgbClr val="000000"/>
                </a:solidFill>
              </a:rPr>
              <a:t>👂</a:t>
            </a:r>
            <a:endParaRPr lang="en-US" sz="1000" dirty="0"/>
          </a:p>
        </p:txBody>
      </p:sp>
      <p:sp>
        <p:nvSpPr>
          <p:cNvPr id="39" name="Text 37"/>
          <p:cNvSpPr/>
          <p:nvPr/>
        </p:nvSpPr>
        <p:spPr>
          <a:xfrm>
            <a:off x="5120640" y="3374136"/>
            <a:ext cx="621792" cy="237744"/>
          </a:xfrm>
          <a:prstGeom prst="rect">
            <a:avLst/>
          </a:prstGeom>
          <a:noFill/>
          <a:ln/>
        </p:spPr>
        <p:txBody>
          <a:bodyPr wrap="square" lIns="0" tIns="0" rIns="0" bIns="0" rtlCol="0" anchor="ctr"/>
          <a:lstStyle/>
          <a:p>
            <a:pPr indent="0" marL="0">
              <a:buNone/>
            </a:pPr>
            <a:r>
              <a:rPr lang="en-US" sz="1000" b="1" dirty="0">
                <a:solidFill>
                  <a:srgbClr val="3B82F6"/>
                </a:solidFill>
                <a:latin typeface="Calibri" pitchFamily="34" charset="0"/>
                <a:ea typeface="Calibri" pitchFamily="34" charset="-122"/>
                <a:cs typeface="Calibri" pitchFamily="34" charset="-120"/>
              </a:rPr>
              <a:t>リスニング</a:t>
            </a:r>
            <a:endParaRPr lang="en-US" sz="1000" dirty="0"/>
          </a:p>
        </p:txBody>
      </p:sp>
      <p:sp>
        <p:nvSpPr>
          <p:cNvPr id="40" name="Text 38"/>
          <p:cNvSpPr/>
          <p:nvPr/>
        </p:nvSpPr>
        <p:spPr>
          <a:xfrm>
            <a:off x="5779008" y="3374136"/>
            <a:ext cx="2926080" cy="310896"/>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AIと相手の通話をリアルタイム傍聴</a:t>
            </a:r>
            <a:endParaRPr lang="en-US" sz="1000" dirty="0"/>
          </a:p>
        </p:txBody>
      </p:sp>
      <p:sp>
        <p:nvSpPr>
          <p:cNvPr id="41" name="Shape 39"/>
          <p:cNvSpPr/>
          <p:nvPr/>
        </p:nvSpPr>
        <p:spPr>
          <a:xfrm>
            <a:off x="4901184" y="3611880"/>
            <a:ext cx="0" cy="182880"/>
          </a:xfrm>
          <a:prstGeom prst="line">
            <a:avLst/>
          </a:prstGeom>
          <a:noFill/>
          <a:ln w="12700">
            <a:solidFill>
              <a:srgbClr val="CBD5E1"/>
            </a:solidFill>
            <a:prstDash val="dash"/>
          </a:ln>
        </p:spPr>
      </p:sp>
      <p:sp>
        <p:nvSpPr>
          <p:cNvPr id="42" name="Shape 40"/>
          <p:cNvSpPr/>
          <p:nvPr/>
        </p:nvSpPr>
        <p:spPr>
          <a:xfrm>
            <a:off x="4809744" y="3849624"/>
            <a:ext cx="237744" cy="237744"/>
          </a:xfrm>
          <a:prstGeom prst="ellipse">
            <a:avLst/>
          </a:prstGeom>
          <a:solidFill>
            <a:srgbClr val="3B82F6"/>
          </a:solidFill>
          <a:ln/>
        </p:spPr>
      </p:sp>
      <p:sp>
        <p:nvSpPr>
          <p:cNvPr id="43" name="Text 41"/>
          <p:cNvSpPr/>
          <p:nvPr/>
        </p:nvSpPr>
        <p:spPr>
          <a:xfrm>
            <a:off x="4773168" y="3831336"/>
            <a:ext cx="237744" cy="237744"/>
          </a:xfrm>
          <a:prstGeom prst="rect">
            <a:avLst/>
          </a:prstGeom>
          <a:noFill/>
          <a:ln/>
        </p:spPr>
        <p:txBody>
          <a:bodyPr wrap="square" lIns="0" tIns="0" rIns="0" bIns="0" rtlCol="0" anchor="ctr"/>
          <a:lstStyle/>
          <a:p>
            <a:pPr algn="ctr" indent="0" marL="0">
              <a:buNone/>
            </a:pPr>
            <a:r>
              <a:rPr lang="en-US" sz="1000" dirty="0">
                <a:solidFill>
                  <a:srgbClr val="000000"/>
                </a:solidFill>
              </a:rPr>
              <a:t>📲</a:t>
            </a:r>
            <a:endParaRPr lang="en-US" sz="1000" dirty="0"/>
          </a:p>
        </p:txBody>
      </p:sp>
      <p:sp>
        <p:nvSpPr>
          <p:cNvPr id="44" name="Text 42"/>
          <p:cNvSpPr/>
          <p:nvPr/>
        </p:nvSpPr>
        <p:spPr>
          <a:xfrm>
            <a:off x="5120640" y="3831336"/>
            <a:ext cx="621792" cy="237744"/>
          </a:xfrm>
          <a:prstGeom prst="rect">
            <a:avLst/>
          </a:prstGeom>
          <a:noFill/>
          <a:ln/>
        </p:spPr>
        <p:txBody>
          <a:bodyPr wrap="square" lIns="0" tIns="0" rIns="0" bIns="0" rtlCol="0" anchor="ctr"/>
          <a:lstStyle/>
          <a:p>
            <a:pPr indent="0" marL="0">
              <a:buNone/>
            </a:pPr>
            <a:r>
              <a:rPr lang="en-US" sz="1000" b="1" dirty="0">
                <a:solidFill>
                  <a:srgbClr val="3B82F6"/>
                </a:solidFill>
                <a:latin typeface="Calibri" pitchFamily="34" charset="0"/>
                <a:ea typeface="Calibri" pitchFamily="34" charset="-122"/>
                <a:cs typeface="Calibri" pitchFamily="34" charset="-120"/>
              </a:rPr>
              <a:t>代電</a:t>
            </a:r>
            <a:endParaRPr lang="en-US" sz="1000" dirty="0"/>
          </a:p>
        </p:txBody>
      </p:sp>
      <p:sp>
        <p:nvSpPr>
          <p:cNvPr id="45" name="Text 43"/>
          <p:cNvSpPr/>
          <p:nvPr/>
        </p:nvSpPr>
        <p:spPr>
          <a:xfrm>
            <a:off x="5779008" y="3831336"/>
            <a:ext cx="2926080" cy="310896"/>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「電話を代わる」ボタンでバトンタッチ</a:t>
            </a:r>
            <a:endParaRPr lang="en-US" sz="1000" dirty="0"/>
          </a:p>
        </p:txBody>
      </p:sp>
      <p:sp>
        <p:nvSpPr>
          <p:cNvPr id="46" name="Shape 44"/>
          <p:cNvSpPr/>
          <p:nvPr/>
        </p:nvSpPr>
        <p:spPr>
          <a:xfrm>
            <a:off x="4901184" y="4069080"/>
            <a:ext cx="0" cy="182880"/>
          </a:xfrm>
          <a:prstGeom prst="line">
            <a:avLst/>
          </a:prstGeom>
          <a:noFill/>
          <a:ln w="12700">
            <a:solidFill>
              <a:srgbClr val="CBD5E1"/>
            </a:solidFill>
            <a:prstDash val="dash"/>
          </a:ln>
        </p:spPr>
      </p:sp>
      <p:sp>
        <p:nvSpPr>
          <p:cNvPr id="47" name="Shape 45"/>
          <p:cNvSpPr/>
          <p:nvPr/>
        </p:nvSpPr>
        <p:spPr>
          <a:xfrm>
            <a:off x="4809744" y="4306824"/>
            <a:ext cx="237744" cy="237744"/>
          </a:xfrm>
          <a:prstGeom prst="ellipse">
            <a:avLst/>
          </a:prstGeom>
          <a:solidFill>
            <a:srgbClr val="3B82F6"/>
          </a:solidFill>
          <a:ln/>
        </p:spPr>
      </p:sp>
      <p:sp>
        <p:nvSpPr>
          <p:cNvPr id="48" name="Text 46"/>
          <p:cNvSpPr/>
          <p:nvPr/>
        </p:nvSpPr>
        <p:spPr>
          <a:xfrm>
            <a:off x="4773168" y="4288536"/>
            <a:ext cx="237744" cy="237744"/>
          </a:xfrm>
          <a:prstGeom prst="rect">
            <a:avLst/>
          </a:prstGeom>
          <a:noFill/>
          <a:ln/>
        </p:spPr>
        <p:txBody>
          <a:bodyPr wrap="square" lIns="0" tIns="0" rIns="0" bIns="0" rtlCol="0" anchor="ctr"/>
          <a:lstStyle/>
          <a:p>
            <a:pPr algn="ctr" indent="0" marL="0">
              <a:buNone/>
            </a:pPr>
            <a:r>
              <a:rPr lang="en-US" sz="1000" dirty="0">
                <a:solidFill>
                  <a:srgbClr val="000000"/>
                </a:solidFill>
              </a:rPr>
              <a:t>📊</a:t>
            </a:r>
            <a:endParaRPr lang="en-US" sz="1000" dirty="0"/>
          </a:p>
        </p:txBody>
      </p:sp>
      <p:sp>
        <p:nvSpPr>
          <p:cNvPr id="49" name="Text 47"/>
          <p:cNvSpPr/>
          <p:nvPr/>
        </p:nvSpPr>
        <p:spPr>
          <a:xfrm>
            <a:off x="5120640" y="4288536"/>
            <a:ext cx="621792" cy="237744"/>
          </a:xfrm>
          <a:prstGeom prst="rect">
            <a:avLst/>
          </a:prstGeom>
          <a:noFill/>
          <a:ln/>
        </p:spPr>
        <p:txBody>
          <a:bodyPr wrap="square" lIns="0" tIns="0" rIns="0" bIns="0" rtlCol="0" anchor="ctr"/>
          <a:lstStyle/>
          <a:p>
            <a:pPr indent="0" marL="0">
              <a:buNone/>
            </a:pPr>
            <a:r>
              <a:rPr lang="en-US" sz="1000" b="1" dirty="0">
                <a:solidFill>
                  <a:srgbClr val="3B82F6"/>
                </a:solidFill>
                <a:latin typeface="Calibri" pitchFamily="34" charset="0"/>
                <a:ea typeface="Calibri" pitchFamily="34" charset="-122"/>
                <a:cs typeface="Calibri" pitchFamily="34" charset="-120"/>
              </a:rPr>
              <a:t>終了後</a:t>
            </a:r>
            <a:endParaRPr lang="en-US" sz="1000" dirty="0"/>
          </a:p>
        </p:txBody>
      </p:sp>
      <p:sp>
        <p:nvSpPr>
          <p:cNvPr id="50" name="Text 48"/>
          <p:cNvSpPr/>
          <p:nvPr/>
        </p:nvSpPr>
        <p:spPr>
          <a:xfrm>
            <a:off x="5779008" y="4288536"/>
            <a:ext cx="2926080" cy="310896"/>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見込み度 A/B/C/D を設定して提出</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F1A3E"/>
          </a:solidFill>
          <a:ln/>
        </p:spPr>
      </p:sp>
      <p:sp>
        <p:nvSpPr>
          <p:cNvPr id="3" name="Text 1"/>
          <p:cNvSpPr/>
          <p:nvPr/>
        </p:nvSpPr>
        <p:spPr>
          <a:xfrm>
            <a:off x="457200" y="91440"/>
            <a:ext cx="8229600" cy="347472"/>
          </a:xfrm>
          <a:prstGeom prst="rect">
            <a:avLst/>
          </a:prstGeom>
          <a:noFill/>
          <a:ln/>
        </p:spPr>
        <p:txBody>
          <a:bodyPr wrap="square" lIns="0" tIns="0" rIns="0" bIns="0" rtlCol="0" anchor="ctr"/>
          <a:lstStyle/>
          <a:p>
            <a:pPr indent="0" marL="0">
              <a:buNone/>
            </a:pPr>
            <a:r>
              <a:rPr lang="en-US" sz="1100" b="1" spc="200" kern="0" dirty="0">
                <a:solidFill>
                  <a:srgbClr val="3B82F6"/>
                </a:solidFill>
                <a:latin typeface="Calibri" pitchFamily="34" charset="0"/>
                <a:ea typeface="Calibri" pitchFamily="34" charset="-122"/>
                <a:cs typeface="Calibri" pitchFamily="34" charset="-120"/>
              </a:rPr>
              <a:t>08  3ヶ月 運用ロードマップ</a:t>
            </a:r>
            <a:endParaRPr lang="en-US" sz="1100" dirty="0"/>
          </a:p>
        </p:txBody>
      </p:sp>
      <p:sp>
        <p:nvSpPr>
          <p:cNvPr id="4" name="Text 2"/>
          <p:cNvSpPr/>
          <p:nvPr/>
        </p:nvSpPr>
        <p:spPr>
          <a:xfrm>
            <a:off x="457200" y="438912"/>
            <a:ext cx="8229600" cy="420624"/>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Kickoff → テスト架電 → 本格稼働 → ROI確認</a:t>
            </a:r>
            <a:endParaRPr lang="en-US" sz="2400" dirty="0"/>
          </a:p>
        </p:txBody>
      </p:sp>
      <p:sp>
        <p:nvSpPr>
          <p:cNvPr id="5" name="Shape 3"/>
          <p:cNvSpPr/>
          <p:nvPr/>
        </p:nvSpPr>
        <p:spPr>
          <a:xfrm>
            <a:off x="640080" y="1481328"/>
            <a:ext cx="7863840" cy="73152"/>
          </a:xfrm>
          <a:prstGeom prst="rect">
            <a:avLst/>
          </a:prstGeom>
          <a:solidFill>
            <a:srgbClr val="CBD5E1"/>
          </a:solidFill>
          <a:ln/>
        </p:spPr>
      </p:sp>
      <p:sp>
        <p:nvSpPr>
          <p:cNvPr id="6" name="Shape 4"/>
          <p:cNvSpPr/>
          <p:nvPr/>
        </p:nvSpPr>
        <p:spPr>
          <a:xfrm>
            <a:off x="475488" y="1389888"/>
            <a:ext cx="329184" cy="329184"/>
          </a:xfrm>
          <a:prstGeom prst="ellipse">
            <a:avLst/>
          </a:prstGeom>
          <a:solidFill>
            <a:srgbClr val="3B82F6"/>
          </a:solidFill>
          <a:ln/>
          <a:effectLst>
            <a:outerShdw sx="100000" sy="100000" kx="0" ky="0" algn="bl" rotWithShape="0" blurRad="50800" dist="25400" dir="2700000">
              <a:srgbClr val="000000">
                <a:alpha val="12000"/>
              </a:srgbClr>
            </a:outerShdw>
          </a:effectLst>
        </p:spPr>
      </p:sp>
      <p:sp>
        <p:nvSpPr>
          <p:cNvPr id="7" name="Text 5"/>
          <p:cNvSpPr/>
          <p:nvPr/>
        </p:nvSpPr>
        <p:spPr>
          <a:xfrm>
            <a:off x="91440" y="1115568"/>
            <a:ext cx="1097280" cy="201168"/>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Week 1</a:t>
            </a:r>
            <a:endParaRPr lang="en-US" sz="900" dirty="0"/>
          </a:p>
        </p:txBody>
      </p:sp>
      <p:sp>
        <p:nvSpPr>
          <p:cNvPr id="8" name="Text 6"/>
          <p:cNvSpPr/>
          <p:nvPr/>
        </p:nvSpPr>
        <p:spPr>
          <a:xfrm>
            <a:off x="91440" y="1810512"/>
            <a:ext cx="1097280" cy="201168"/>
          </a:xfrm>
          <a:prstGeom prst="rect">
            <a:avLst/>
          </a:prstGeom>
          <a:noFill/>
          <a:ln/>
        </p:spPr>
        <p:txBody>
          <a:bodyPr wrap="square" lIns="0" tIns="0" rIns="0" bIns="0" rtlCol="0" anchor="ctr"/>
          <a:lstStyle/>
          <a:p>
            <a:pPr algn="ctr" indent="0" marL="0">
              <a:buNone/>
            </a:pPr>
            <a:r>
              <a:rPr lang="en-US" sz="900" b="1" dirty="0">
                <a:solidFill>
                  <a:srgbClr val="3B82F6"/>
                </a:solidFill>
                <a:latin typeface="Calibri" pitchFamily="34" charset="0"/>
                <a:ea typeface="Calibri" pitchFamily="34" charset="-122"/>
                <a:cs typeface="Calibri" pitchFamily="34" charset="-120"/>
              </a:rPr>
              <a:t>Kickoff</a:t>
            </a:r>
            <a:endParaRPr lang="en-US" sz="900" dirty="0"/>
          </a:p>
        </p:txBody>
      </p:sp>
      <p:sp>
        <p:nvSpPr>
          <p:cNvPr id="9" name="Shape 7"/>
          <p:cNvSpPr/>
          <p:nvPr/>
        </p:nvSpPr>
        <p:spPr>
          <a:xfrm>
            <a:off x="2852928" y="1389888"/>
            <a:ext cx="329184" cy="329184"/>
          </a:xfrm>
          <a:prstGeom prst="ellipse">
            <a:avLst/>
          </a:prstGeom>
          <a:solidFill>
            <a:srgbClr val="1E3A8A"/>
          </a:solidFill>
          <a:ln/>
          <a:effectLst>
            <a:outerShdw sx="100000" sy="100000" kx="0" ky="0" algn="bl" rotWithShape="0" blurRad="50800" dist="25400" dir="2700000">
              <a:srgbClr val="000000">
                <a:alpha val="12000"/>
              </a:srgbClr>
            </a:outerShdw>
          </a:effectLst>
        </p:spPr>
      </p:sp>
      <p:sp>
        <p:nvSpPr>
          <p:cNvPr id="10" name="Text 8"/>
          <p:cNvSpPr/>
          <p:nvPr/>
        </p:nvSpPr>
        <p:spPr>
          <a:xfrm>
            <a:off x="2468880" y="1115568"/>
            <a:ext cx="1097280" cy="201168"/>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Week 2-4</a:t>
            </a:r>
            <a:endParaRPr lang="en-US" sz="900" dirty="0"/>
          </a:p>
        </p:txBody>
      </p:sp>
      <p:sp>
        <p:nvSpPr>
          <p:cNvPr id="11" name="Text 9"/>
          <p:cNvSpPr/>
          <p:nvPr/>
        </p:nvSpPr>
        <p:spPr>
          <a:xfrm>
            <a:off x="2468880" y="1810512"/>
            <a:ext cx="1097280" cy="201168"/>
          </a:xfrm>
          <a:prstGeom prst="rect">
            <a:avLst/>
          </a:prstGeom>
          <a:noFill/>
          <a:ln/>
        </p:spPr>
        <p:txBody>
          <a:bodyPr wrap="square" lIns="0" tIns="0" rIns="0" bIns="0" rtlCol="0" anchor="ctr"/>
          <a:lstStyle/>
          <a:p>
            <a:pPr algn="ctr" indent="0" marL="0">
              <a:buNone/>
            </a:pPr>
            <a:r>
              <a:rPr lang="en-US" sz="900" b="1" dirty="0">
                <a:solidFill>
                  <a:srgbClr val="1E3A8A"/>
                </a:solidFill>
                <a:latin typeface="Calibri" pitchFamily="34" charset="0"/>
                <a:ea typeface="Calibri" pitchFamily="34" charset="-122"/>
                <a:cs typeface="Calibri" pitchFamily="34" charset="-120"/>
              </a:rPr>
              <a:t>テスト架電</a:t>
            </a:r>
            <a:endParaRPr lang="en-US" sz="900" dirty="0"/>
          </a:p>
        </p:txBody>
      </p:sp>
      <p:sp>
        <p:nvSpPr>
          <p:cNvPr id="12" name="Shape 10"/>
          <p:cNvSpPr/>
          <p:nvPr/>
        </p:nvSpPr>
        <p:spPr>
          <a:xfrm>
            <a:off x="5230368" y="1389888"/>
            <a:ext cx="329184" cy="329184"/>
          </a:xfrm>
          <a:prstGeom prst="ellipse">
            <a:avLst/>
          </a:prstGeom>
          <a:solidFill>
            <a:srgbClr val="059669"/>
          </a:solidFill>
          <a:ln/>
          <a:effectLst>
            <a:outerShdw sx="100000" sy="100000" kx="0" ky="0" algn="bl" rotWithShape="0" blurRad="50800" dist="25400" dir="2700000">
              <a:srgbClr val="000000">
                <a:alpha val="12000"/>
              </a:srgbClr>
            </a:outerShdw>
          </a:effectLst>
        </p:spPr>
      </p:sp>
      <p:sp>
        <p:nvSpPr>
          <p:cNvPr id="13" name="Text 11"/>
          <p:cNvSpPr/>
          <p:nvPr/>
        </p:nvSpPr>
        <p:spPr>
          <a:xfrm>
            <a:off x="4846320" y="1115568"/>
            <a:ext cx="1097280" cy="201168"/>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Month 2</a:t>
            </a:r>
            <a:endParaRPr lang="en-US" sz="900" dirty="0"/>
          </a:p>
        </p:txBody>
      </p:sp>
      <p:sp>
        <p:nvSpPr>
          <p:cNvPr id="14" name="Text 12"/>
          <p:cNvSpPr/>
          <p:nvPr/>
        </p:nvSpPr>
        <p:spPr>
          <a:xfrm>
            <a:off x="4846320" y="1810512"/>
            <a:ext cx="1097280" cy="201168"/>
          </a:xfrm>
          <a:prstGeom prst="rect">
            <a:avLst/>
          </a:prstGeom>
          <a:noFill/>
          <a:ln/>
        </p:spPr>
        <p:txBody>
          <a:bodyPr wrap="square" lIns="0" tIns="0" rIns="0" bIns="0" rtlCol="0" anchor="ctr"/>
          <a:lstStyle/>
          <a:p>
            <a:pPr algn="ctr" indent="0" marL="0">
              <a:buNone/>
            </a:pPr>
            <a:r>
              <a:rPr lang="en-US" sz="900" b="1" dirty="0">
                <a:solidFill>
                  <a:srgbClr val="059669"/>
                </a:solidFill>
                <a:latin typeface="Calibri" pitchFamily="34" charset="0"/>
                <a:ea typeface="Calibri" pitchFamily="34" charset="-122"/>
                <a:cs typeface="Calibri" pitchFamily="34" charset="-120"/>
              </a:rPr>
              <a:t>本格稼働</a:t>
            </a:r>
            <a:endParaRPr lang="en-US" sz="900" dirty="0"/>
          </a:p>
        </p:txBody>
      </p:sp>
      <p:sp>
        <p:nvSpPr>
          <p:cNvPr id="15" name="Shape 13"/>
          <p:cNvSpPr/>
          <p:nvPr/>
        </p:nvSpPr>
        <p:spPr>
          <a:xfrm>
            <a:off x="7973568" y="1389888"/>
            <a:ext cx="329184" cy="329184"/>
          </a:xfrm>
          <a:prstGeom prst="ellipse">
            <a:avLst/>
          </a:prstGeom>
          <a:solidFill>
            <a:srgbClr val="0891B2"/>
          </a:solidFill>
          <a:ln/>
          <a:effectLst>
            <a:outerShdw sx="100000" sy="100000" kx="0" ky="0" algn="bl" rotWithShape="0" blurRad="50800" dist="25400" dir="2700000">
              <a:srgbClr val="000000">
                <a:alpha val="12000"/>
              </a:srgbClr>
            </a:outerShdw>
          </a:effectLst>
        </p:spPr>
      </p:sp>
      <p:sp>
        <p:nvSpPr>
          <p:cNvPr id="16" name="Text 14"/>
          <p:cNvSpPr/>
          <p:nvPr/>
        </p:nvSpPr>
        <p:spPr>
          <a:xfrm>
            <a:off x="7589520" y="1115568"/>
            <a:ext cx="1097280" cy="201168"/>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Month 3</a:t>
            </a:r>
            <a:endParaRPr lang="en-US" sz="900" dirty="0"/>
          </a:p>
        </p:txBody>
      </p:sp>
      <p:sp>
        <p:nvSpPr>
          <p:cNvPr id="17" name="Text 15"/>
          <p:cNvSpPr/>
          <p:nvPr/>
        </p:nvSpPr>
        <p:spPr>
          <a:xfrm>
            <a:off x="7589520" y="1810512"/>
            <a:ext cx="1097280" cy="201168"/>
          </a:xfrm>
          <a:prstGeom prst="rect">
            <a:avLst/>
          </a:prstGeom>
          <a:noFill/>
          <a:ln/>
        </p:spPr>
        <p:txBody>
          <a:bodyPr wrap="square" lIns="0" tIns="0" rIns="0" bIns="0" rtlCol="0" anchor="ctr"/>
          <a:lstStyle/>
          <a:p>
            <a:pPr algn="ctr" indent="0" marL="0">
              <a:buNone/>
            </a:pPr>
            <a:r>
              <a:rPr lang="en-US" sz="900" b="1" dirty="0">
                <a:solidFill>
                  <a:srgbClr val="0891B2"/>
                </a:solidFill>
                <a:latin typeface="Calibri" pitchFamily="34" charset="0"/>
                <a:ea typeface="Calibri" pitchFamily="34" charset="-122"/>
                <a:cs typeface="Calibri" pitchFamily="34" charset="-120"/>
              </a:rPr>
              <a:t>成果・ROI確認</a:t>
            </a:r>
            <a:endParaRPr lang="en-US" sz="900" dirty="0"/>
          </a:p>
        </p:txBody>
      </p:sp>
      <p:sp>
        <p:nvSpPr>
          <p:cNvPr id="18" name="Shape 16"/>
          <p:cNvSpPr/>
          <p:nvPr/>
        </p:nvSpPr>
        <p:spPr>
          <a:xfrm>
            <a:off x="365760" y="2148840"/>
            <a:ext cx="2743200" cy="2697480"/>
          </a:xfrm>
          <a:prstGeom prst="roundRect">
            <a:avLst>
              <a:gd name="adj" fmla="val 3390"/>
            </a:avLst>
          </a:prstGeom>
          <a:solidFill>
            <a:srgbClr val="F8FAFC"/>
          </a:solidFill>
          <a:ln w="12700">
            <a:solidFill>
              <a:srgbClr val="CBD5E1"/>
            </a:solidFill>
            <a:prstDash val="solid"/>
          </a:ln>
          <a:effectLst>
            <a:outerShdw sx="100000" sy="100000" kx="0" ky="0" algn="bl" rotWithShape="0" blurRad="101600" dist="38100" dir="2700000">
              <a:srgbClr val="000000">
                <a:alpha val="12000"/>
              </a:srgbClr>
            </a:outerShdw>
          </a:effectLst>
        </p:spPr>
      </p:sp>
      <p:sp>
        <p:nvSpPr>
          <p:cNvPr id="19" name="Shape 17"/>
          <p:cNvSpPr/>
          <p:nvPr/>
        </p:nvSpPr>
        <p:spPr>
          <a:xfrm>
            <a:off x="365760" y="2148840"/>
            <a:ext cx="2743200" cy="402336"/>
          </a:xfrm>
          <a:prstGeom prst="rect">
            <a:avLst/>
          </a:prstGeom>
          <a:solidFill>
            <a:srgbClr val="3B82F6"/>
          </a:solidFill>
          <a:ln/>
        </p:spPr>
      </p:sp>
      <p:sp>
        <p:nvSpPr>
          <p:cNvPr id="20" name="Text 18"/>
          <p:cNvSpPr/>
          <p:nvPr/>
        </p:nvSpPr>
        <p:spPr>
          <a:xfrm>
            <a:off x="457200" y="2148840"/>
            <a:ext cx="2560320" cy="402336"/>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導入フェーズ</a:t>
            </a:r>
            <a:endParaRPr lang="en-US" sz="1200" dirty="0"/>
          </a:p>
        </p:txBody>
      </p:sp>
      <p:sp>
        <p:nvSpPr>
          <p:cNvPr id="21" name="Text 19"/>
          <p:cNvSpPr/>
          <p:nvPr/>
        </p:nvSpPr>
        <p:spPr>
          <a:xfrm>
            <a:off x="475488" y="2633472"/>
            <a:ext cx="182880" cy="365760"/>
          </a:xfrm>
          <a:prstGeom prst="rect">
            <a:avLst/>
          </a:prstGeom>
          <a:noFill/>
          <a:ln/>
        </p:spPr>
        <p:txBody>
          <a:bodyPr wrap="square" lIns="0" tIns="0" rIns="0" bIns="0" rtlCol="0" anchor="ctr"/>
          <a:lstStyle/>
          <a:p>
            <a:pPr indent="0" marL="0">
              <a:buNone/>
            </a:pPr>
            <a:r>
              <a:rPr lang="en-US" sz="1100" dirty="0">
                <a:solidFill>
                  <a:srgbClr val="3B82F6"/>
                </a:solidFill>
              </a:rPr>
              <a:t>▸</a:t>
            </a:r>
            <a:endParaRPr lang="en-US" sz="1100" dirty="0"/>
          </a:p>
        </p:txBody>
      </p:sp>
      <p:sp>
        <p:nvSpPr>
          <p:cNvPr id="22" name="Text 20"/>
          <p:cNvSpPr/>
          <p:nvPr/>
        </p:nvSpPr>
        <p:spPr>
          <a:xfrm>
            <a:off x="676656" y="2633472"/>
            <a:ext cx="2322576" cy="365760"/>
          </a:xfrm>
          <a:prstGeom prst="rect">
            <a:avLst/>
          </a:prstGeom>
          <a:noFill/>
          <a:ln/>
        </p:spPr>
        <p:txBody>
          <a:bodyPr wrap="square" lIns="0" tIns="0" rIns="0" bIns="0" rtlCol="0" anchor="ctr"/>
          <a:lstStyle/>
          <a:p>
            <a:pPr indent="0" marL="0">
              <a:lnSpc>
                <a:spcPct val="120000"/>
              </a:lnSpc>
              <a:buNone/>
            </a:pPr>
            <a:r>
              <a:rPr lang="en-US" sz="1050" dirty="0">
                <a:solidFill>
                  <a:srgbClr val="1E293B"/>
                </a:solidFill>
                <a:latin typeface="Calibri" pitchFamily="34" charset="0"/>
                <a:ea typeface="Calibri" pitchFamily="34" charset="-122"/>
                <a:cs typeface="Calibri" pitchFamily="34" charset="-120"/>
              </a:rPr>
              <a:t>ヒアリング・ターゲット設定</a:t>
            </a:r>
            <a:endParaRPr lang="en-US" sz="1050" dirty="0"/>
          </a:p>
        </p:txBody>
      </p:sp>
      <p:sp>
        <p:nvSpPr>
          <p:cNvPr id="23" name="Text 21"/>
          <p:cNvSpPr/>
          <p:nvPr/>
        </p:nvSpPr>
        <p:spPr>
          <a:xfrm>
            <a:off x="475488" y="3163824"/>
            <a:ext cx="182880" cy="365760"/>
          </a:xfrm>
          <a:prstGeom prst="rect">
            <a:avLst/>
          </a:prstGeom>
          <a:noFill/>
          <a:ln/>
        </p:spPr>
        <p:txBody>
          <a:bodyPr wrap="square" lIns="0" tIns="0" rIns="0" bIns="0" rtlCol="0" anchor="ctr"/>
          <a:lstStyle/>
          <a:p>
            <a:pPr indent="0" marL="0">
              <a:buNone/>
            </a:pPr>
            <a:r>
              <a:rPr lang="en-US" sz="1100" dirty="0">
                <a:solidFill>
                  <a:srgbClr val="3B82F6"/>
                </a:solidFill>
              </a:rPr>
              <a:t>▸</a:t>
            </a:r>
            <a:endParaRPr lang="en-US" sz="1100" dirty="0"/>
          </a:p>
        </p:txBody>
      </p:sp>
      <p:sp>
        <p:nvSpPr>
          <p:cNvPr id="24" name="Text 22"/>
          <p:cNvSpPr/>
          <p:nvPr/>
        </p:nvSpPr>
        <p:spPr>
          <a:xfrm>
            <a:off x="676656" y="3163824"/>
            <a:ext cx="2322576" cy="365760"/>
          </a:xfrm>
          <a:prstGeom prst="rect">
            <a:avLst/>
          </a:prstGeom>
          <a:noFill/>
          <a:ln/>
        </p:spPr>
        <p:txBody>
          <a:bodyPr wrap="square" lIns="0" tIns="0" rIns="0" bIns="0" rtlCol="0" anchor="ctr"/>
          <a:lstStyle/>
          <a:p>
            <a:pPr indent="0" marL="0">
              <a:lnSpc>
                <a:spcPct val="120000"/>
              </a:lnSpc>
              <a:buNone/>
            </a:pPr>
            <a:r>
              <a:rPr lang="en-US" sz="1050" dirty="0">
                <a:solidFill>
                  <a:srgbClr val="1E293B"/>
                </a:solidFill>
                <a:latin typeface="Calibri" pitchFamily="34" charset="0"/>
                <a:ea typeface="Calibri" pitchFamily="34" charset="-122"/>
                <a:cs typeface="Calibri" pitchFamily="34" charset="-120"/>
              </a:rPr>
              <a:t>初期スクリプト作成</a:t>
            </a:r>
            <a:endParaRPr lang="en-US" sz="1050" dirty="0"/>
          </a:p>
        </p:txBody>
      </p:sp>
      <p:sp>
        <p:nvSpPr>
          <p:cNvPr id="25" name="Text 23"/>
          <p:cNvSpPr/>
          <p:nvPr/>
        </p:nvSpPr>
        <p:spPr>
          <a:xfrm>
            <a:off x="475488" y="3694176"/>
            <a:ext cx="182880" cy="365760"/>
          </a:xfrm>
          <a:prstGeom prst="rect">
            <a:avLst/>
          </a:prstGeom>
          <a:noFill/>
          <a:ln/>
        </p:spPr>
        <p:txBody>
          <a:bodyPr wrap="square" lIns="0" tIns="0" rIns="0" bIns="0" rtlCol="0" anchor="ctr"/>
          <a:lstStyle/>
          <a:p>
            <a:pPr indent="0" marL="0">
              <a:buNone/>
            </a:pPr>
            <a:r>
              <a:rPr lang="en-US" sz="1100" dirty="0">
                <a:solidFill>
                  <a:srgbClr val="3B82F6"/>
                </a:solidFill>
              </a:rPr>
              <a:t>▸</a:t>
            </a:r>
            <a:endParaRPr lang="en-US" sz="1100" dirty="0"/>
          </a:p>
        </p:txBody>
      </p:sp>
      <p:sp>
        <p:nvSpPr>
          <p:cNvPr id="26" name="Text 24"/>
          <p:cNvSpPr/>
          <p:nvPr/>
        </p:nvSpPr>
        <p:spPr>
          <a:xfrm>
            <a:off x="676656" y="3694176"/>
            <a:ext cx="2322576" cy="365760"/>
          </a:xfrm>
          <a:prstGeom prst="rect">
            <a:avLst/>
          </a:prstGeom>
          <a:noFill/>
          <a:ln/>
        </p:spPr>
        <p:txBody>
          <a:bodyPr wrap="square" lIns="0" tIns="0" rIns="0" bIns="0" rtlCol="0" anchor="ctr"/>
          <a:lstStyle/>
          <a:p>
            <a:pPr indent="0" marL="0">
              <a:lnSpc>
                <a:spcPct val="120000"/>
              </a:lnSpc>
              <a:buNone/>
            </a:pPr>
            <a:r>
              <a:rPr lang="en-US" sz="1050" dirty="0">
                <a:solidFill>
                  <a:srgbClr val="1E293B"/>
                </a:solidFill>
                <a:latin typeface="Calibri" pitchFamily="34" charset="0"/>
                <a:ea typeface="Calibri" pitchFamily="34" charset="-122"/>
                <a:cs typeface="Calibri" pitchFamily="34" charset="-120"/>
              </a:rPr>
              <a:t>KPI・成果目標の設定</a:t>
            </a:r>
            <a:endParaRPr lang="en-US" sz="1050" dirty="0"/>
          </a:p>
        </p:txBody>
      </p:sp>
      <p:sp>
        <p:nvSpPr>
          <p:cNvPr id="27" name="Text 25"/>
          <p:cNvSpPr/>
          <p:nvPr/>
        </p:nvSpPr>
        <p:spPr>
          <a:xfrm>
            <a:off x="475488" y="4224528"/>
            <a:ext cx="182880" cy="365760"/>
          </a:xfrm>
          <a:prstGeom prst="rect">
            <a:avLst/>
          </a:prstGeom>
          <a:noFill/>
          <a:ln/>
        </p:spPr>
        <p:txBody>
          <a:bodyPr wrap="square" lIns="0" tIns="0" rIns="0" bIns="0" rtlCol="0" anchor="ctr"/>
          <a:lstStyle/>
          <a:p>
            <a:pPr indent="0" marL="0">
              <a:buNone/>
            </a:pPr>
            <a:r>
              <a:rPr lang="en-US" sz="1100" dirty="0">
                <a:solidFill>
                  <a:srgbClr val="3B82F6"/>
                </a:solidFill>
              </a:rPr>
              <a:t>▸</a:t>
            </a:r>
            <a:endParaRPr lang="en-US" sz="1100" dirty="0"/>
          </a:p>
        </p:txBody>
      </p:sp>
      <p:sp>
        <p:nvSpPr>
          <p:cNvPr id="28" name="Text 26"/>
          <p:cNvSpPr/>
          <p:nvPr/>
        </p:nvSpPr>
        <p:spPr>
          <a:xfrm>
            <a:off x="676656" y="4224528"/>
            <a:ext cx="2322576" cy="365760"/>
          </a:xfrm>
          <a:prstGeom prst="rect">
            <a:avLst/>
          </a:prstGeom>
          <a:noFill/>
          <a:ln/>
        </p:spPr>
        <p:txBody>
          <a:bodyPr wrap="square" lIns="0" tIns="0" rIns="0" bIns="0" rtlCol="0" anchor="ctr"/>
          <a:lstStyle/>
          <a:p>
            <a:pPr indent="0" marL="0">
              <a:lnSpc>
                <a:spcPct val="120000"/>
              </a:lnSpc>
              <a:buNone/>
            </a:pPr>
            <a:r>
              <a:rPr lang="en-US" sz="1050" dirty="0">
                <a:solidFill>
                  <a:srgbClr val="1E293B"/>
                </a:solidFill>
                <a:latin typeface="Calibri" pitchFamily="34" charset="0"/>
                <a:ea typeface="Calibri" pitchFamily="34" charset="-122"/>
                <a:cs typeface="Calibri" pitchFamily="34" charset="-120"/>
              </a:rPr>
              <a:t>管理画面セットアップ</a:t>
            </a:r>
            <a:endParaRPr lang="en-US" sz="1050" dirty="0"/>
          </a:p>
        </p:txBody>
      </p:sp>
      <p:sp>
        <p:nvSpPr>
          <p:cNvPr id="29" name="Shape 27"/>
          <p:cNvSpPr/>
          <p:nvPr/>
        </p:nvSpPr>
        <p:spPr>
          <a:xfrm>
            <a:off x="3310128" y="2148840"/>
            <a:ext cx="2743200" cy="2697480"/>
          </a:xfrm>
          <a:prstGeom prst="roundRect">
            <a:avLst>
              <a:gd name="adj" fmla="val 3390"/>
            </a:avLst>
          </a:prstGeom>
          <a:solidFill>
            <a:srgbClr val="F8FAFC"/>
          </a:solidFill>
          <a:ln w="12700">
            <a:solidFill>
              <a:srgbClr val="CBD5E1"/>
            </a:solidFill>
            <a:prstDash val="solid"/>
          </a:ln>
          <a:effectLst>
            <a:outerShdw sx="100000" sy="100000" kx="0" ky="0" algn="bl" rotWithShape="0" blurRad="101600" dist="38100" dir="2700000">
              <a:srgbClr val="000000">
                <a:alpha val="12000"/>
              </a:srgbClr>
            </a:outerShdw>
          </a:effectLst>
        </p:spPr>
      </p:sp>
      <p:sp>
        <p:nvSpPr>
          <p:cNvPr id="30" name="Shape 28"/>
          <p:cNvSpPr/>
          <p:nvPr/>
        </p:nvSpPr>
        <p:spPr>
          <a:xfrm>
            <a:off x="3310128" y="2148840"/>
            <a:ext cx="2743200" cy="402336"/>
          </a:xfrm>
          <a:prstGeom prst="rect">
            <a:avLst/>
          </a:prstGeom>
          <a:solidFill>
            <a:srgbClr val="1E3A8A"/>
          </a:solidFill>
          <a:ln/>
        </p:spPr>
      </p:sp>
      <p:sp>
        <p:nvSpPr>
          <p:cNvPr id="31" name="Text 29"/>
          <p:cNvSpPr/>
          <p:nvPr/>
        </p:nvSpPr>
        <p:spPr>
          <a:xfrm>
            <a:off x="3401568" y="2148840"/>
            <a:ext cx="2560320" cy="402336"/>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テスト・最適化</a:t>
            </a:r>
            <a:endParaRPr lang="en-US" sz="1200" dirty="0"/>
          </a:p>
        </p:txBody>
      </p:sp>
      <p:sp>
        <p:nvSpPr>
          <p:cNvPr id="32" name="Text 30"/>
          <p:cNvSpPr/>
          <p:nvPr/>
        </p:nvSpPr>
        <p:spPr>
          <a:xfrm>
            <a:off x="3419856" y="2633472"/>
            <a:ext cx="182880" cy="365760"/>
          </a:xfrm>
          <a:prstGeom prst="rect">
            <a:avLst/>
          </a:prstGeom>
          <a:noFill/>
          <a:ln/>
        </p:spPr>
        <p:txBody>
          <a:bodyPr wrap="square" lIns="0" tIns="0" rIns="0" bIns="0" rtlCol="0" anchor="ctr"/>
          <a:lstStyle/>
          <a:p>
            <a:pPr indent="0" marL="0">
              <a:buNone/>
            </a:pPr>
            <a:r>
              <a:rPr lang="en-US" sz="1100" dirty="0">
                <a:solidFill>
                  <a:srgbClr val="1E3A8A"/>
                </a:solidFill>
              </a:rPr>
              <a:t>▸</a:t>
            </a:r>
            <a:endParaRPr lang="en-US" sz="1100" dirty="0"/>
          </a:p>
        </p:txBody>
      </p:sp>
      <p:sp>
        <p:nvSpPr>
          <p:cNvPr id="33" name="Text 31"/>
          <p:cNvSpPr/>
          <p:nvPr/>
        </p:nvSpPr>
        <p:spPr>
          <a:xfrm>
            <a:off x="3621024" y="2633472"/>
            <a:ext cx="2322576" cy="365760"/>
          </a:xfrm>
          <a:prstGeom prst="rect">
            <a:avLst/>
          </a:prstGeom>
          <a:noFill/>
          <a:ln/>
        </p:spPr>
        <p:txBody>
          <a:bodyPr wrap="square" lIns="0" tIns="0" rIns="0" bIns="0" rtlCol="0" anchor="ctr"/>
          <a:lstStyle/>
          <a:p>
            <a:pPr indent="0" marL="0">
              <a:lnSpc>
                <a:spcPct val="120000"/>
              </a:lnSpc>
              <a:buNone/>
            </a:pPr>
            <a:r>
              <a:rPr lang="en-US" sz="1050" dirty="0">
                <a:solidFill>
                  <a:srgbClr val="1E293B"/>
                </a:solidFill>
                <a:latin typeface="Calibri" pitchFamily="34" charset="0"/>
                <a:ea typeface="Calibri" pitchFamily="34" charset="-122"/>
                <a:cs typeface="Calibri" pitchFamily="34" charset="-120"/>
              </a:rPr>
              <a:t>少量テスト架電（〜 500件）</a:t>
            </a:r>
            <a:endParaRPr lang="en-US" sz="1050" dirty="0"/>
          </a:p>
        </p:txBody>
      </p:sp>
      <p:sp>
        <p:nvSpPr>
          <p:cNvPr id="34" name="Text 32"/>
          <p:cNvSpPr/>
          <p:nvPr/>
        </p:nvSpPr>
        <p:spPr>
          <a:xfrm>
            <a:off x="3419856" y="3163824"/>
            <a:ext cx="182880" cy="365760"/>
          </a:xfrm>
          <a:prstGeom prst="rect">
            <a:avLst/>
          </a:prstGeom>
          <a:noFill/>
          <a:ln/>
        </p:spPr>
        <p:txBody>
          <a:bodyPr wrap="square" lIns="0" tIns="0" rIns="0" bIns="0" rtlCol="0" anchor="ctr"/>
          <a:lstStyle/>
          <a:p>
            <a:pPr indent="0" marL="0">
              <a:buNone/>
            </a:pPr>
            <a:r>
              <a:rPr lang="en-US" sz="1100" dirty="0">
                <a:solidFill>
                  <a:srgbClr val="1E3A8A"/>
                </a:solidFill>
              </a:rPr>
              <a:t>▸</a:t>
            </a:r>
            <a:endParaRPr lang="en-US" sz="1100" dirty="0"/>
          </a:p>
        </p:txBody>
      </p:sp>
      <p:sp>
        <p:nvSpPr>
          <p:cNvPr id="35" name="Text 33"/>
          <p:cNvSpPr/>
          <p:nvPr/>
        </p:nvSpPr>
        <p:spPr>
          <a:xfrm>
            <a:off x="3621024" y="3163824"/>
            <a:ext cx="2322576" cy="365760"/>
          </a:xfrm>
          <a:prstGeom prst="rect">
            <a:avLst/>
          </a:prstGeom>
          <a:noFill/>
          <a:ln/>
        </p:spPr>
        <p:txBody>
          <a:bodyPr wrap="square" lIns="0" tIns="0" rIns="0" bIns="0" rtlCol="0" anchor="ctr"/>
          <a:lstStyle/>
          <a:p>
            <a:pPr indent="0" marL="0">
              <a:lnSpc>
                <a:spcPct val="120000"/>
              </a:lnSpc>
              <a:buNone/>
            </a:pPr>
            <a:r>
              <a:rPr lang="en-US" sz="1050" dirty="0">
                <a:solidFill>
                  <a:srgbClr val="1E293B"/>
                </a:solidFill>
                <a:latin typeface="Calibri" pitchFamily="34" charset="0"/>
                <a:ea typeface="Calibri" pitchFamily="34" charset="-122"/>
                <a:cs typeface="Calibri" pitchFamily="34" charset="-120"/>
              </a:rPr>
              <a:t>顧客反応データ分析</a:t>
            </a:r>
            <a:endParaRPr lang="en-US" sz="1050" dirty="0"/>
          </a:p>
        </p:txBody>
      </p:sp>
      <p:sp>
        <p:nvSpPr>
          <p:cNvPr id="36" name="Text 34"/>
          <p:cNvSpPr/>
          <p:nvPr/>
        </p:nvSpPr>
        <p:spPr>
          <a:xfrm>
            <a:off x="3419856" y="3694176"/>
            <a:ext cx="182880" cy="365760"/>
          </a:xfrm>
          <a:prstGeom prst="rect">
            <a:avLst/>
          </a:prstGeom>
          <a:noFill/>
          <a:ln/>
        </p:spPr>
        <p:txBody>
          <a:bodyPr wrap="square" lIns="0" tIns="0" rIns="0" bIns="0" rtlCol="0" anchor="ctr"/>
          <a:lstStyle/>
          <a:p>
            <a:pPr indent="0" marL="0">
              <a:buNone/>
            </a:pPr>
            <a:r>
              <a:rPr lang="en-US" sz="1100" dirty="0">
                <a:solidFill>
                  <a:srgbClr val="1E3A8A"/>
                </a:solidFill>
              </a:rPr>
              <a:t>▸</a:t>
            </a:r>
            <a:endParaRPr lang="en-US" sz="1100" dirty="0"/>
          </a:p>
        </p:txBody>
      </p:sp>
      <p:sp>
        <p:nvSpPr>
          <p:cNvPr id="37" name="Text 35"/>
          <p:cNvSpPr/>
          <p:nvPr/>
        </p:nvSpPr>
        <p:spPr>
          <a:xfrm>
            <a:off x="3621024" y="3694176"/>
            <a:ext cx="2322576" cy="365760"/>
          </a:xfrm>
          <a:prstGeom prst="rect">
            <a:avLst/>
          </a:prstGeom>
          <a:noFill/>
          <a:ln/>
        </p:spPr>
        <p:txBody>
          <a:bodyPr wrap="square" lIns="0" tIns="0" rIns="0" bIns="0" rtlCol="0" anchor="ctr"/>
          <a:lstStyle/>
          <a:p>
            <a:pPr indent="0" marL="0">
              <a:lnSpc>
                <a:spcPct val="120000"/>
              </a:lnSpc>
              <a:buNone/>
            </a:pPr>
            <a:r>
              <a:rPr lang="en-US" sz="1050" dirty="0">
                <a:solidFill>
                  <a:srgbClr val="1E293B"/>
                </a:solidFill>
                <a:latin typeface="Calibri" pitchFamily="34" charset="0"/>
                <a:ea typeface="Calibri" pitchFamily="34" charset="-122"/>
                <a:cs typeface="Calibri" pitchFamily="34" charset="-120"/>
              </a:rPr>
              <a:t>スクリプト改善・音声調整</a:t>
            </a:r>
            <a:endParaRPr lang="en-US" sz="1050" dirty="0"/>
          </a:p>
        </p:txBody>
      </p:sp>
      <p:sp>
        <p:nvSpPr>
          <p:cNvPr id="38" name="Text 36"/>
          <p:cNvSpPr/>
          <p:nvPr/>
        </p:nvSpPr>
        <p:spPr>
          <a:xfrm>
            <a:off x="3419856" y="4224528"/>
            <a:ext cx="182880" cy="365760"/>
          </a:xfrm>
          <a:prstGeom prst="rect">
            <a:avLst/>
          </a:prstGeom>
          <a:noFill/>
          <a:ln/>
        </p:spPr>
        <p:txBody>
          <a:bodyPr wrap="square" lIns="0" tIns="0" rIns="0" bIns="0" rtlCol="0" anchor="ctr"/>
          <a:lstStyle/>
          <a:p>
            <a:pPr indent="0" marL="0">
              <a:buNone/>
            </a:pPr>
            <a:r>
              <a:rPr lang="en-US" sz="1100" dirty="0">
                <a:solidFill>
                  <a:srgbClr val="1E3A8A"/>
                </a:solidFill>
              </a:rPr>
              <a:t>▸</a:t>
            </a:r>
            <a:endParaRPr lang="en-US" sz="1100" dirty="0"/>
          </a:p>
        </p:txBody>
      </p:sp>
      <p:sp>
        <p:nvSpPr>
          <p:cNvPr id="39" name="Text 37"/>
          <p:cNvSpPr/>
          <p:nvPr/>
        </p:nvSpPr>
        <p:spPr>
          <a:xfrm>
            <a:off x="3621024" y="4224528"/>
            <a:ext cx="2322576" cy="365760"/>
          </a:xfrm>
          <a:prstGeom prst="rect">
            <a:avLst/>
          </a:prstGeom>
          <a:noFill/>
          <a:ln/>
        </p:spPr>
        <p:txBody>
          <a:bodyPr wrap="square" lIns="0" tIns="0" rIns="0" bIns="0" rtlCol="0" anchor="ctr"/>
          <a:lstStyle/>
          <a:p>
            <a:pPr indent="0" marL="0">
              <a:lnSpc>
                <a:spcPct val="120000"/>
              </a:lnSpc>
              <a:buNone/>
            </a:pPr>
            <a:r>
              <a:rPr lang="en-US" sz="1050" dirty="0">
                <a:solidFill>
                  <a:srgbClr val="1E293B"/>
                </a:solidFill>
                <a:latin typeface="Calibri" pitchFamily="34" charset="0"/>
                <a:ea typeface="Calibri" pitchFamily="34" charset="-122"/>
                <a:cs typeface="Calibri" pitchFamily="34" charset="-120"/>
              </a:rPr>
              <a:t>本格稼働向けA/Bテスト</a:t>
            </a:r>
            <a:endParaRPr lang="en-US" sz="1050" dirty="0"/>
          </a:p>
        </p:txBody>
      </p:sp>
      <p:sp>
        <p:nvSpPr>
          <p:cNvPr id="40" name="Shape 38"/>
          <p:cNvSpPr/>
          <p:nvPr/>
        </p:nvSpPr>
        <p:spPr>
          <a:xfrm>
            <a:off x="6254496" y="2148840"/>
            <a:ext cx="2743200" cy="2697480"/>
          </a:xfrm>
          <a:prstGeom prst="roundRect">
            <a:avLst>
              <a:gd name="adj" fmla="val 3390"/>
            </a:avLst>
          </a:prstGeom>
          <a:solidFill>
            <a:srgbClr val="F8FAFC"/>
          </a:solidFill>
          <a:ln w="12700">
            <a:solidFill>
              <a:srgbClr val="CBD5E1"/>
            </a:solidFill>
            <a:prstDash val="solid"/>
          </a:ln>
          <a:effectLst>
            <a:outerShdw sx="100000" sy="100000" kx="0" ky="0" algn="bl" rotWithShape="0" blurRad="101600" dist="38100" dir="2700000">
              <a:srgbClr val="000000">
                <a:alpha val="12000"/>
              </a:srgbClr>
            </a:outerShdw>
          </a:effectLst>
        </p:spPr>
      </p:sp>
      <p:sp>
        <p:nvSpPr>
          <p:cNvPr id="41" name="Shape 39"/>
          <p:cNvSpPr/>
          <p:nvPr/>
        </p:nvSpPr>
        <p:spPr>
          <a:xfrm>
            <a:off x="6254496" y="2148840"/>
            <a:ext cx="2743200" cy="402336"/>
          </a:xfrm>
          <a:prstGeom prst="rect">
            <a:avLst/>
          </a:prstGeom>
          <a:solidFill>
            <a:srgbClr val="059669"/>
          </a:solidFill>
          <a:ln/>
        </p:spPr>
      </p:sp>
      <p:sp>
        <p:nvSpPr>
          <p:cNvPr id="42" name="Text 40"/>
          <p:cNvSpPr/>
          <p:nvPr/>
        </p:nvSpPr>
        <p:spPr>
          <a:xfrm>
            <a:off x="6345936" y="2148840"/>
            <a:ext cx="2560320" cy="402336"/>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本格稼働・成果創出</a:t>
            </a:r>
            <a:endParaRPr lang="en-US" sz="1200" dirty="0"/>
          </a:p>
        </p:txBody>
      </p:sp>
      <p:sp>
        <p:nvSpPr>
          <p:cNvPr id="43" name="Text 41"/>
          <p:cNvSpPr/>
          <p:nvPr/>
        </p:nvSpPr>
        <p:spPr>
          <a:xfrm>
            <a:off x="6364224" y="2633472"/>
            <a:ext cx="182880" cy="365760"/>
          </a:xfrm>
          <a:prstGeom prst="rect">
            <a:avLst/>
          </a:prstGeom>
          <a:noFill/>
          <a:ln/>
        </p:spPr>
        <p:txBody>
          <a:bodyPr wrap="square" lIns="0" tIns="0" rIns="0" bIns="0" rtlCol="0" anchor="ctr"/>
          <a:lstStyle/>
          <a:p>
            <a:pPr indent="0" marL="0">
              <a:buNone/>
            </a:pPr>
            <a:r>
              <a:rPr lang="en-US" sz="1100" dirty="0">
                <a:solidFill>
                  <a:srgbClr val="059669"/>
                </a:solidFill>
              </a:rPr>
              <a:t>▸</a:t>
            </a:r>
            <a:endParaRPr lang="en-US" sz="1100" dirty="0"/>
          </a:p>
        </p:txBody>
      </p:sp>
      <p:sp>
        <p:nvSpPr>
          <p:cNvPr id="44" name="Text 42"/>
          <p:cNvSpPr/>
          <p:nvPr/>
        </p:nvSpPr>
        <p:spPr>
          <a:xfrm>
            <a:off x="6565392" y="2633472"/>
            <a:ext cx="2322576" cy="365760"/>
          </a:xfrm>
          <a:prstGeom prst="rect">
            <a:avLst/>
          </a:prstGeom>
          <a:noFill/>
          <a:ln/>
        </p:spPr>
        <p:txBody>
          <a:bodyPr wrap="square" lIns="0" tIns="0" rIns="0" bIns="0" rtlCol="0" anchor="ctr"/>
          <a:lstStyle/>
          <a:p>
            <a:pPr indent="0" marL="0">
              <a:lnSpc>
                <a:spcPct val="120000"/>
              </a:lnSpc>
              <a:buNone/>
            </a:pPr>
            <a:r>
              <a:rPr lang="en-US" sz="1050" dirty="0">
                <a:solidFill>
                  <a:srgbClr val="1E293B"/>
                </a:solidFill>
                <a:latin typeface="Calibri" pitchFamily="34" charset="0"/>
                <a:ea typeface="Calibri" pitchFamily="34" charset="-122"/>
                <a:cs typeface="Calibri" pitchFamily="34" charset="-120"/>
              </a:rPr>
              <a:t>大量架電開始（月 1〜3万件）</a:t>
            </a:r>
            <a:endParaRPr lang="en-US" sz="1050" dirty="0"/>
          </a:p>
        </p:txBody>
      </p:sp>
      <p:sp>
        <p:nvSpPr>
          <p:cNvPr id="45" name="Text 43"/>
          <p:cNvSpPr/>
          <p:nvPr/>
        </p:nvSpPr>
        <p:spPr>
          <a:xfrm>
            <a:off x="6364224" y="3163824"/>
            <a:ext cx="182880" cy="365760"/>
          </a:xfrm>
          <a:prstGeom prst="rect">
            <a:avLst/>
          </a:prstGeom>
          <a:noFill/>
          <a:ln/>
        </p:spPr>
        <p:txBody>
          <a:bodyPr wrap="square" lIns="0" tIns="0" rIns="0" bIns="0" rtlCol="0" anchor="ctr"/>
          <a:lstStyle/>
          <a:p>
            <a:pPr indent="0" marL="0">
              <a:buNone/>
            </a:pPr>
            <a:r>
              <a:rPr lang="en-US" sz="1100" dirty="0">
                <a:solidFill>
                  <a:srgbClr val="059669"/>
                </a:solidFill>
              </a:rPr>
              <a:t>▸</a:t>
            </a:r>
            <a:endParaRPr lang="en-US" sz="1100" dirty="0"/>
          </a:p>
        </p:txBody>
      </p:sp>
      <p:sp>
        <p:nvSpPr>
          <p:cNvPr id="46" name="Text 44"/>
          <p:cNvSpPr/>
          <p:nvPr/>
        </p:nvSpPr>
        <p:spPr>
          <a:xfrm>
            <a:off x="6565392" y="3163824"/>
            <a:ext cx="2322576" cy="365760"/>
          </a:xfrm>
          <a:prstGeom prst="rect">
            <a:avLst/>
          </a:prstGeom>
          <a:noFill/>
          <a:ln/>
        </p:spPr>
        <p:txBody>
          <a:bodyPr wrap="square" lIns="0" tIns="0" rIns="0" bIns="0" rtlCol="0" anchor="ctr"/>
          <a:lstStyle/>
          <a:p>
            <a:pPr indent="0" marL="0">
              <a:lnSpc>
                <a:spcPct val="120000"/>
              </a:lnSpc>
              <a:buNone/>
            </a:pPr>
            <a:r>
              <a:rPr lang="en-US" sz="1050" dirty="0">
                <a:solidFill>
                  <a:srgbClr val="1E293B"/>
                </a:solidFill>
                <a:latin typeface="Calibri" pitchFamily="34" charset="0"/>
                <a:ea typeface="Calibri" pitchFamily="34" charset="-122"/>
                <a:cs typeface="Calibri" pitchFamily="34" charset="-120"/>
              </a:rPr>
              <a:t>AIスクリーニング→人間クロージング</a:t>
            </a:r>
            <a:endParaRPr lang="en-US" sz="1050" dirty="0"/>
          </a:p>
        </p:txBody>
      </p:sp>
      <p:sp>
        <p:nvSpPr>
          <p:cNvPr id="47" name="Text 45"/>
          <p:cNvSpPr/>
          <p:nvPr/>
        </p:nvSpPr>
        <p:spPr>
          <a:xfrm>
            <a:off x="6364224" y="3694176"/>
            <a:ext cx="182880" cy="365760"/>
          </a:xfrm>
          <a:prstGeom prst="rect">
            <a:avLst/>
          </a:prstGeom>
          <a:noFill/>
          <a:ln/>
        </p:spPr>
        <p:txBody>
          <a:bodyPr wrap="square" lIns="0" tIns="0" rIns="0" bIns="0" rtlCol="0" anchor="ctr"/>
          <a:lstStyle/>
          <a:p>
            <a:pPr indent="0" marL="0">
              <a:buNone/>
            </a:pPr>
            <a:r>
              <a:rPr lang="en-US" sz="1100" dirty="0">
                <a:solidFill>
                  <a:srgbClr val="059669"/>
                </a:solidFill>
              </a:rPr>
              <a:t>▸</a:t>
            </a:r>
            <a:endParaRPr lang="en-US" sz="1100" dirty="0"/>
          </a:p>
        </p:txBody>
      </p:sp>
      <p:sp>
        <p:nvSpPr>
          <p:cNvPr id="48" name="Text 46"/>
          <p:cNvSpPr/>
          <p:nvPr/>
        </p:nvSpPr>
        <p:spPr>
          <a:xfrm>
            <a:off x="6565392" y="3694176"/>
            <a:ext cx="2322576" cy="365760"/>
          </a:xfrm>
          <a:prstGeom prst="rect">
            <a:avLst/>
          </a:prstGeom>
          <a:noFill/>
          <a:ln/>
        </p:spPr>
        <p:txBody>
          <a:bodyPr wrap="square" lIns="0" tIns="0" rIns="0" bIns="0" rtlCol="0" anchor="ctr"/>
          <a:lstStyle/>
          <a:p>
            <a:pPr indent="0" marL="0">
              <a:lnSpc>
                <a:spcPct val="120000"/>
              </a:lnSpc>
              <a:buNone/>
            </a:pPr>
            <a:r>
              <a:rPr lang="en-US" sz="1050" dirty="0">
                <a:solidFill>
                  <a:srgbClr val="1E293B"/>
                </a:solidFill>
                <a:latin typeface="Calibri" pitchFamily="34" charset="0"/>
                <a:ea typeface="Calibri" pitchFamily="34" charset="-122"/>
                <a:cs typeface="Calibri" pitchFamily="34" charset="-120"/>
              </a:rPr>
              <a:t>週次KPIレポート確認・改善</a:t>
            </a:r>
            <a:endParaRPr lang="en-US" sz="1050" dirty="0"/>
          </a:p>
        </p:txBody>
      </p:sp>
      <p:sp>
        <p:nvSpPr>
          <p:cNvPr id="49" name="Text 47"/>
          <p:cNvSpPr/>
          <p:nvPr/>
        </p:nvSpPr>
        <p:spPr>
          <a:xfrm>
            <a:off x="6364224" y="4224528"/>
            <a:ext cx="182880" cy="365760"/>
          </a:xfrm>
          <a:prstGeom prst="rect">
            <a:avLst/>
          </a:prstGeom>
          <a:noFill/>
          <a:ln/>
        </p:spPr>
        <p:txBody>
          <a:bodyPr wrap="square" lIns="0" tIns="0" rIns="0" bIns="0" rtlCol="0" anchor="ctr"/>
          <a:lstStyle/>
          <a:p>
            <a:pPr indent="0" marL="0">
              <a:buNone/>
            </a:pPr>
            <a:r>
              <a:rPr lang="en-US" sz="1100" dirty="0">
                <a:solidFill>
                  <a:srgbClr val="059669"/>
                </a:solidFill>
              </a:rPr>
              <a:t>▸</a:t>
            </a:r>
            <a:endParaRPr lang="en-US" sz="1100" dirty="0"/>
          </a:p>
        </p:txBody>
      </p:sp>
      <p:sp>
        <p:nvSpPr>
          <p:cNvPr id="50" name="Text 48"/>
          <p:cNvSpPr/>
          <p:nvPr/>
        </p:nvSpPr>
        <p:spPr>
          <a:xfrm>
            <a:off x="6565392" y="4224528"/>
            <a:ext cx="2322576" cy="365760"/>
          </a:xfrm>
          <a:prstGeom prst="rect">
            <a:avLst/>
          </a:prstGeom>
          <a:noFill/>
          <a:ln/>
        </p:spPr>
        <p:txBody>
          <a:bodyPr wrap="square" lIns="0" tIns="0" rIns="0" bIns="0" rtlCol="0" anchor="ctr"/>
          <a:lstStyle/>
          <a:p>
            <a:pPr indent="0" marL="0">
              <a:lnSpc>
                <a:spcPct val="120000"/>
              </a:lnSpc>
              <a:buNone/>
            </a:pPr>
            <a:r>
              <a:rPr lang="en-US" sz="1050" dirty="0">
                <a:solidFill>
                  <a:srgbClr val="1E293B"/>
                </a:solidFill>
                <a:latin typeface="Calibri" pitchFamily="34" charset="0"/>
                <a:ea typeface="Calibri" pitchFamily="34" charset="-122"/>
                <a:cs typeface="Calibri" pitchFamily="34" charset="-120"/>
              </a:rPr>
              <a:t>3ヶ月でROI確認・アポ単価算出</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F1A3E"/>
          </a:solidFill>
          <a:ln/>
        </p:spPr>
      </p:sp>
      <p:sp>
        <p:nvSpPr>
          <p:cNvPr id="3" name="Text 1"/>
          <p:cNvSpPr/>
          <p:nvPr/>
        </p:nvSpPr>
        <p:spPr>
          <a:xfrm>
            <a:off x="457200" y="91440"/>
            <a:ext cx="8229600" cy="347472"/>
          </a:xfrm>
          <a:prstGeom prst="rect">
            <a:avLst/>
          </a:prstGeom>
          <a:noFill/>
          <a:ln/>
        </p:spPr>
        <p:txBody>
          <a:bodyPr wrap="square" lIns="0" tIns="0" rIns="0" bIns="0" rtlCol="0" anchor="ctr"/>
          <a:lstStyle/>
          <a:p>
            <a:pPr indent="0" marL="0">
              <a:buNone/>
            </a:pPr>
            <a:r>
              <a:rPr lang="en-US" sz="1100" b="1" spc="200" kern="0" dirty="0">
                <a:solidFill>
                  <a:srgbClr val="3B82F6"/>
                </a:solidFill>
                <a:latin typeface="Calibri" pitchFamily="34" charset="0"/>
                <a:ea typeface="Calibri" pitchFamily="34" charset="-122"/>
                <a:cs typeface="Calibri" pitchFamily="34" charset="-120"/>
              </a:rPr>
              <a:t>09  PDCA改善サイクル</a:t>
            </a:r>
            <a:endParaRPr lang="en-US" sz="1100" dirty="0"/>
          </a:p>
        </p:txBody>
      </p:sp>
      <p:sp>
        <p:nvSpPr>
          <p:cNvPr id="4" name="Text 2"/>
          <p:cNvSpPr/>
          <p:nvPr/>
        </p:nvSpPr>
        <p:spPr>
          <a:xfrm>
            <a:off x="457200" y="438912"/>
            <a:ext cx="8229600" cy="420624"/>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通話ログ分析 → スクリプト改善</a:t>
            </a:r>
            <a:endParaRPr lang="en-US" sz="2400" dirty="0"/>
          </a:p>
        </p:txBody>
      </p:sp>
      <p:sp>
        <p:nvSpPr>
          <p:cNvPr id="5" name="Shape 3"/>
          <p:cNvSpPr/>
          <p:nvPr/>
        </p:nvSpPr>
        <p:spPr>
          <a:xfrm>
            <a:off x="941832" y="1993392"/>
            <a:ext cx="1133856" cy="1133856"/>
          </a:xfrm>
          <a:prstGeom prst="ellipse">
            <a:avLst/>
          </a:prstGeom>
          <a:solidFill>
            <a:srgbClr val="1E3A8A"/>
          </a:solidFill>
          <a:ln/>
          <a:effectLst>
            <a:outerShdw sx="100000" sy="100000" kx="0" ky="0" algn="bl" rotWithShape="0" blurRad="101600" dist="38100" dir="2700000">
              <a:srgbClr val="000000">
                <a:alpha val="12000"/>
              </a:srgbClr>
            </a:outerShdw>
          </a:effectLst>
        </p:spPr>
      </p:sp>
      <p:sp>
        <p:nvSpPr>
          <p:cNvPr id="6" name="Text 4"/>
          <p:cNvSpPr/>
          <p:nvPr/>
        </p:nvSpPr>
        <p:spPr>
          <a:xfrm>
            <a:off x="941832" y="1993392"/>
            <a:ext cx="1133856"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a:t>
            </a:r>
            <a:endParaRPr lang="en-US" sz="1600" dirty="0"/>
          </a:p>
          <a:p>
            <a:pPr algn="ctr" indent="0" marL="0">
              <a:buNone/>
            </a:pPr>
            <a:r>
              <a:rPr lang="en-US" sz="1600" b="1" dirty="0">
                <a:solidFill>
                  <a:srgbClr val="FFFFFF"/>
                </a:solidFill>
                <a:latin typeface="Calibri" pitchFamily="34" charset="0"/>
                <a:ea typeface="Calibri" pitchFamily="34" charset="-122"/>
                <a:cs typeface="Calibri" pitchFamily="34" charset="-120"/>
              </a:rPr>
              <a:t>PLAN</a:t>
            </a:r>
            <a:endParaRPr lang="en-US" sz="1600" dirty="0"/>
          </a:p>
        </p:txBody>
      </p:sp>
      <p:sp>
        <p:nvSpPr>
          <p:cNvPr id="7" name="Text 5"/>
          <p:cNvSpPr/>
          <p:nvPr/>
        </p:nvSpPr>
        <p:spPr>
          <a:xfrm>
            <a:off x="941832" y="2560320"/>
            <a:ext cx="1133856" cy="475488"/>
          </a:xfrm>
          <a:prstGeom prst="rect">
            <a:avLst/>
          </a:prstGeom>
          <a:noFill/>
          <a:ln/>
        </p:spPr>
        <p:txBody>
          <a:bodyPr wrap="square" lIns="0" tIns="0" rIns="0" bIns="0" rtlCol="0" anchor="ctr"/>
          <a:lstStyle/>
          <a:p>
            <a:pPr algn="ctr" indent="0" marL="0">
              <a:lnSpc>
                <a:spcPct val="130000"/>
              </a:lnSpc>
              <a:buNone/>
            </a:pPr>
            <a:r>
              <a:rPr lang="en-US" sz="800" dirty="0">
                <a:solidFill>
                  <a:srgbClr val="CBD5E1"/>
                </a:solidFill>
                <a:latin typeface="Calibri" pitchFamily="34" charset="0"/>
                <a:ea typeface="Calibri" pitchFamily="34" charset="-122"/>
                <a:cs typeface="Calibri" pitchFamily="34" charset="-120"/>
              </a:rPr>
              <a:t>キーワード設計</a:t>
            </a:r>
            <a:endParaRPr lang="en-US" sz="800" dirty="0"/>
          </a:p>
          <a:p>
            <a:pPr algn="ctr" indent="0" marL="0">
              <a:lnSpc>
                <a:spcPct val="130000"/>
              </a:lnSpc>
              <a:buNone/>
            </a:pPr>
            <a:r>
              <a:rPr lang="en-US" sz="800" dirty="0">
                <a:solidFill>
                  <a:srgbClr val="CBD5E1"/>
                </a:solidFill>
                <a:latin typeface="Calibri" pitchFamily="34" charset="0"/>
                <a:ea typeface="Calibri" pitchFamily="34" charset="-122"/>
                <a:cs typeface="Calibri" pitchFamily="34" charset="-120"/>
              </a:rPr>
              <a:t>スクリプト構成</a:t>
            </a:r>
            <a:endParaRPr lang="en-US" sz="800" dirty="0"/>
          </a:p>
        </p:txBody>
      </p:sp>
      <p:sp>
        <p:nvSpPr>
          <p:cNvPr id="8" name="Shape 6"/>
          <p:cNvSpPr/>
          <p:nvPr/>
        </p:nvSpPr>
        <p:spPr>
          <a:xfrm>
            <a:off x="2313432" y="1993392"/>
            <a:ext cx="1133856" cy="1133856"/>
          </a:xfrm>
          <a:prstGeom prst="ellipse">
            <a:avLst/>
          </a:prstGeom>
          <a:solidFill>
            <a:srgbClr val="059669"/>
          </a:solidFill>
          <a:ln/>
          <a:effectLst>
            <a:outerShdw sx="100000" sy="100000" kx="0" ky="0" algn="bl" rotWithShape="0" blurRad="101600" dist="38100" dir="2700000">
              <a:srgbClr val="000000">
                <a:alpha val="12000"/>
              </a:srgbClr>
            </a:outerShdw>
          </a:effectLst>
        </p:spPr>
      </p:sp>
      <p:sp>
        <p:nvSpPr>
          <p:cNvPr id="9" name="Text 7"/>
          <p:cNvSpPr/>
          <p:nvPr/>
        </p:nvSpPr>
        <p:spPr>
          <a:xfrm>
            <a:off x="2313432" y="1993392"/>
            <a:ext cx="1133856"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D</a:t>
            </a:r>
            <a:endParaRPr lang="en-US" sz="1600" dirty="0"/>
          </a:p>
          <a:p>
            <a:pPr algn="ctr" indent="0" marL="0">
              <a:buNone/>
            </a:pPr>
            <a:r>
              <a:rPr lang="en-US" sz="1600" b="1" dirty="0">
                <a:solidFill>
                  <a:srgbClr val="FFFFFF"/>
                </a:solidFill>
                <a:latin typeface="Calibri" pitchFamily="34" charset="0"/>
                <a:ea typeface="Calibri" pitchFamily="34" charset="-122"/>
                <a:cs typeface="Calibri" pitchFamily="34" charset="-120"/>
              </a:rPr>
              <a:t>DO</a:t>
            </a:r>
            <a:endParaRPr lang="en-US" sz="1600" dirty="0"/>
          </a:p>
        </p:txBody>
      </p:sp>
      <p:sp>
        <p:nvSpPr>
          <p:cNvPr id="10" name="Text 8"/>
          <p:cNvSpPr/>
          <p:nvPr/>
        </p:nvSpPr>
        <p:spPr>
          <a:xfrm>
            <a:off x="2313432" y="2560320"/>
            <a:ext cx="1133856" cy="475488"/>
          </a:xfrm>
          <a:prstGeom prst="rect">
            <a:avLst/>
          </a:prstGeom>
          <a:noFill/>
          <a:ln/>
        </p:spPr>
        <p:txBody>
          <a:bodyPr wrap="square" lIns="0" tIns="0" rIns="0" bIns="0" rtlCol="0" anchor="ctr"/>
          <a:lstStyle/>
          <a:p>
            <a:pPr algn="ctr" indent="0" marL="0">
              <a:lnSpc>
                <a:spcPct val="130000"/>
              </a:lnSpc>
              <a:buNone/>
            </a:pPr>
            <a:r>
              <a:rPr lang="en-US" sz="800" dirty="0">
                <a:solidFill>
                  <a:srgbClr val="CBD5E1"/>
                </a:solidFill>
                <a:latin typeface="Calibri" pitchFamily="34" charset="0"/>
                <a:ea typeface="Calibri" pitchFamily="34" charset="-122"/>
                <a:cs typeface="Calibri" pitchFamily="34" charset="-120"/>
              </a:rPr>
              <a:t>発信実行</a:t>
            </a:r>
            <a:endParaRPr lang="en-US" sz="800" dirty="0"/>
          </a:p>
          <a:p>
            <a:pPr algn="ctr" indent="0" marL="0">
              <a:lnSpc>
                <a:spcPct val="130000"/>
              </a:lnSpc>
              <a:buNone/>
            </a:pPr>
            <a:r>
              <a:rPr lang="en-US" sz="800" dirty="0">
                <a:solidFill>
                  <a:srgbClr val="CBD5E1"/>
                </a:solidFill>
                <a:latin typeface="Calibri" pitchFamily="34" charset="0"/>
                <a:ea typeface="Calibri" pitchFamily="34" charset="-122"/>
                <a:cs typeface="Calibri" pitchFamily="34" charset="-120"/>
              </a:rPr>
              <a:t>通話録音</a:t>
            </a:r>
            <a:endParaRPr lang="en-US" sz="800" dirty="0"/>
          </a:p>
        </p:txBody>
      </p:sp>
      <p:sp>
        <p:nvSpPr>
          <p:cNvPr id="11" name="Shape 9"/>
          <p:cNvSpPr/>
          <p:nvPr/>
        </p:nvSpPr>
        <p:spPr>
          <a:xfrm>
            <a:off x="2313432" y="3364992"/>
            <a:ext cx="1133856" cy="1133856"/>
          </a:xfrm>
          <a:prstGeom prst="ellipse">
            <a:avLst/>
          </a:prstGeom>
          <a:solidFill>
            <a:srgbClr val="D97706"/>
          </a:solidFill>
          <a:ln/>
          <a:effectLst>
            <a:outerShdw sx="100000" sy="100000" kx="0" ky="0" algn="bl" rotWithShape="0" blurRad="101600" dist="38100" dir="2700000">
              <a:srgbClr val="000000">
                <a:alpha val="12000"/>
              </a:srgbClr>
            </a:outerShdw>
          </a:effectLst>
        </p:spPr>
      </p:sp>
      <p:sp>
        <p:nvSpPr>
          <p:cNvPr id="12" name="Text 10"/>
          <p:cNvSpPr/>
          <p:nvPr/>
        </p:nvSpPr>
        <p:spPr>
          <a:xfrm>
            <a:off x="2313432" y="3364992"/>
            <a:ext cx="1133856"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a:p>
            <a:pPr algn="ctr" indent="0" marL="0">
              <a:buNone/>
            </a:pPr>
            <a:r>
              <a:rPr lang="en-US" sz="1600" b="1" dirty="0">
                <a:solidFill>
                  <a:srgbClr val="FFFFFF"/>
                </a:solidFill>
                <a:latin typeface="Calibri" pitchFamily="34" charset="0"/>
                <a:ea typeface="Calibri" pitchFamily="34" charset="-122"/>
                <a:cs typeface="Calibri" pitchFamily="34" charset="-120"/>
              </a:rPr>
              <a:t>CHECK</a:t>
            </a:r>
            <a:endParaRPr lang="en-US" sz="1600" dirty="0"/>
          </a:p>
        </p:txBody>
      </p:sp>
      <p:sp>
        <p:nvSpPr>
          <p:cNvPr id="13" name="Text 11"/>
          <p:cNvSpPr/>
          <p:nvPr/>
        </p:nvSpPr>
        <p:spPr>
          <a:xfrm>
            <a:off x="2313432" y="3931920"/>
            <a:ext cx="1133856" cy="475488"/>
          </a:xfrm>
          <a:prstGeom prst="rect">
            <a:avLst/>
          </a:prstGeom>
          <a:noFill/>
          <a:ln/>
        </p:spPr>
        <p:txBody>
          <a:bodyPr wrap="square" lIns="0" tIns="0" rIns="0" bIns="0" rtlCol="0" anchor="ctr"/>
          <a:lstStyle/>
          <a:p>
            <a:pPr algn="ctr" indent="0" marL="0">
              <a:lnSpc>
                <a:spcPct val="130000"/>
              </a:lnSpc>
              <a:buNone/>
            </a:pPr>
            <a:r>
              <a:rPr lang="en-US" sz="800" dirty="0">
                <a:solidFill>
                  <a:srgbClr val="CBD5E1"/>
                </a:solidFill>
                <a:latin typeface="Calibri" pitchFamily="34" charset="0"/>
                <a:ea typeface="Calibri" pitchFamily="34" charset="-122"/>
                <a:cs typeface="Calibri" pitchFamily="34" charset="-120"/>
              </a:rPr>
              <a:t>ログ・文字起こし</a:t>
            </a:r>
            <a:endParaRPr lang="en-US" sz="800" dirty="0"/>
          </a:p>
          <a:p>
            <a:pPr algn="ctr" indent="0" marL="0">
              <a:lnSpc>
                <a:spcPct val="130000"/>
              </a:lnSpc>
              <a:buNone/>
            </a:pPr>
            <a:r>
              <a:rPr lang="en-US" sz="800" dirty="0">
                <a:solidFill>
                  <a:srgbClr val="CBD5E1"/>
                </a:solidFill>
                <a:latin typeface="Calibri" pitchFamily="34" charset="0"/>
                <a:ea typeface="Calibri" pitchFamily="34" charset="-122"/>
                <a:cs typeface="Calibri" pitchFamily="34" charset="-120"/>
              </a:rPr>
              <a:t>解析不能確認</a:t>
            </a:r>
            <a:endParaRPr lang="en-US" sz="800" dirty="0"/>
          </a:p>
        </p:txBody>
      </p:sp>
      <p:sp>
        <p:nvSpPr>
          <p:cNvPr id="14" name="Shape 12"/>
          <p:cNvSpPr/>
          <p:nvPr/>
        </p:nvSpPr>
        <p:spPr>
          <a:xfrm>
            <a:off x="941832" y="3364992"/>
            <a:ext cx="1133856" cy="1133856"/>
          </a:xfrm>
          <a:prstGeom prst="ellipse">
            <a:avLst/>
          </a:prstGeom>
          <a:solidFill>
            <a:srgbClr val="DC2626"/>
          </a:solidFill>
          <a:ln/>
          <a:effectLst>
            <a:outerShdw sx="100000" sy="100000" kx="0" ky="0" algn="bl" rotWithShape="0" blurRad="101600" dist="38100" dir="2700000">
              <a:srgbClr val="000000">
                <a:alpha val="12000"/>
              </a:srgbClr>
            </a:outerShdw>
          </a:effectLst>
        </p:spPr>
      </p:sp>
      <p:sp>
        <p:nvSpPr>
          <p:cNvPr id="15" name="Text 13"/>
          <p:cNvSpPr/>
          <p:nvPr/>
        </p:nvSpPr>
        <p:spPr>
          <a:xfrm>
            <a:off x="941832" y="3364992"/>
            <a:ext cx="1133856"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a:p>
            <a:pPr algn="ctr" indent="0" marL="0">
              <a:buNone/>
            </a:pPr>
            <a:r>
              <a:rPr lang="en-US" sz="1600" b="1" dirty="0">
                <a:solidFill>
                  <a:srgbClr val="FFFFFF"/>
                </a:solidFill>
                <a:latin typeface="Calibri" pitchFamily="34" charset="0"/>
                <a:ea typeface="Calibri" pitchFamily="34" charset="-122"/>
                <a:cs typeface="Calibri" pitchFamily="34" charset="-120"/>
              </a:rPr>
              <a:t>ACT</a:t>
            </a:r>
            <a:endParaRPr lang="en-US" sz="1600" dirty="0"/>
          </a:p>
        </p:txBody>
      </p:sp>
      <p:sp>
        <p:nvSpPr>
          <p:cNvPr id="16" name="Text 14"/>
          <p:cNvSpPr/>
          <p:nvPr/>
        </p:nvSpPr>
        <p:spPr>
          <a:xfrm>
            <a:off x="941832" y="3931920"/>
            <a:ext cx="1133856" cy="475488"/>
          </a:xfrm>
          <a:prstGeom prst="rect">
            <a:avLst/>
          </a:prstGeom>
          <a:noFill/>
          <a:ln/>
        </p:spPr>
        <p:txBody>
          <a:bodyPr wrap="square" lIns="0" tIns="0" rIns="0" bIns="0" rtlCol="0" anchor="ctr"/>
          <a:lstStyle/>
          <a:p>
            <a:pPr algn="ctr" indent="0" marL="0">
              <a:lnSpc>
                <a:spcPct val="130000"/>
              </a:lnSpc>
              <a:buNone/>
            </a:pPr>
            <a:r>
              <a:rPr lang="en-US" sz="800" dirty="0">
                <a:solidFill>
                  <a:srgbClr val="CBD5E1"/>
                </a:solidFill>
                <a:latin typeface="Calibri" pitchFamily="34" charset="0"/>
                <a:ea typeface="Calibri" pitchFamily="34" charset="-122"/>
                <a:cs typeface="Calibri" pitchFamily="34" charset="-120"/>
              </a:rPr>
              <a:t>キーワード追加</a:t>
            </a:r>
            <a:endParaRPr lang="en-US" sz="800" dirty="0"/>
          </a:p>
          <a:p>
            <a:pPr algn="ctr" indent="0" marL="0">
              <a:lnSpc>
                <a:spcPct val="130000"/>
              </a:lnSpc>
              <a:buNone/>
            </a:pPr>
            <a:r>
              <a:rPr lang="en-US" sz="800" dirty="0">
                <a:solidFill>
                  <a:srgbClr val="CBD5E1"/>
                </a:solidFill>
                <a:latin typeface="Calibri" pitchFamily="34" charset="0"/>
                <a:ea typeface="Calibri" pitchFamily="34" charset="-122"/>
                <a:cs typeface="Calibri" pitchFamily="34" charset="-120"/>
              </a:rPr>
              <a:t>優先順位修正</a:t>
            </a:r>
            <a:endParaRPr lang="en-US" sz="800" dirty="0"/>
          </a:p>
        </p:txBody>
      </p:sp>
      <p:sp>
        <p:nvSpPr>
          <p:cNvPr id="17" name="Text 15"/>
          <p:cNvSpPr/>
          <p:nvPr/>
        </p:nvSpPr>
        <p:spPr>
          <a:xfrm>
            <a:off x="1920240" y="2898648"/>
            <a:ext cx="548640" cy="548640"/>
          </a:xfrm>
          <a:prstGeom prst="rect">
            <a:avLst/>
          </a:prstGeom>
          <a:noFill/>
          <a:ln/>
        </p:spPr>
        <p:txBody>
          <a:bodyPr wrap="square" lIns="0" tIns="0" rIns="0" bIns="0" rtlCol="0" anchor="ctr"/>
          <a:lstStyle/>
          <a:p>
            <a:pPr algn="ctr" indent="0" marL="0">
              <a:buNone/>
            </a:pPr>
            <a:r>
              <a:rPr lang="en-US" sz="2800" dirty="0">
                <a:solidFill>
                  <a:srgbClr val="CBD5E1"/>
                </a:solidFill>
              </a:rPr>
              <a:t>↻</a:t>
            </a:r>
            <a:endParaRPr lang="en-US" sz="2800" dirty="0"/>
          </a:p>
        </p:txBody>
      </p:sp>
      <p:sp>
        <p:nvSpPr>
          <p:cNvPr id="18" name="Shape 16"/>
          <p:cNvSpPr/>
          <p:nvPr/>
        </p:nvSpPr>
        <p:spPr>
          <a:xfrm>
            <a:off x="4572000" y="1024128"/>
            <a:ext cx="4297680" cy="914400"/>
          </a:xfrm>
          <a:prstGeom prst="roundRect">
            <a:avLst>
              <a:gd name="adj" fmla="val 8000"/>
            </a:avLst>
          </a:prstGeom>
          <a:solidFill>
            <a:srgbClr val="F8FAFC"/>
          </a:solidFill>
          <a:ln w="12700">
            <a:solidFill>
              <a:srgbClr val="CBD5E1"/>
            </a:solidFill>
            <a:prstDash val="solid"/>
          </a:ln>
          <a:effectLst>
            <a:outerShdw sx="100000" sy="100000" kx="0" ky="0" algn="bl" rotWithShape="0" blurRad="50800" dist="12700" dir="2700000">
              <a:srgbClr val="000000">
                <a:alpha val="12000"/>
              </a:srgbClr>
            </a:outerShdw>
          </a:effectLst>
        </p:spPr>
      </p:sp>
      <p:sp>
        <p:nvSpPr>
          <p:cNvPr id="19" name="Text 17"/>
          <p:cNvSpPr/>
          <p:nvPr/>
        </p:nvSpPr>
        <p:spPr>
          <a:xfrm>
            <a:off x="4663440" y="1115568"/>
            <a:ext cx="45720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0" name="Text 18"/>
          <p:cNvSpPr/>
          <p:nvPr/>
        </p:nvSpPr>
        <p:spPr>
          <a:xfrm>
            <a:off x="5212080" y="1115568"/>
            <a:ext cx="3474720" cy="256032"/>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通話ログを確認</a:t>
            </a:r>
            <a:endParaRPr lang="en-US" sz="1200" dirty="0"/>
          </a:p>
        </p:txBody>
      </p:sp>
      <p:sp>
        <p:nvSpPr>
          <p:cNvPr id="21" name="Text 19"/>
          <p:cNvSpPr/>
          <p:nvPr/>
        </p:nvSpPr>
        <p:spPr>
          <a:xfrm>
            <a:off x="5212080" y="1408176"/>
            <a:ext cx="3474720" cy="438912"/>
          </a:xfrm>
          <a:prstGeom prst="rect">
            <a:avLst/>
          </a:prstGeom>
          <a:noFill/>
          <a:ln/>
        </p:spPr>
        <p:txBody>
          <a:bodyPr wrap="square" lIns="0" tIns="0" rIns="0" bIns="0" rtlCol="0" anchor="ctr"/>
          <a:lstStyle/>
          <a:p>
            <a:pPr indent="0" marL="0">
              <a:lnSpc>
                <a:spcPct val="135000"/>
              </a:lnSpc>
              <a:buNone/>
            </a:pPr>
            <a:r>
              <a:rPr lang="en-US" sz="1000" dirty="0">
                <a:solidFill>
                  <a:srgbClr val="64748B"/>
                </a:solidFill>
                <a:latin typeface="Calibri" pitchFamily="34" charset="0"/>
                <a:ea typeface="Calibri" pitchFamily="34" charset="-122"/>
                <a:cs typeface="Calibri" pitchFamily="34" charset="-120"/>
              </a:rPr>
              <a:t>発信タスク → 通話詳細 → 通話記録で文字起こしを確認。解析不能になった発言を特定する。</a:t>
            </a:r>
            <a:endParaRPr lang="en-US" sz="1000" dirty="0"/>
          </a:p>
        </p:txBody>
      </p:sp>
      <p:sp>
        <p:nvSpPr>
          <p:cNvPr id="22" name="Shape 20"/>
          <p:cNvSpPr/>
          <p:nvPr/>
        </p:nvSpPr>
        <p:spPr>
          <a:xfrm>
            <a:off x="4572000" y="2029968"/>
            <a:ext cx="4297680" cy="914400"/>
          </a:xfrm>
          <a:prstGeom prst="roundRect">
            <a:avLst>
              <a:gd name="adj" fmla="val 8000"/>
            </a:avLst>
          </a:prstGeom>
          <a:solidFill>
            <a:srgbClr val="F8FAFC"/>
          </a:solidFill>
          <a:ln w="12700">
            <a:solidFill>
              <a:srgbClr val="CBD5E1"/>
            </a:solidFill>
            <a:prstDash val="solid"/>
          </a:ln>
          <a:effectLst>
            <a:outerShdw sx="100000" sy="100000" kx="0" ky="0" algn="bl" rotWithShape="0" blurRad="50800" dist="12700" dir="2700000">
              <a:srgbClr val="000000">
                <a:alpha val="12000"/>
              </a:srgbClr>
            </a:outerShdw>
          </a:effectLst>
        </p:spPr>
      </p:sp>
      <p:sp>
        <p:nvSpPr>
          <p:cNvPr id="23" name="Text 21"/>
          <p:cNvSpPr/>
          <p:nvPr/>
        </p:nvSpPr>
        <p:spPr>
          <a:xfrm>
            <a:off x="4663440" y="2121408"/>
            <a:ext cx="45720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4" name="Text 22"/>
          <p:cNvSpPr/>
          <p:nvPr/>
        </p:nvSpPr>
        <p:spPr>
          <a:xfrm>
            <a:off x="5212080" y="2121408"/>
            <a:ext cx="3474720" cy="256032"/>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キーワードを追加</a:t>
            </a:r>
            <a:endParaRPr lang="en-US" sz="1200" dirty="0"/>
          </a:p>
        </p:txBody>
      </p:sp>
      <p:sp>
        <p:nvSpPr>
          <p:cNvPr id="25" name="Text 23"/>
          <p:cNvSpPr/>
          <p:nvPr/>
        </p:nvSpPr>
        <p:spPr>
          <a:xfrm>
            <a:off x="5212080" y="2414016"/>
            <a:ext cx="3474720" cy="438912"/>
          </a:xfrm>
          <a:prstGeom prst="rect">
            <a:avLst/>
          </a:prstGeom>
          <a:noFill/>
          <a:ln/>
        </p:spPr>
        <p:txBody>
          <a:bodyPr wrap="square" lIns="0" tIns="0" rIns="0" bIns="0" rtlCol="0" anchor="ctr"/>
          <a:lstStyle/>
          <a:p>
            <a:pPr indent="0" marL="0">
              <a:lnSpc>
                <a:spcPct val="135000"/>
              </a:lnSpc>
              <a:buNone/>
            </a:pPr>
            <a:r>
              <a:rPr lang="en-US" sz="1000" dirty="0">
                <a:solidFill>
                  <a:srgbClr val="64748B"/>
                </a:solidFill>
                <a:latin typeface="Calibri" pitchFamily="34" charset="0"/>
                <a:ea typeface="Calibri" pitchFamily="34" charset="-122"/>
                <a:cs typeface="Calibri" pitchFamily="34" charset="-120"/>
              </a:rPr>
              <a:t>「私がオーナーです」など未登録表現を「私が担当者」グループに追加。正規表現も活用。</a:t>
            </a:r>
            <a:endParaRPr lang="en-US" sz="1000" dirty="0"/>
          </a:p>
        </p:txBody>
      </p:sp>
      <p:sp>
        <p:nvSpPr>
          <p:cNvPr id="26" name="Shape 24"/>
          <p:cNvSpPr/>
          <p:nvPr/>
        </p:nvSpPr>
        <p:spPr>
          <a:xfrm>
            <a:off x="4572000" y="3035808"/>
            <a:ext cx="4297680" cy="914400"/>
          </a:xfrm>
          <a:prstGeom prst="roundRect">
            <a:avLst>
              <a:gd name="adj" fmla="val 8000"/>
            </a:avLst>
          </a:prstGeom>
          <a:solidFill>
            <a:srgbClr val="F8FAFC"/>
          </a:solidFill>
          <a:ln w="12700">
            <a:solidFill>
              <a:srgbClr val="CBD5E1"/>
            </a:solidFill>
            <a:prstDash val="solid"/>
          </a:ln>
          <a:effectLst>
            <a:outerShdw sx="100000" sy="100000" kx="0" ky="0" algn="bl" rotWithShape="0" blurRad="50800" dist="12700" dir="2700000">
              <a:srgbClr val="000000">
                <a:alpha val="12000"/>
              </a:srgbClr>
            </a:outerShdw>
          </a:effectLst>
        </p:spPr>
      </p:sp>
      <p:sp>
        <p:nvSpPr>
          <p:cNvPr id="27" name="Text 25"/>
          <p:cNvSpPr/>
          <p:nvPr/>
        </p:nvSpPr>
        <p:spPr>
          <a:xfrm>
            <a:off x="4663440" y="3127248"/>
            <a:ext cx="45720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8" name="Text 26"/>
          <p:cNvSpPr/>
          <p:nvPr/>
        </p:nvSpPr>
        <p:spPr>
          <a:xfrm>
            <a:off x="5212080" y="3127248"/>
            <a:ext cx="3474720" cy="256032"/>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解析不能プロセス作成</a:t>
            </a:r>
            <a:endParaRPr lang="en-US" sz="1200" dirty="0"/>
          </a:p>
        </p:txBody>
      </p:sp>
      <p:sp>
        <p:nvSpPr>
          <p:cNvPr id="29" name="Text 27"/>
          <p:cNvSpPr/>
          <p:nvPr/>
        </p:nvSpPr>
        <p:spPr>
          <a:xfrm>
            <a:off x="5212080" y="3419856"/>
            <a:ext cx="3474720" cy="438912"/>
          </a:xfrm>
          <a:prstGeom prst="rect">
            <a:avLst/>
          </a:prstGeom>
          <a:noFill/>
          <a:ln/>
        </p:spPr>
        <p:txBody>
          <a:bodyPr wrap="square" lIns="0" tIns="0" rIns="0" bIns="0" rtlCol="0" anchor="ctr"/>
          <a:lstStyle/>
          <a:p>
            <a:pPr indent="0" marL="0">
              <a:lnSpc>
                <a:spcPct val="135000"/>
              </a:lnSpc>
              <a:buNone/>
            </a:pPr>
            <a:r>
              <a:rPr lang="en-US" sz="1000" dirty="0">
                <a:solidFill>
                  <a:srgbClr val="64748B"/>
                </a:solidFill>
                <a:latin typeface="Calibri" pitchFamily="34" charset="0"/>
                <a:ea typeface="Calibri" pitchFamily="34" charset="-122"/>
                <a:cs typeface="Calibri" pitchFamily="34" charset="-120"/>
              </a:rPr>
              <a:t>どの出口にもヒットしない発言の受け皿プロセスを作成。再質問で担当者確認を促す。</a:t>
            </a:r>
            <a:endParaRPr lang="en-US" sz="1000" dirty="0"/>
          </a:p>
        </p:txBody>
      </p:sp>
      <p:sp>
        <p:nvSpPr>
          <p:cNvPr id="30" name="Shape 28"/>
          <p:cNvSpPr/>
          <p:nvPr/>
        </p:nvSpPr>
        <p:spPr>
          <a:xfrm>
            <a:off x="4572000" y="4041648"/>
            <a:ext cx="4297680" cy="914400"/>
          </a:xfrm>
          <a:prstGeom prst="roundRect">
            <a:avLst>
              <a:gd name="adj" fmla="val 8000"/>
            </a:avLst>
          </a:prstGeom>
          <a:solidFill>
            <a:srgbClr val="F8FAFC"/>
          </a:solidFill>
          <a:ln w="12700">
            <a:solidFill>
              <a:srgbClr val="CBD5E1"/>
            </a:solidFill>
            <a:prstDash val="solid"/>
          </a:ln>
          <a:effectLst>
            <a:outerShdw sx="100000" sy="100000" kx="0" ky="0" algn="bl" rotWithShape="0" blurRad="50800" dist="12700" dir="2700000">
              <a:srgbClr val="000000">
                <a:alpha val="12000"/>
              </a:srgbClr>
            </a:outerShdw>
          </a:effectLst>
        </p:spPr>
      </p:sp>
      <p:sp>
        <p:nvSpPr>
          <p:cNvPr id="31" name="Text 29"/>
          <p:cNvSpPr/>
          <p:nvPr/>
        </p:nvSpPr>
        <p:spPr>
          <a:xfrm>
            <a:off x="4663440" y="4133088"/>
            <a:ext cx="45720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32" name="Text 30"/>
          <p:cNvSpPr/>
          <p:nvPr/>
        </p:nvSpPr>
        <p:spPr>
          <a:xfrm>
            <a:off x="5212080" y="4133088"/>
            <a:ext cx="3474720" cy="256032"/>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優先順位を調整</a:t>
            </a:r>
            <a:endParaRPr lang="en-US" sz="1200" dirty="0"/>
          </a:p>
        </p:txBody>
      </p:sp>
      <p:sp>
        <p:nvSpPr>
          <p:cNvPr id="33" name="Text 31"/>
          <p:cNvSpPr/>
          <p:nvPr/>
        </p:nvSpPr>
        <p:spPr>
          <a:xfrm>
            <a:off x="5212080" y="4425696"/>
            <a:ext cx="3474720" cy="438912"/>
          </a:xfrm>
          <a:prstGeom prst="rect">
            <a:avLst/>
          </a:prstGeom>
          <a:noFill/>
          <a:ln/>
        </p:spPr>
        <p:txBody>
          <a:bodyPr wrap="square" lIns="0" tIns="0" rIns="0" bIns="0" rtlCol="0" anchor="ctr"/>
          <a:lstStyle/>
          <a:p>
            <a:pPr indent="0" marL="0">
              <a:lnSpc>
                <a:spcPct val="135000"/>
              </a:lnSpc>
              <a:buNone/>
            </a:pPr>
            <a:r>
              <a:rPr lang="en-US" sz="1000" dirty="0">
                <a:solidFill>
                  <a:srgbClr val="64748B"/>
                </a:solidFill>
                <a:latin typeface="Calibri" pitchFamily="34" charset="0"/>
                <a:ea typeface="Calibri" pitchFamily="34" charset="-122"/>
                <a:cs typeface="Calibri" pitchFamily="34" charset="-120"/>
              </a:rPr>
              <a:t>複合発言（担当+拒否）への対応で「興味なし」を「私が担当者」より上位に設定する。</a:t>
            </a:r>
            <a:endParaRPr lang="en-US" sz="1000" dirty="0"/>
          </a:p>
        </p:txBody>
      </p:sp>
      <p:sp>
        <p:nvSpPr>
          <p:cNvPr id="34" name="Shape 32"/>
          <p:cNvSpPr/>
          <p:nvPr/>
        </p:nvSpPr>
        <p:spPr>
          <a:xfrm>
            <a:off x="4572000" y="4974336"/>
            <a:ext cx="4297680" cy="310896"/>
          </a:xfrm>
          <a:prstGeom prst="roundRect">
            <a:avLst>
              <a:gd name="adj" fmla="val 17647"/>
            </a:avLst>
          </a:prstGeom>
          <a:solidFill>
            <a:srgbClr val="F0FDF4"/>
          </a:solidFill>
          <a:ln w="12700">
            <a:solidFill>
              <a:srgbClr val="059669"/>
            </a:solidFill>
            <a:prstDash val="solid"/>
          </a:ln>
        </p:spPr>
      </p:sp>
      <p:sp>
        <p:nvSpPr>
          <p:cNvPr id="35" name="Text 33"/>
          <p:cNvSpPr/>
          <p:nvPr/>
        </p:nvSpPr>
        <p:spPr>
          <a:xfrm>
            <a:off x="4709160" y="4974336"/>
            <a:ext cx="4023360" cy="310896"/>
          </a:xfrm>
          <a:prstGeom prst="rect">
            <a:avLst/>
          </a:prstGeom>
          <a:noFill/>
          <a:ln/>
        </p:spPr>
        <p:txBody>
          <a:bodyPr wrap="square" lIns="0" tIns="0" rIns="0" bIns="0" rtlCol="0" anchor="ctr"/>
          <a:lstStyle/>
          <a:p>
            <a:pPr indent="0" marL="0">
              <a:buNone/>
            </a:pPr>
            <a:r>
              <a:rPr lang="en-US" sz="950" dirty="0">
                <a:solidFill>
                  <a:srgbClr val="065F46"/>
                </a:solidFill>
                <a:latin typeface="Calibri" pitchFamily="34" charset="0"/>
                <a:ea typeface="Calibri" pitchFamily="34" charset="-122"/>
                <a:cs typeface="Calibri" pitchFamily="34" charset="-120"/>
              </a:rPr>
              <a:t>✅ 編集後は「保存」と「公開」の両方を必ず押す。公開しないと変更が反映されない。</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F1A3E"/>
          </a:solidFill>
          <a:ln/>
        </p:spPr>
      </p:sp>
      <p:sp>
        <p:nvSpPr>
          <p:cNvPr id="3" name="Text 1"/>
          <p:cNvSpPr/>
          <p:nvPr/>
        </p:nvSpPr>
        <p:spPr>
          <a:xfrm>
            <a:off x="457200" y="91440"/>
            <a:ext cx="8229600" cy="347472"/>
          </a:xfrm>
          <a:prstGeom prst="rect">
            <a:avLst/>
          </a:prstGeom>
          <a:noFill/>
          <a:ln/>
        </p:spPr>
        <p:txBody>
          <a:bodyPr wrap="square" lIns="0" tIns="0" rIns="0" bIns="0" rtlCol="0" anchor="ctr"/>
          <a:lstStyle/>
          <a:p>
            <a:pPr indent="0" marL="0">
              <a:buNone/>
            </a:pPr>
            <a:r>
              <a:rPr lang="en-US" sz="1100" b="1" spc="200" kern="0" dirty="0">
                <a:solidFill>
                  <a:srgbClr val="3B82F6"/>
                </a:solidFill>
                <a:latin typeface="Calibri" pitchFamily="34" charset="0"/>
                <a:ea typeface="Calibri" pitchFamily="34" charset="-122"/>
                <a:cs typeface="Calibri" pitchFamily="34" charset="-120"/>
              </a:rPr>
              <a:t>10  よくある質問</a:t>
            </a:r>
            <a:endParaRPr lang="en-US" sz="1100" dirty="0"/>
          </a:p>
        </p:txBody>
      </p:sp>
      <p:sp>
        <p:nvSpPr>
          <p:cNvPr id="4" name="Text 2"/>
          <p:cNvSpPr/>
          <p:nvPr/>
        </p:nvSpPr>
        <p:spPr>
          <a:xfrm>
            <a:off x="457200" y="438912"/>
            <a:ext cx="8229600" cy="420624"/>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現場担当者向け FAQ</a:t>
            </a:r>
            <a:endParaRPr lang="en-US" sz="2400" dirty="0"/>
          </a:p>
        </p:txBody>
      </p:sp>
      <p:sp>
        <p:nvSpPr>
          <p:cNvPr id="5" name="Shape 3"/>
          <p:cNvSpPr/>
          <p:nvPr/>
        </p:nvSpPr>
        <p:spPr>
          <a:xfrm>
            <a:off x="365760" y="1005840"/>
            <a:ext cx="4251960" cy="1261872"/>
          </a:xfrm>
          <a:prstGeom prst="roundRect">
            <a:avLst>
              <a:gd name="adj" fmla="val 7246"/>
            </a:avLst>
          </a:prstGeom>
          <a:solidFill>
            <a:srgbClr val="F8FAFC"/>
          </a:solidFill>
          <a:ln w="12700">
            <a:solidFill>
              <a:srgbClr val="CBD5E1"/>
            </a:solidFill>
            <a:prstDash val="solid"/>
          </a:ln>
          <a:effectLst>
            <a:outerShdw sx="100000" sy="100000" kx="0" ky="0" algn="bl" rotWithShape="0" blurRad="50800" dist="12700" dir="2700000">
              <a:srgbClr val="000000">
                <a:alpha val="12000"/>
              </a:srgbClr>
            </a:outerShdw>
          </a:effectLst>
        </p:spPr>
      </p:sp>
      <p:sp>
        <p:nvSpPr>
          <p:cNvPr id="6" name="Shape 4"/>
          <p:cNvSpPr/>
          <p:nvPr/>
        </p:nvSpPr>
        <p:spPr>
          <a:xfrm>
            <a:off x="365760" y="1005840"/>
            <a:ext cx="4251960" cy="310896"/>
          </a:xfrm>
          <a:prstGeom prst="rect">
            <a:avLst/>
          </a:prstGeom>
          <a:solidFill>
            <a:srgbClr val="0F1A3E"/>
          </a:solidFill>
          <a:ln/>
        </p:spPr>
      </p:sp>
      <p:sp>
        <p:nvSpPr>
          <p:cNvPr id="7" name="Text 5"/>
          <p:cNvSpPr/>
          <p:nvPr/>
        </p:nvSpPr>
        <p:spPr>
          <a:xfrm>
            <a:off x="457200" y="1005840"/>
            <a:ext cx="4069080" cy="31089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Q  顧客にAIだとバレませんか？</a:t>
            </a:r>
            <a:endParaRPr lang="en-US" sz="1100" dirty="0"/>
          </a:p>
        </p:txBody>
      </p:sp>
      <p:sp>
        <p:nvSpPr>
          <p:cNvPr id="8" name="Text 6"/>
          <p:cNvSpPr/>
          <p:nvPr/>
        </p:nvSpPr>
        <p:spPr>
          <a:xfrm>
            <a:off x="457200" y="1371600"/>
            <a:ext cx="4069080" cy="804672"/>
          </a:xfrm>
          <a:prstGeom prst="rect">
            <a:avLst/>
          </a:prstGeom>
          <a:noFill/>
          <a:ln/>
        </p:spPr>
        <p:txBody>
          <a:bodyPr wrap="square" lIns="0" tIns="0" rIns="0" bIns="0" rtlCol="0" anchor="ctr"/>
          <a:lstStyle/>
          <a:p>
            <a:pPr indent="0" marL="0">
              <a:lnSpc>
                <a:spcPct val="145000"/>
              </a:lnSpc>
              <a:buNone/>
            </a:pPr>
            <a:r>
              <a:rPr lang="en-US" sz="1050" dirty="0">
                <a:solidFill>
                  <a:srgbClr val="1E293B"/>
                </a:solidFill>
                <a:latin typeface="Calibri" pitchFamily="34" charset="0"/>
                <a:ea typeface="Calibri" pitchFamily="34" charset="-122"/>
                <a:cs typeface="Calibri" pitchFamily="34" charset="-120"/>
              </a:rPr>
              <a:t>A  人間の音声を録音して使用。業界別スクリプトでカスタマイズしており、自然な受け答えが可能です。</a:t>
            </a:r>
            <a:endParaRPr lang="en-US" sz="1050" dirty="0"/>
          </a:p>
        </p:txBody>
      </p:sp>
      <p:sp>
        <p:nvSpPr>
          <p:cNvPr id="9" name="Shape 7"/>
          <p:cNvSpPr/>
          <p:nvPr/>
        </p:nvSpPr>
        <p:spPr>
          <a:xfrm>
            <a:off x="4846320" y="1005840"/>
            <a:ext cx="4251960" cy="1261872"/>
          </a:xfrm>
          <a:prstGeom prst="roundRect">
            <a:avLst>
              <a:gd name="adj" fmla="val 7246"/>
            </a:avLst>
          </a:prstGeom>
          <a:solidFill>
            <a:srgbClr val="F8FAFC"/>
          </a:solidFill>
          <a:ln w="12700">
            <a:solidFill>
              <a:srgbClr val="CBD5E1"/>
            </a:solidFill>
            <a:prstDash val="solid"/>
          </a:ln>
          <a:effectLst>
            <a:outerShdw sx="100000" sy="100000" kx="0" ky="0" algn="bl" rotWithShape="0" blurRad="50800" dist="12700" dir="2700000">
              <a:srgbClr val="000000">
                <a:alpha val="12000"/>
              </a:srgbClr>
            </a:outerShdw>
          </a:effectLst>
        </p:spPr>
      </p:sp>
      <p:sp>
        <p:nvSpPr>
          <p:cNvPr id="10" name="Shape 8"/>
          <p:cNvSpPr/>
          <p:nvPr/>
        </p:nvSpPr>
        <p:spPr>
          <a:xfrm>
            <a:off x="4846320" y="1005840"/>
            <a:ext cx="4251960" cy="310896"/>
          </a:xfrm>
          <a:prstGeom prst="rect">
            <a:avLst/>
          </a:prstGeom>
          <a:solidFill>
            <a:srgbClr val="0F1A3E"/>
          </a:solidFill>
          <a:ln/>
        </p:spPr>
      </p:sp>
      <p:sp>
        <p:nvSpPr>
          <p:cNvPr id="11" name="Text 9"/>
          <p:cNvSpPr/>
          <p:nvPr/>
        </p:nvSpPr>
        <p:spPr>
          <a:xfrm>
            <a:off x="4937760" y="1005840"/>
            <a:ext cx="4069080" cy="31089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Q  人間のオペレーターは不要になりますか？</a:t>
            </a:r>
            <a:endParaRPr lang="en-US" sz="1100" dirty="0"/>
          </a:p>
        </p:txBody>
      </p:sp>
      <p:sp>
        <p:nvSpPr>
          <p:cNvPr id="12" name="Text 10"/>
          <p:cNvSpPr/>
          <p:nvPr/>
        </p:nvSpPr>
        <p:spPr>
          <a:xfrm>
            <a:off x="4937760" y="1371600"/>
            <a:ext cx="4069080" cy="804672"/>
          </a:xfrm>
          <a:prstGeom prst="rect">
            <a:avLst/>
          </a:prstGeom>
          <a:noFill/>
          <a:ln/>
        </p:spPr>
        <p:txBody>
          <a:bodyPr wrap="square" lIns="0" tIns="0" rIns="0" bIns="0" rtlCol="0" anchor="ctr"/>
          <a:lstStyle/>
          <a:p>
            <a:pPr indent="0" marL="0">
              <a:lnSpc>
                <a:spcPct val="145000"/>
              </a:lnSpc>
              <a:buNone/>
            </a:pPr>
            <a:r>
              <a:rPr lang="en-US" sz="1050" dirty="0">
                <a:solidFill>
                  <a:srgbClr val="1E293B"/>
                </a:solidFill>
                <a:latin typeface="Calibri" pitchFamily="34" charset="0"/>
                <a:ea typeface="Calibri" pitchFamily="34" charset="-122"/>
                <a:cs typeface="Calibri" pitchFamily="34" charset="-120"/>
              </a:rPr>
              <a:t>A  AIはスクリーニングを担当、有望な見込み客のみ担当者に引き継ぎます。クロージングは人間が対応します。</a:t>
            </a:r>
            <a:endParaRPr lang="en-US" sz="1050" dirty="0"/>
          </a:p>
        </p:txBody>
      </p:sp>
      <p:sp>
        <p:nvSpPr>
          <p:cNvPr id="13" name="Shape 11"/>
          <p:cNvSpPr/>
          <p:nvPr/>
        </p:nvSpPr>
        <p:spPr>
          <a:xfrm>
            <a:off x="365760" y="2377440"/>
            <a:ext cx="4251960" cy="1261872"/>
          </a:xfrm>
          <a:prstGeom prst="roundRect">
            <a:avLst>
              <a:gd name="adj" fmla="val 7246"/>
            </a:avLst>
          </a:prstGeom>
          <a:solidFill>
            <a:srgbClr val="F8FAFC"/>
          </a:solidFill>
          <a:ln w="12700">
            <a:solidFill>
              <a:srgbClr val="CBD5E1"/>
            </a:solidFill>
            <a:prstDash val="solid"/>
          </a:ln>
          <a:effectLst>
            <a:outerShdw sx="100000" sy="100000" kx="0" ky="0" algn="bl" rotWithShape="0" blurRad="50800" dist="12700" dir="2700000">
              <a:srgbClr val="000000">
                <a:alpha val="12000"/>
              </a:srgbClr>
            </a:outerShdw>
          </a:effectLst>
        </p:spPr>
      </p:sp>
      <p:sp>
        <p:nvSpPr>
          <p:cNvPr id="14" name="Shape 12"/>
          <p:cNvSpPr/>
          <p:nvPr/>
        </p:nvSpPr>
        <p:spPr>
          <a:xfrm>
            <a:off x="365760" y="2377440"/>
            <a:ext cx="4251960" cy="310896"/>
          </a:xfrm>
          <a:prstGeom prst="rect">
            <a:avLst/>
          </a:prstGeom>
          <a:solidFill>
            <a:srgbClr val="0F1A3E"/>
          </a:solidFill>
          <a:ln/>
        </p:spPr>
      </p:sp>
      <p:sp>
        <p:nvSpPr>
          <p:cNvPr id="15" name="Text 13"/>
          <p:cNvSpPr/>
          <p:nvPr/>
        </p:nvSpPr>
        <p:spPr>
          <a:xfrm>
            <a:off x="457200" y="2377440"/>
            <a:ext cx="4069080" cy="31089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Q  1日に何件発信できますか？</a:t>
            </a:r>
            <a:endParaRPr lang="en-US" sz="1100" dirty="0"/>
          </a:p>
        </p:txBody>
      </p:sp>
      <p:sp>
        <p:nvSpPr>
          <p:cNvPr id="16" name="Text 14"/>
          <p:cNvSpPr/>
          <p:nvPr/>
        </p:nvSpPr>
        <p:spPr>
          <a:xfrm>
            <a:off x="457200" y="2743200"/>
            <a:ext cx="4069080" cy="804672"/>
          </a:xfrm>
          <a:prstGeom prst="rect">
            <a:avLst/>
          </a:prstGeom>
          <a:noFill/>
          <a:ln/>
        </p:spPr>
        <p:txBody>
          <a:bodyPr wrap="square" lIns="0" tIns="0" rIns="0" bIns="0" rtlCol="0" anchor="ctr"/>
          <a:lstStyle/>
          <a:p>
            <a:pPr indent="0" marL="0">
              <a:lnSpc>
                <a:spcPct val="145000"/>
              </a:lnSpc>
              <a:buNone/>
            </a:pPr>
            <a:r>
              <a:rPr lang="en-US" sz="1050" dirty="0">
                <a:solidFill>
                  <a:srgbClr val="1E293B"/>
                </a:solidFill>
                <a:latin typeface="Calibri" pitchFamily="34" charset="0"/>
                <a:ea typeface="Calibri" pitchFamily="34" charset="-122"/>
                <a:cs typeface="Calibri" pitchFamily="34" charset="-120"/>
              </a:rPr>
              <a:t>A  最大8回線同時架電。1名で月3〜10万コールが可能（従来比約10倍）。24時間365日稼働します。</a:t>
            </a:r>
            <a:endParaRPr lang="en-US" sz="1050" dirty="0"/>
          </a:p>
        </p:txBody>
      </p:sp>
      <p:sp>
        <p:nvSpPr>
          <p:cNvPr id="17" name="Shape 15"/>
          <p:cNvSpPr/>
          <p:nvPr/>
        </p:nvSpPr>
        <p:spPr>
          <a:xfrm>
            <a:off x="4846320" y="2377440"/>
            <a:ext cx="4251960" cy="1261872"/>
          </a:xfrm>
          <a:prstGeom prst="roundRect">
            <a:avLst>
              <a:gd name="adj" fmla="val 7246"/>
            </a:avLst>
          </a:prstGeom>
          <a:solidFill>
            <a:srgbClr val="F8FAFC"/>
          </a:solidFill>
          <a:ln w="12700">
            <a:solidFill>
              <a:srgbClr val="CBD5E1"/>
            </a:solidFill>
            <a:prstDash val="solid"/>
          </a:ln>
          <a:effectLst>
            <a:outerShdw sx="100000" sy="100000" kx="0" ky="0" algn="bl" rotWithShape="0" blurRad="50800" dist="12700" dir="2700000">
              <a:srgbClr val="000000">
                <a:alpha val="12000"/>
              </a:srgbClr>
            </a:outerShdw>
          </a:effectLst>
        </p:spPr>
      </p:sp>
      <p:sp>
        <p:nvSpPr>
          <p:cNvPr id="18" name="Shape 16"/>
          <p:cNvSpPr/>
          <p:nvPr/>
        </p:nvSpPr>
        <p:spPr>
          <a:xfrm>
            <a:off x="4846320" y="2377440"/>
            <a:ext cx="4251960" cy="310896"/>
          </a:xfrm>
          <a:prstGeom prst="rect">
            <a:avLst/>
          </a:prstGeom>
          <a:solidFill>
            <a:srgbClr val="0F1A3E"/>
          </a:solidFill>
          <a:ln/>
        </p:spPr>
      </p:sp>
      <p:sp>
        <p:nvSpPr>
          <p:cNvPr id="19" name="Text 17"/>
          <p:cNvSpPr/>
          <p:nvPr/>
        </p:nvSpPr>
        <p:spPr>
          <a:xfrm>
            <a:off x="4937760" y="2377440"/>
            <a:ext cx="4069080" cy="31089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Q  架電結果はどこで確認できますか？</a:t>
            </a:r>
            <a:endParaRPr lang="en-US" sz="1100" dirty="0"/>
          </a:p>
        </p:txBody>
      </p:sp>
      <p:sp>
        <p:nvSpPr>
          <p:cNvPr id="20" name="Text 18"/>
          <p:cNvSpPr/>
          <p:nvPr/>
        </p:nvSpPr>
        <p:spPr>
          <a:xfrm>
            <a:off x="4937760" y="2743200"/>
            <a:ext cx="4069080" cy="804672"/>
          </a:xfrm>
          <a:prstGeom prst="rect">
            <a:avLst/>
          </a:prstGeom>
          <a:noFill/>
          <a:ln/>
        </p:spPr>
        <p:txBody>
          <a:bodyPr wrap="square" lIns="0" tIns="0" rIns="0" bIns="0" rtlCol="0" anchor="ctr"/>
          <a:lstStyle/>
          <a:p>
            <a:pPr indent="0" marL="0">
              <a:lnSpc>
                <a:spcPct val="145000"/>
              </a:lnSpc>
              <a:buNone/>
            </a:pPr>
            <a:r>
              <a:rPr lang="en-US" sz="1050" dirty="0">
                <a:solidFill>
                  <a:srgbClr val="1E293B"/>
                </a:solidFill>
                <a:latin typeface="Calibri" pitchFamily="34" charset="0"/>
                <a:ea typeface="Calibri" pitchFamily="34" charset="-122"/>
                <a:cs typeface="Calibri" pitchFamily="34" charset="-120"/>
              </a:rPr>
              <a:t>A  管理画面（robot.topsaler.cc）でリアルタイムにデータ確認・分析が可能です。週次レポートも提供されます。</a:t>
            </a:r>
            <a:endParaRPr lang="en-US" sz="1050" dirty="0"/>
          </a:p>
        </p:txBody>
      </p:sp>
      <p:sp>
        <p:nvSpPr>
          <p:cNvPr id="21" name="Shape 19"/>
          <p:cNvSpPr/>
          <p:nvPr/>
        </p:nvSpPr>
        <p:spPr>
          <a:xfrm>
            <a:off x="365760" y="3749040"/>
            <a:ext cx="4251960" cy="1261872"/>
          </a:xfrm>
          <a:prstGeom prst="roundRect">
            <a:avLst>
              <a:gd name="adj" fmla="val 7246"/>
            </a:avLst>
          </a:prstGeom>
          <a:solidFill>
            <a:srgbClr val="F8FAFC"/>
          </a:solidFill>
          <a:ln w="12700">
            <a:solidFill>
              <a:srgbClr val="CBD5E1"/>
            </a:solidFill>
            <a:prstDash val="solid"/>
          </a:ln>
          <a:effectLst>
            <a:outerShdw sx="100000" sy="100000" kx="0" ky="0" algn="bl" rotWithShape="0" blurRad="50800" dist="12700" dir="2700000">
              <a:srgbClr val="000000">
                <a:alpha val="12000"/>
              </a:srgbClr>
            </a:outerShdw>
          </a:effectLst>
        </p:spPr>
      </p:sp>
      <p:sp>
        <p:nvSpPr>
          <p:cNvPr id="22" name="Shape 20"/>
          <p:cNvSpPr/>
          <p:nvPr/>
        </p:nvSpPr>
        <p:spPr>
          <a:xfrm>
            <a:off x="365760" y="3749040"/>
            <a:ext cx="4251960" cy="310896"/>
          </a:xfrm>
          <a:prstGeom prst="rect">
            <a:avLst/>
          </a:prstGeom>
          <a:solidFill>
            <a:srgbClr val="0F1A3E"/>
          </a:solidFill>
          <a:ln/>
        </p:spPr>
      </p:sp>
      <p:sp>
        <p:nvSpPr>
          <p:cNvPr id="23" name="Text 21"/>
          <p:cNvSpPr/>
          <p:nvPr/>
        </p:nvSpPr>
        <p:spPr>
          <a:xfrm>
            <a:off x="457200" y="3749040"/>
            <a:ext cx="4069080" cy="31089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Q  問題が発生したときの連絡先は？</a:t>
            </a:r>
            <a:endParaRPr lang="en-US" sz="1100" dirty="0"/>
          </a:p>
        </p:txBody>
      </p:sp>
      <p:sp>
        <p:nvSpPr>
          <p:cNvPr id="24" name="Text 22"/>
          <p:cNvSpPr/>
          <p:nvPr/>
        </p:nvSpPr>
        <p:spPr>
          <a:xfrm>
            <a:off x="457200" y="4114800"/>
            <a:ext cx="4069080" cy="804672"/>
          </a:xfrm>
          <a:prstGeom prst="rect">
            <a:avLst/>
          </a:prstGeom>
          <a:noFill/>
          <a:ln/>
        </p:spPr>
        <p:txBody>
          <a:bodyPr wrap="square" lIns="0" tIns="0" rIns="0" bIns="0" rtlCol="0" anchor="ctr"/>
          <a:lstStyle/>
          <a:p>
            <a:pPr indent="0" marL="0">
              <a:lnSpc>
                <a:spcPct val="145000"/>
              </a:lnSpc>
              <a:buNone/>
            </a:pPr>
            <a:r>
              <a:rPr lang="en-US" sz="1050" dirty="0">
                <a:solidFill>
                  <a:srgbClr val="1E293B"/>
                </a:solidFill>
                <a:latin typeface="Calibri" pitchFamily="34" charset="0"/>
                <a:ea typeface="Calibri" pitchFamily="34" charset="-122"/>
                <a:cs typeface="Calibri" pitchFamily="34" charset="-120"/>
              </a:rPr>
              <a:t>A  ChatWork「（株）アプクロ×AIテレサポご案内」にて担当者（李様・山田様・青木様）へ即座に連絡してください。</a:t>
            </a:r>
            <a:endParaRPr lang="en-US" sz="1050" dirty="0"/>
          </a:p>
        </p:txBody>
      </p:sp>
      <p:sp>
        <p:nvSpPr>
          <p:cNvPr id="25" name="Shape 23"/>
          <p:cNvSpPr/>
          <p:nvPr/>
        </p:nvSpPr>
        <p:spPr>
          <a:xfrm>
            <a:off x="4846320" y="3749040"/>
            <a:ext cx="4251960" cy="1261872"/>
          </a:xfrm>
          <a:prstGeom prst="roundRect">
            <a:avLst>
              <a:gd name="adj" fmla="val 7246"/>
            </a:avLst>
          </a:prstGeom>
          <a:solidFill>
            <a:srgbClr val="F8FAFC"/>
          </a:solidFill>
          <a:ln w="12700">
            <a:solidFill>
              <a:srgbClr val="CBD5E1"/>
            </a:solidFill>
            <a:prstDash val="solid"/>
          </a:ln>
          <a:effectLst>
            <a:outerShdw sx="100000" sy="100000" kx="0" ky="0" algn="bl" rotWithShape="0" blurRad="50800" dist="12700" dir="2700000">
              <a:srgbClr val="000000">
                <a:alpha val="12000"/>
              </a:srgbClr>
            </a:outerShdw>
          </a:effectLst>
        </p:spPr>
      </p:sp>
      <p:sp>
        <p:nvSpPr>
          <p:cNvPr id="26" name="Shape 24"/>
          <p:cNvSpPr/>
          <p:nvPr/>
        </p:nvSpPr>
        <p:spPr>
          <a:xfrm>
            <a:off x="4846320" y="3749040"/>
            <a:ext cx="4251960" cy="310896"/>
          </a:xfrm>
          <a:prstGeom prst="rect">
            <a:avLst/>
          </a:prstGeom>
          <a:solidFill>
            <a:srgbClr val="0F1A3E"/>
          </a:solidFill>
          <a:ln/>
        </p:spPr>
      </p:sp>
      <p:sp>
        <p:nvSpPr>
          <p:cNvPr id="27" name="Text 25"/>
          <p:cNvSpPr/>
          <p:nvPr/>
        </p:nvSpPr>
        <p:spPr>
          <a:xfrm>
            <a:off x="4937760" y="3749040"/>
            <a:ext cx="4069080" cy="31089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Q  スクリプトはいつ変更できますか？</a:t>
            </a:r>
            <a:endParaRPr lang="en-US" sz="1100" dirty="0"/>
          </a:p>
        </p:txBody>
      </p:sp>
      <p:sp>
        <p:nvSpPr>
          <p:cNvPr id="28" name="Text 26"/>
          <p:cNvSpPr/>
          <p:nvPr/>
        </p:nvSpPr>
        <p:spPr>
          <a:xfrm>
            <a:off x="4937760" y="4114800"/>
            <a:ext cx="4069080" cy="804672"/>
          </a:xfrm>
          <a:prstGeom prst="rect">
            <a:avLst/>
          </a:prstGeom>
          <a:noFill/>
          <a:ln/>
        </p:spPr>
        <p:txBody>
          <a:bodyPr wrap="square" lIns="0" tIns="0" rIns="0" bIns="0" rtlCol="0" anchor="ctr"/>
          <a:lstStyle/>
          <a:p>
            <a:pPr indent="0" marL="0">
              <a:lnSpc>
                <a:spcPct val="145000"/>
              </a:lnSpc>
              <a:buNone/>
            </a:pPr>
            <a:r>
              <a:rPr lang="en-US" sz="1050" dirty="0">
                <a:solidFill>
                  <a:srgbClr val="1E293B"/>
                </a:solidFill>
                <a:latin typeface="Calibri" pitchFamily="34" charset="0"/>
                <a:ea typeface="Calibri" pitchFamily="34" charset="-122"/>
                <a:cs typeface="Calibri" pitchFamily="34" charset="-120"/>
              </a:rPr>
              <a:t>A  管理画面から随時変更可能。SoloptiLink担当者との月次MTGでもスクリプト改善の伴走サポートがあります。</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A3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B82F6"/>
          </a:solidFill>
          <a:ln/>
        </p:spPr>
      </p:sp>
      <p:sp>
        <p:nvSpPr>
          <p:cNvPr id="3" name="Text 1"/>
          <p:cNvSpPr/>
          <p:nvPr/>
        </p:nvSpPr>
        <p:spPr>
          <a:xfrm>
            <a:off x="548640" y="164592"/>
            <a:ext cx="8229600" cy="329184"/>
          </a:xfrm>
          <a:prstGeom prst="rect">
            <a:avLst/>
          </a:prstGeom>
          <a:noFill/>
          <a:ln/>
        </p:spPr>
        <p:txBody>
          <a:bodyPr wrap="square" lIns="0" tIns="0" rIns="0" bIns="0" rtlCol="0" anchor="ctr"/>
          <a:lstStyle/>
          <a:p>
            <a:pPr indent="0" marL="0">
              <a:buNone/>
            </a:pPr>
            <a:r>
              <a:rPr lang="en-US" sz="1100" b="1" spc="200" kern="0" dirty="0">
                <a:solidFill>
                  <a:srgbClr val="3B82F6"/>
                </a:solidFill>
                <a:latin typeface="Calibri" pitchFamily="34" charset="0"/>
                <a:ea typeface="Calibri" pitchFamily="34" charset="-122"/>
                <a:cs typeface="Calibri" pitchFamily="34" charset="-120"/>
              </a:rPr>
              <a:t>10  ツールURL &amp; リンク集</a:t>
            </a:r>
            <a:endParaRPr lang="en-US" sz="1100" dirty="0"/>
          </a:p>
        </p:txBody>
      </p:sp>
      <p:sp>
        <p:nvSpPr>
          <p:cNvPr id="4" name="Text 2"/>
          <p:cNvSpPr/>
          <p:nvPr/>
        </p:nvSpPr>
        <p:spPr>
          <a:xfrm>
            <a:off x="548640" y="475488"/>
            <a:ext cx="8229600" cy="438912"/>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すぐに使えるURLをまとめました</a:t>
            </a:r>
            <a:endParaRPr lang="en-US" sz="2600" dirty="0"/>
          </a:p>
        </p:txBody>
      </p:sp>
      <p:sp>
        <p:nvSpPr>
          <p:cNvPr id="5" name="Shape 3"/>
          <p:cNvSpPr/>
          <p:nvPr/>
        </p:nvSpPr>
        <p:spPr>
          <a:xfrm>
            <a:off x="457200" y="1078992"/>
            <a:ext cx="8229600" cy="594360"/>
          </a:xfrm>
          <a:prstGeom prst="roundRect">
            <a:avLst>
              <a:gd name="adj" fmla="val 12308"/>
            </a:avLst>
          </a:prstGeom>
          <a:solidFill>
            <a:srgbClr val="1E3A8A"/>
          </a:solidFill>
          <a:ln w="12700">
            <a:solidFill>
              <a:srgbClr val="2563EB"/>
            </a:solidFill>
            <a:prstDash val="solid"/>
          </a:ln>
        </p:spPr>
      </p:sp>
      <p:sp>
        <p:nvSpPr>
          <p:cNvPr id="6" name="Text 4"/>
          <p:cNvSpPr/>
          <p:nvPr/>
        </p:nvSpPr>
        <p:spPr>
          <a:xfrm>
            <a:off x="594360" y="1143000"/>
            <a:ext cx="411480" cy="41148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7" name="Shape 5"/>
          <p:cNvSpPr/>
          <p:nvPr/>
        </p:nvSpPr>
        <p:spPr>
          <a:xfrm>
            <a:off x="1078992" y="1225296"/>
            <a:ext cx="777240" cy="182880"/>
          </a:xfrm>
          <a:prstGeom prst="roundRect">
            <a:avLst>
              <a:gd name="adj" fmla="val 20000"/>
            </a:avLst>
          </a:prstGeom>
          <a:solidFill>
            <a:srgbClr val="1E40AF"/>
          </a:solidFill>
          <a:ln/>
        </p:spPr>
      </p:sp>
      <p:sp>
        <p:nvSpPr>
          <p:cNvPr id="8" name="Text 6"/>
          <p:cNvSpPr/>
          <p:nvPr/>
        </p:nvSpPr>
        <p:spPr>
          <a:xfrm>
            <a:off x="1078992" y="1225296"/>
            <a:ext cx="777240" cy="182880"/>
          </a:xfrm>
          <a:prstGeom prst="rect">
            <a:avLst/>
          </a:prstGeom>
          <a:noFill/>
          <a:ln/>
        </p:spPr>
        <p:txBody>
          <a:bodyPr wrap="square" lIns="0" tIns="0" rIns="0" bIns="0" rtlCol="0" anchor="ctr"/>
          <a:lstStyle/>
          <a:p>
            <a:pPr algn="ctr" indent="0" marL="0">
              <a:buNone/>
            </a:pPr>
            <a:r>
              <a:rPr lang="en-US" sz="800" dirty="0">
                <a:solidFill>
                  <a:srgbClr val="93C5FD"/>
                </a:solidFill>
                <a:latin typeface="Calibri" pitchFamily="34" charset="0"/>
                <a:ea typeface="Calibri" pitchFamily="34" charset="-122"/>
                <a:cs typeface="Calibri" pitchFamily="34" charset="-120"/>
              </a:rPr>
              <a:t>録音ツール</a:t>
            </a:r>
            <a:endParaRPr lang="en-US" sz="800" dirty="0"/>
          </a:p>
        </p:txBody>
      </p:sp>
      <p:sp>
        <p:nvSpPr>
          <p:cNvPr id="9" name="Text 7"/>
          <p:cNvSpPr/>
          <p:nvPr/>
        </p:nvSpPr>
        <p:spPr>
          <a:xfrm>
            <a:off x="1938528" y="1143000"/>
            <a:ext cx="4114800" cy="23774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AIテレサポ専用録音アプリ</a:t>
            </a:r>
            <a:endParaRPr lang="en-US" sz="1200" dirty="0"/>
          </a:p>
        </p:txBody>
      </p:sp>
      <p:sp>
        <p:nvSpPr>
          <p:cNvPr id="10" name="Text 8"/>
          <p:cNvSpPr/>
          <p:nvPr/>
        </p:nvSpPr>
        <p:spPr>
          <a:xfrm>
            <a:off x="1938528" y="1399032"/>
            <a:ext cx="4114800" cy="201168"/>
          </a:xfrm>
          <a:prstGeom prst="rect">
            <a:avLst/>
          </a:prstGeom>
          <a:noFill/>
          <a:ln/>
        </p:spPr>
        <p:txBody>
          <a:bodyPr wrap="square" lIns="0" tIns="0" rIns="0" bIns="0" rtlCol="0" anchor="ctr"/>
          <a:lstStyle/>
          <a:p>
            <a:pPr indent="0" marL="0">
              <a:buNone/>
            </a:pPr>
            <a:r>
              <a:rPr lang="en-US" sz="900" dirty="0">
                <a:solidFill>
                  <a:srgbClr val="60A5FA"/>
                </a:solidFill>
                <a:latin typeface="Calibri" pitchFamily="34" charset="0"/>
                <a:ea typeface="Calibri" pitchFamily="34" charset="-122"/>
                <a:cs typeface="Calibri" pitchFamily="34" charset="-120"/>
              </a:rPr>
              <a:t>https://apclo-dev.github.io/aitelesa-recorder/</a:t>
            </a:r>
            <a:endParaRPr lang="en-US" sz="900" dirty="0"/>
          </a:p>
        </p:txBody>
      </p:sp>
      <p:sp>
        <p:nvSpPr>
          <p:cNvPr id="11" name="Text 9"/>
          <p:cNvSpPr/>
          <p:nvPr/>
        </p:nvSpPr>
        <p:spPr>
          <a:xfrm>
            <a:off x="6172200" y="1207008"/>
            <a:ext cx="2377440" cy="365760"/>
          </a:xfrm>
          <a:prstGeom prst="rect">
            <a:avLst/>
          </a:prstGeom>
          <a:noFill/>
          <a:ln/>
        </p:spPr>
        <p:txBody>
          <a:bodyPr wrap="square" lIns="0" tIns="0" rIns="0" bIns="0" rtlCol="0" anchor="ctr"/>
          <a:lstStyle/>
          <a:p>
            <a:pPr indent="0" marL="0">
              <a:lnSpc>
                <a:spcPct val="135000"/>
              </a:lnSpc>
              <a:buNone/>
            </a:pPr>
            <a:r>
              <a:rPr lang="en-US" sz="950" dirty="0">
                <a:solidFill>
                  <a:srgbClr val="93C5FD"/>
                </a:solidFill>
                <a:latin typeface="Calibri" pitchFamily="34" charset="0"/>
                <a:ea typeface="Calibri" pitchFamily="34" charset="-122"/>
                <a:cs typeface="Calibri" pitchFamily="34" charset="-120"/>
              </a:rPr>
              <a:t>WAV/MP3・階層フォルダ管理・デバイス永続保存</a:t>
            </a:r>
            <a:endParaRPr lang="en-US" sz="950" dirty="0"/>
          </a:p>
        </p:txBody>
      </p:sp>
      <p:sp>
        <p:nvSpPr>
          <p:cNvPr id="12" name="Shape 10"/>
          <p:cNvSpPr/>
          <p:nvPr/>
        </p:nvSpPr>
        <p:spPr>
          <a:xfrm>
            <a:off x="457200" y="1755648"/>
            <a:ext cx="8229600" cy="594360"/>
          </a:xfrm>
          <a:prstGeom prst="roundRect">
            <a:avLst>
              <a:gd name="adj" fmla="val 12308"/>
            </a:avLst>
          </a:prstGeom>
          <a:solidFill>
            <a:srgbClr val="1E3A8A"/>
          </a:solidFill>
          <a:ln w="12700">
            <a:solidFill>
              <a:srgbClr val="2563EB"/>
            </a:solidFill>
            <a:prstDash val="solid"/>
          </a:ln>
        </p:spPr>
      </p:sp>
      <p:sp>
        <p:nvSpPr>
          <p:cNvPr id="13" name="Text 11"/>
          <p:cNvSpPr/>
          <p:nvPr/>
        </p:nvSpPr>
        <p:spPr>
          <a:xfrm>
            <a:off x="594360" y="1819656"/>
            <a:ext cx="411480" cy="41148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4" name="Shape 12"/>
          <p:cNvSpPr/>
          <p:nvPr/>
        </p:nvSpPr>
        <p:spPr>
          <a:xfrm>
            <a:off x="1078992" y="1901952"/>
            <a:ext cx="777240" cy="182880"/>
          </a:xfrm>
          <a:prstGeom prst="roundRect">
            <a:avLst>
              <a:gd name="adj" fmla="val 20000"/>
            </a:avLst>
          </a:prstGeom>
          <a:solidFill>
            <a:srgbClr val="1E40AF"/>
          </a:solidFill>
          <a:ln/>
        </p:spPr>
      </p:sp>
      <p:sp>
        <p:nvSpPr>
          <p:cNvPr id="15" name="Text 13"/>
          <p:cNvSpPr/>
          <p:nvPr/>
        </p:nvSpPr>
        <p:spPr>
          <a:xfrm>
            <a:off x="1078992" y="1901952"/>
            <a:ext cx="777240" cy="182880"/>
          </a:xfrm>
          <a:prstGeom prst="rect">
            <a:avLst/>
          </a:prstGeom>
          <a:noFill/>
          <a:ln/>
        </p:spPr>
        <p:txBody>
          <a:bodyPr wrap="square" lIns="0" tIns="0" rIns="0" bIns="0" rtlCol="0" anchor="ctr"/>
          <a:lstStyle/>
          <a:p>
            <a:pPr algn="ctr" indent="0" marL="0">
              <a:buNone/>
            </a:pPr>
            <a:r>
              <a:rPr lang="en-US" sz="800" dirty="0">
                <a:solidFill>
                  <a:srgbClr val="93C5FD"/>
                </a:solidFill>
                <a:latin typeface="Calibri" pitchFamily="34" charset="0"/>
                <a:ea typeface="Calibri" pitchFamily="34" charset="-122"/>
                <a:cs typeface="Calibri" pitchFamily="34" charset="-120"/>
              </a:rPr>
              <a:t>管理画面</a:t>
            </a:r>
            <a:endParaRPr lang="en-US" sz="800" dirty="0"/>
          </a:p>
        </p:txBody>
      </p:sp>
      <p:sp>
        <p:nvSpPr>
          <p:cNvPr id="16" name="Text 14"/>
          <p:cNvSpPr/>
          <p:nvPr/>
        </p:nvSpPr>
        <p:spPr>
          <a:xfrm>
            <a:off x="1938528" y="1819656"/>
            <a:ext cx="4114800" cy="23774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スクリプト編集（Admin）</a:t>
            </a:r>
            <a:endParaRPr lang="en-US" sz="1200" dirty="0"/>
          </a:p>
        </p:txBody>
      </p:sp>
      <p:sp>
        <p:nvSpPr>
          <p:cNvPr id="17" name="Text 15"/>
          <p:cNvSpPr/>
          <p:nvPr/>
        </p:nvSpPr>
        <p:spPr>
          <a:xfrm>
            <a:off x="1938528" y="2075688"/>
            <a:ext cx="4114800" cy="201168"/>
          </a:xfrm>
          <a:prstGeom prst="rect">
            <a:avLst/>
          </a:prstGeom>
          <a:noFill/>
          <a:ln/>
        </p:spPr>
        <p:txBody>
          <a:bodyPr wrap="square" lIns="0" tIns="0" rIns="0" bIns="0" rtlCol="0" anchor="ctr"/>
          <a:lstStyle/>
          <a:p>
            <a:pPr indent="0" marL="0">
              <a:buNone/>
            </a:pPr>
            <a:r>
              <a:rPr lang="en-US" sz="900" dirty="0">
                <a:solidFill>
                  <a:srgbClr val="60A5FA"/>
                </a:solidFill>
                <a:latin typeface="Calibri" pitchFamily="34" charset="0"/>
                <a:ea typeface="Calibri" pitchFamily="34" charset="-122"/>
                <a:cs typeface="Calibri" pitchFamily="34" charset="-120"/>
              </a:rPr>
              <a:t>https://robot.topsaler.cc/user/login</a:t>
            </a:r>
            <a:endParaRPr lang="en-US" sz="900" dirty="0"/>
          </a:p>
        </p:txBody>
      </p:sp>
      <p:sp>
        <p:nvSpPr>
          <p:cNvPr id="18" name="Text 16"/>
          <p:cNvSpPr/>
          <p:nvPr/>
        </p:nvSpPr>
        <p:spPr>
          <a:xfrm>
            <a:off x="6172200" y="1883664"/>
            <a:ext cx="2377440" cy="365760"/>
          </a:xfrm>
          <a:prstGeom prst="rect">
            <a:avLst/>
          </a:prstGeom>
          <a:noFill/>
          <a:ln/>
        </p:spPr>
        <p:txBody>
          <a:bodyPr wrap="square" lIns="0" tIns="0" rIns="0" bIns="0" rtlCol="0" anchor="ctr"/>
          <a:lstStyle/>
          <a:p>
            <a:pPr indent="0" marL="0">
              <a:lnSpc>
                <a:spcPct val="135000"/>
              </a:lnSpc>
              <a:buNone/>
            </a:pPr>
            <a:r>
              <a:rPr lang="en-US" sz="950" dirty="0">
                <a:solidFill>
                  <a:srgbClr val="93C5FD"/>
                </a:solidFill>
                <a:latin typeface="Calibri" pitchFamily="34" charset="0"/>
                <a:ea typeface="Calibri" pitchFamily="34" charset="-122"/>
                <a:cs typeface="Calibri" pitchFamily="34" charset="-120"/>
              </a:rPr>
              <a:t>ノード作成・キーワード設定・スクリプト公開</a:t>
            </a:r>
            <a:endParaRPr lang="en-US" sz="950" dirty="0"/>
          </a:p>
        </p:txBody>
      </p:sp>
      <p:sp>
        <p:nvSpPr>
          <p:cNvPr id="19" name="Shape 17"/>
          <p:cNvSpPr/>
          <p:nvPr/>
        </p:nvSpPr>
        <p:spPr>
          <a:xfrm>
            <a:off x="457200" y="2432304"/>
            <a:ext cx="8229600" cy="594360"/>
          </a:xfrm>
          <a:prstGeom prst="roundRect">
            <a:avLst>
              <a:gd name="adj" fmla="val 12308"/>
            </a:avLst>
          </a:prstGeom>
          <a:solidFill>
            <a:srgbClr val="1E3A8A"/>
          </a:solidFill>
          <a:ln w="12700">
            <a:solidFill>
              <a:srgbClr val="2563EB"/>
            </a:solidFill>
            <a:prstDash val="solid"/>
          </a:ln>
        </p:spPr>
      </p:sp>
      <p:sp>
        <p:nvSpPr>
          <p:cNvPr id="20" name="Text 18"/>
          <p:cNvSpPr/>
          <p:nvPr/>
        </p:nvSpPr>
        <p:spPr>
          <a:xfrm>
            <a:off x="594360" y="2496312"/>
            <a:ext cx="411480" cy="41148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1" name="Shape 19"/>
          <p:cNvSpPr/>
          <p:nvPr/>
        </p:nvSpPr>
        <p:spPr>
          <a:xfrm>
            <a:off x="1078992" y="2578608"/>
            <a:ext cx="777240" cy="182880"/>
          </a:xfrm>
          <a:prstGeom prst="roundRect">
            <a:avLst>
              <a:gd name="adj" fmla="val 20000"/>
            </a:avLst>
          </a:prstGeom>
          <a:solidFill>
            <a:srgbClr val="1E40AF"/>
          </a:solidFill>
          <a:ln/>
        </p:spPr>
      </p:sp>
      <p:sp>
        <p:nvSpPr>
          <p:cNvPr id="22" name="Text 20"/>
          <p:cNvSpPr/>
          <p:nvPr/>
        </p:nvSpPr>
        <p:spPr>
          <a:xfrm>
            <a:off x="1078992" y="2578608"/>
            <a:ext cx="777240" cy="182880"/>
          </a:xfrm>
          <a:prstGeom prst="rect">
            <a:avLst/>
          </a:prstGeom>
          <a:noFill/>
          <a:ln/>
        </p:spPr>
        <p:txBody>
          <a:bodyPr wrap="square" lIns="0" tIns="0" rIns="0" bIns="0" rtlCol="0" anchor="ctr"/>
          <a:lstStyle/>
          <a:p>
            <a:pPr algn="ctr" indent="0" marL="0">
              <a:buNone/>
            </a:pPr>
            <a:r>
              <a:rPr lang="en-US" sz="800" dirty="0">
                <a:solidFill>
                  <a:srgbClr val="93C5FD"/>
                </a:solidFill>
                <a:latin typeface="Calibri" pitchFamily="34" charset="0"/>
                <a:ea typeface="Calibri" pitchFamily="34" charset="-122"/>
                <a:cs typeface="Calibri" pitchFamily="34" charset="-120"/>
              </a:rPr>
              <a:t>オペレーター</a:t>
            </a:r>
            <a:endParaRPr lang="en-US" sz="800" dirty="0"/>
          </a:p>
        </p:txBody>
      </p:sp>
      <p:sp>
        <p:nvSpPr>
          <p:cNvPr id="23" name="Text 21"/>
          <p:cNvSpPr/>
          <p:nvPr/>
        </p:nvSpPr>
        <p:spPr>
          <a:xfrm>
            <a:off x="1938528" y="2496312"/>
            <a:ext cx="4114800" cy="23774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オペレーター待機画面</a:t>
            </a:r>
            <a:endParaRPr lang="en-US" sz="1200" dirty="0"/>
          </a:p>
        </p:txBody>
      </p:sp>
      <p:sp>
        <p:nvSpPr>
          <p:cNvPr id="24" name="Text 22"/>
          <p:cNvSpPr/>
          <p:nvPr/>
        </p:nvSpPr>
        <p:spPr>
          <a:xfrm>
            <a:off x="1938528" y="2752344"/>
            <a:ext cx="4114800" cy="201168"/>
          </a:xfrm>
          <a:prstGeom prst="rect">
            <a:avLst/>
          </a:prstGeom>
          <a:noFill/>
          <a:ln/>
        </p:spPr>
        <p:txBody>
          <a:bodyPr wrap="square" lIns="0" tIns="0" rIns="0" bIns="0" rtlCol="0" anchor="ctr"/>
          <a:lstStyle/>
          <a:p>
            <a:pPr indent="0" marL="0">
              <a:buNone/>
            </a:pPr>
            <a:r>
              <a:rPr lang="en-US" sz="900" dirty="0">
                <a:solidFill>
                  <a:srgbClr val="60A5FA"/>
                </a:solidFill>
                <a:latin typeface="Calibri" pitchFamily="34" charset="0"/>
                <a:ea typeface="Calibri" pitchFamily="34" charset="-122"/>
                <a:cs typeface="Calibri" pitchFamily="34" charset="-120"/>
              </a:rPr>
              <a:t>https://co.topsaler.cc/user/login/</a:t>
            </a:r>
            <a:endParaRPr lang="en-US" sz="900" dirty="0"/>
          </a:p>
        </p:txBody>
      </p:sp>
      <p:sp>
        <p:nvSpPr>
          <p:cNvPr id="25" name="Text 23"/>
          <p:cNvSpPr/>
          <p:nvPr/>
        </p:nvSpPr>
        <p:spPr>
          <a:xfrm>
            <a:off x="6172200" y="2560320"/>
            <a:ext cx="2377440" cy="365760"/>
          </a:xfrm>
          <a:prstGeom prst="rect">
            <a:avLst/>
          </a:prstGeom>
          <a:noFill/>
          <a:ln/>
        </p:spPr>
        <p:txBody>
          <a:bodyPr wrap="square" lIns="0" tIns="0" rIns="0" bIns="0" rtlCol="0" anchor="ctr"/>
          <a:lstStyle/>
          <a:p>
            <a:pPr indent="0" marL="0">
              <a:lnSpc>
                <a:spcPct val="135000"/>
              </a:lnSpc>
              <a:buNone/>
            </a:pPr>
            <a:r>
              <a:rPr lang="en-US" sz="950" dirty="0">
                <a:solidFill>
                  <a:srgbClr val="93C5FD"/>
                </a:solidFill>
                <a:latin typeface="Calibri" pitchFamily="34" charset="0"/>
                <a:ea typeface="Calibri" pitchFamily="34" charset="-122"/>
                <a:cs typeface="Calibri" pitchFamily="34" charset="-120"/>
              </a:rPr>
              <a:t>転送受け・リスニング・代電ボタン</a:t>
            </a:r>
            <a:endParaRPr lang="en-US" sz="950" dirty="0"/>
          </a:p>
        </p:txBody>
      </p:sp>
      <p:sp>
        <p:nvSpPr>
          <p:cNvPr id="26" name="Shape 24"/>
          <p:cNvSpPr/>
          <p:nvPr/>
        </p:nvSpPr>
        <p:spPr>
          <a:xfrm>
            <a:off x="457200" y="3108960"/>
            <a:ext cx="8229600" cy="594360"/>
          </a:xfrm>
          <a:prstGeom prst="roundRect">
            <a:avLst>
              <a:gd name="adj" fmla="val 12308"/>
            </a:avLst>
          </a:prstGeom>
          <a:solidFill>
            <a:srgbClr val="1E3A8A"/>
          </a:solidFill>
          <a:ln w="12700">
            <a:solidFill>
              <a:srgbClr val="2563EB"/>
            </a:solidFill>
            <a:prstDash val="solid"/>
          </a:ln>
        </p:spPr>
      </p:sp>
      <p:sp>
        <p:nvSpPr>
          <p:cNvPr id="27" name="Text 25"/>
          <p:cNvSpPr/>
          <p:nvPr/>
        </p:nvSpPr>
        <p:spPr>
          <a:xfrm>
            <a:off x="594360" y="3172968"/>
            <a:ext cx="411480" cy="41148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8" name="Shape 26"/>
          <p:cNvSpPr/>
          <p:nvPr/>
        </p:nvSpPr>
        <p:spPr>
          <a:xfrm>
            <a:off x="1078992" y="3255264"/>
            <a:ext cx="777240" cy="182880"/>
          </a:xfrm>
          <a:prstGeom prst="roundRect">
            <a:avLst>
              <a:gd name="adj" fmla="val 20000"/>
            </a:avLst>
          </a:prstGeom>
          <a:solidFill>
            <a:srgbClr val="1E40AF"/>
          </a:solidFill>
          <a:ln/>
        </p:spPr>
      </p:sp>
      <p:sp>
        <p:nvSpPr>
          <p:cNvPr id="29" name="Text 27"/>
          <p:cNvSpPr/>
          <p:nvPr/>
        </p:nvSpPr>
        <p:spPr>
          <a:xfrm>
            <a:off x="1078992" y="3255264"/>
            <a:ext cx="777240" cy="182880"/>
          </a:xfrm>
          <a:prstGeom prst="rect">
            <a:avLst/>
          </a:prstGeom>
          <a:noFill/>
          <a:ln/>
        </p:spPr>
        <p:txBody>
          <a:bodyPr wrap="square" lIns="0" tIns="0" rIns="0" bIns="0" rtlCol="0" anchor="ctr"/>
          <a:lstStyle/>
          <a:p>
            <a:pPr algn="ctr" indent="0" marL="0">
              <a:buNone/>
            </a:pPr>
            <a:r>
              <a:rPr lang="en-US" sz="800" dirty="0">
                <a:solidFill>
                  <a:srgbClr val="93C5FD"/>
                </a:solidFill>
                <a:latin typeface="Calibri" pitchFamily="34" charset="0"/>
                <a:ea typeface="Calibri" pitchFamily="34" charset="-122"/>
                <a:cs typeface="Calibri" pitchFamily="34" charset="-120"/>
              </a:rPr>
              <a:t>発信タスク</a:t>
            </a:r>
            <a:endParaRPr lang="en-US" sz="800" dirty="0"/>
          </a:p>
        </p:txBody>
      </p:sp>
      <p:sp>
        <p:nvSpPr>
          <p:cNvPr id="30" name="Text 28"/>
          <p:cNvSpPr/>
          <p:nvPr/>
        </p:nvSpPr>
        <p:spPr>
          <a:xfrm>
            <a:off x="1938528" y="3172968"/>
            <a:ext cx="4114800" cy="23774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発信タスク管理</a:t>
            </a:r>
            <a:endParaRPr lang="en-US" sz="1200" dirty="0"/>
          </a:p>
        </p:txBody>
      </p:sp>
      <p:sp>
        <p:nvSpPr>
          <p:cNvPr id="31" name="Text 29"/>
          <p:cNvSpPr/>
          <p:nvPr/>
        </p:nvSpPr>
        <p:spPr>
          <a:xfrm>
            <a:off x="1938528" y="3429000"/>
            <a:ext cx="4114800" cy="201168"/>
          </a:xfrm>
          <a:prstGeom prst="rect">
            <a:avLst/>
          </a:prstGeom>
          <a:noFill/>
          <a:ln/>
        </p:spPr>
        <p:txBody>
          <a:bodyPr wrap="square" lIns="0" tIns="0" rIns="0" bIns="0" rtlCol="0" anchor="ctr"/>
          <a:lstStyle/>
          <a:p>
            <a:pPr indent="0" marL="0">
              <a:buNone/>
            </a:pPr>
            <a:r>
              <a:rPr lang="en-US" sz="900" dirty="0">
                <a:solidFill>
                  <a:srgbClr val="60A5FA"/>
                </a:solidFill>
                <a:latin typeface="Calibri" pitchFamily="34" charset="0"/>
                <a:ea typeface="Calibri" pitchFamily="34" charset="-122"/>
                <a:cs typeface="Calibri" pitchFamily="34" charset="-120"/>
              </a:rPr>
              <a:t>https://robot.topsaler.cc/tasks/current</a:t>
            </a:r>
            <a:endParaRPr lang="en-US" sz="900" dirty="0"/>
          </a:p>
        </p:txBody>
      </p:sp>
      <p:sp>
        <p:nvSpPr>
          <p:cNvPr id="32" name="Text 30"/>
          <p:cNvSpPr/>
          <p:nvPr/>
        </p:nvSpPr>
        <p:spPr>
          <a:xfrm>
            <a:off x="6172200" y="3236976"/>
            <a:ext cx="2377440" cy="365760"/>
          </a:xfrm>
          <a:prstGeom prst="rect">
            <a:avLst/>
          </a:prstGeom>
          <a:noFill/>
          <a:ln/>
        </p:spPr>
        <p:txBody>
          <a:bodyPr wrap="square" lIns="0" tIns="0" rIns="0" bIns="0" rtlCol="0" anchor="ctr"/>
          <a:lstStyle/>
          <a:p>
            <a:pPr indent="0" marL="0">
              <a:lnSpc>
                <a:spcPct val="135000"/>
              </a:lnSpc>
              <a:buNone/>
            </a:pPr>
            <a:r>
              <a:rPr lang="en-US" sz="950" dirty="0">
                <a:solidFill>
                  <a:srgbClr val="93C5FD"/>
                </a:solidFill>
                <a:latin typeface="Calibri" pitchFamily="34" charset="0"/>
                <a:ea typeface="Calibri" pitchFamily="34" charset="-122"/>
                <a:cs typeface="Calibri" pitchFamily="34" charset="-120"/>
              </a:rPr>
              <a:t>タスク作成・リストアップロード・発信開始/停止</a:t>
            </a:r>
            <a:endParaRPr lang="en-US" sz="950" dirty="0"/>
          </a:p>
        </p:txBody>
      </p:sp>
      <p:sp>
        <p:nvSpPr>
          <p:cNvPr id="33" name="Shape 31"/>
          <p:cNvSpPr/>
          <p:nvPr/>
        </p:nvSpPr>
        <p:spPr>
          <a:xfrm>
            <a:off x="457200" y="3785616"/>
            <a:ext cx="8229600" cy="594360"/>
          </a:xfrm>
          <a:prstGeom prst="roundRect">
            <a:avLst>
              <a:gd name="adj" fmla="val 12308"/>
            </a:avLst>
          </a:prstGeom>
          <a:solidFill>
            <a:srgbClr val="1E3A8A"/>
          </a:solidFill>
          <a:ln w="12700">
            <a:solidFill>
              <a:srgbClr val="2563EB"/>
            </a:solidFill>
            <a:prstDash val="solid"/>
          </a:ln>
        </p:spPr>
      </p:sp>
      <p:sp>
        <p:nvSpPr>
          <p:cNvPr id="34" name="Text 32"/>
          <p:cNvSpPr/>
          <p:nvPr/>
        </p:nvSpPr>
        <p:spPr>
          <a:xfrm>
            <a:off x="594360" y="3849624"/>
            <a:ext cx="411480" cy="41148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35" name="Shape 33"/>
          <p:cNvSpPr/>
          <p:nvPr/>
        </p:nvSpPr>
        <p:spPr>
          <a:xfrm>
            <a:off x="1078992" y="3931920"/>
            <a:ext cx="777240" cy="182880"/>
          </a:xfrm>
          <a:prstGeom prst="roundRect">
            <a:avLst>
              <a:gd name="adj" fmla="val 20000"/>
            </a:avLst>
          </a:prstGeom>
          <a:solidFill>
            <a:srgbClr val="1E40AF"/>
          </a:solidFill>
          <a:ln/>
        </p:spPr>
      </p:sp>
      <p:sp>
        <p:nvSpPr>
          <p:cNvPr id="36" name="Text 34"/>
          <p:cNvSpPr/>
          <p:nvPr/>
        </p:nvSpPr>
        <p:spPr>
          <a:xfrm>
            <a:off x="1078992" y="3931920"/>
            <a:ext cx="777240" cy="182880"/>
          </a:xfrm>
          <a:prstGeom prst="rect">
            <a:avLst/>
          </a:prstGeom>
          <a:noFill/>
          <a:ln/>
        </p:spPr>
        <p:txBody>
          <a:bodyPr wrap="square" lIns="0" tIns="0" rIns="0" bIns="0" rtlCol="0" anchor="ctr"/>
          <a:lstStyle/>
          <a:p>
            <a:pPr algn="ctr" indent="0" marL="0">
              <a:buNone/>
            </a:pPr>
            <a:r>
              <a:rPr lang="en-US" sz="800" dirty="0">
                <a:solidFill>
                  <a:srgbClr val="93C5FD"/>
                </a:solidFill>
                <a:latin typeface="Calibri" pitchFamily="34" charset="0"/>
                <a:ea typeface="Calibri" pitchFamily="34" charset="-122"/>
                <a:cs typeface="Calibri" pitchFamily="34" charset="-120"/>
              </a:rPr>
              <a:t>アカウント</a:t>
            </a:r>
            <a:endParaRPr lang="en-US" sz="800" dirty="0"/>
          </a:p>
        </p:txBody>
      </p:sp>
      <p:sp>
        <p:nvSpPr>
          <p:cNvPr id="37" name="Text 35"/>
          <p:cNvSpPr/>
          <p:nvPr/>
        </p:nvSpPr>
        <p:spPr>
          <a:xfrm>
            <a:off x="1938528" y="3849624"/>
            <a:ext cx="4114800" cy="23774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ユーザー設定（チャンネル数）</a:t>
            </a:r>
            <a:endParaRPr lang="en-US" sz="1200" dirty="0"/>
          </a:p>
        </p:txBody>
      </p:sp>
      <p:sp>
        <p:nvSpPr>
          <p:cNvPr id="38" name="Text 36"/>
          <p:cNvSpPr/>
          <p:nvPr/>
        </p:nvSpPr>
        <p:spPr>
          <a:xfrm>
            <a:off x="1938528" y="4105656"/>
            <a:ext cx="4114800" cy="201168"/>
          </a:xfrm>
          <a:prstGeom prst="rect">
            <a:avLst/>
          </a:prstGeom>
          <a:noFill/>
          <a:ln/>
        </p:spPr>
        <p:txBody>
          <a:bodyPr wrap="square" lIns="0" tIns="0" rIns="0" bIns="0" rtlCol="0" anchor="ctr"/>
          <a:lstStyle/>
          <a:p>
            <a:pPr indent="0" marL="0">
              <a:buNone/>
            </a:pPr>
            <a:r>
              <a:rPr lang="en-US" sz="900" dirty="0">
                <a:solidFill>
                  <a:srgbClr val="60A5FA"/>
                </a:solidFill>
                <a:latin typeface="Calibri" pitchFamily="34" charset="0"/>
                <a:ea typeface="Calibri" pitchFamily="34" charset="-122"/>
                <a:cs typeface="Calibri" pitchFamily="34" charset="-120"/>
              </a:rPr>
              <a:t>https://robot.topsaler.cc/account/center</a:t>
            </a:r>
            <a:endParaRPr lang="en-US" sz="900" dirty="0"/>
          </a:p>
        </p:txBody>
      </p:sp>
      <p:sp>
        <p:nvSpPr>
          <p:cNvPr id="39" name="Text 37"/>
          <p:cNvSpPr/>
          <p:nvPr/>
        </p:nvSpPr>
        <p:spPr>
          <a:xfrm>
            <a:off x="6172200" y="3913632"/>
            <a:ext cx="2377440" cy="365760"/>
          </a:xfrm>
          <a:prstGeom prst="rect">
            <a:avLst/>
          </a:prstGeom>
          <a:noFill/>
          <a:ln/>
        </p:spPr>
        <p:txBody>
          <a:bodyPr wrap="square" lIns="0" tIns="0" rIns="0" bIns="0" rtlCol="0" anchor="ctr"/>
          <a:lstStyle/>
          <a:p>
            <a:pPr indent="0" marL="0">
              <a:lnSpc>
                <a:spcPct val="135000"/>
              </a:lnSpc>
              <a:buNone/>
            </a:pPr>
            <a:r>
              <a:rPr lang="en-US" sz="950" dirty="0">
                <a:solidFill>
                  <a:srgbClr val="93C5FD"/>
                </a:solidFill>
                <a:latin typeface="Calibri" pitchFamily="34" charset="0"/>
                <a:ea typeface="Calibri" pitchFamily="34" charset="-122"/>
                <a:cs typeface="Calibri" pitchFamily="34" charset="-120"/>
              </a:rPr>
              <a:t>オペレーターのチャンネル数設定（3以上推奨）</a:t>
            </a:r>
            <a:endParaRPr lang="en-US" sz="950" dirty="0"/>
          </a:p>
        </p:txBody>
      </p:sp>
      <p:sp>
        <p:nvSpPr>
          <p:cNvPr id="40" name="Shape 38"/>
          <p:cNvSpPr/>
          <p:nvPr/>
        </p:nvSpPr>
        <p:spPr>
          <a:xfrm>
            <a:off x="457200" y="4462272"/>
            <a:ext cx="8229600" cy="594360"/>
          </a:xfrm>
          <a:prstGeom prst="roundRect">
            <a:avLst>
              <a:gd name="adj" fmla="val 12308"/>
            </a:avLst>
          </a:prstGeom>
          <a:solidFill>
            <a:srgbClr val="1E3A8A"/>
          </a:solidFill>
          <a:ln w="12700">
            <a:solidFill>
              <a:srgbClr val="2563EB"/>
            </a:solidFill>
            <a:prstDash val="solid"/>
          </a:ln>
        </p:spPr>
      </p:sp>
      <p:sp>
        <p:nvSpPr>
          <p:cNvPr id="41" name="Text 39"/>
          <p:cNvSpPr/>
          <p:nvPr/>
        </p:nvSpPr>
        <p:spPr>
          <a:xfrm>
            <a:off x="594360" y="4526280"/>
            <a:ext cx="411480" cy="41148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42" name="Shape 40"/>
          <p:cNvSpPr/>
          <p:nvPr/>
        </p:nvSpPr>
        <p:spPr>
          <a:xfrm>
            <a:off x="1078992" y="4608576"/>
            <a:ext cx="777240" cy="182880"/>
          </a:xfrm>
          <a:prstGeom prst="roundRect">
            <a:avLst>
              <a:gd name="adj" fmla="val 20000"/>
            </a:avLst>
          </a:prstGeom>
          <a:solidFill>
            <a:srgbClr val="1E40AF"/>
          </a:solidFill>
          <a:ln/>
        </p:spPr>
      </p:sp>
      <p:sp>
        <p:nvSpPr>
          <p:cNvPr id="43" name="Text 41"/>
          <p:cNvSpPr/>
          <p:nvPr/>
        </p:nvSpPr>
        <p:spPr>
          <a:xfrm>
            <a:off x="1078992" y="4608576"/>
            <a:ext cx="777240" cy="182880"/>
          </a:xfrm>
          <a:prstGeom prst="rect">
            <a:avLst/>
          </a:prstGeom>
          <a:noFill/>
          <a:ln/>
        </p:spPr>
        <p:txBody>
          <a:bodyPr wrap="square" lIns="0" tIns="0" rIns="0" bIns="0" rtlCol="0" anchor="ctr"/>
          <a:lstStyle/>
          <a:p>
            <a:pPr algn="ctr" indent="0" marL="0">
              <a:buNone/>
            </a:pPr>
            <a:r>
              <a:rPr lang="en-US" sz="800" dirty="0">
                <a:solidFill>
                  <a:srgbClr val="93C5FD"/>
                </a:solidFill>
                <a:latin typeface="Calibri" pitchFamily="34" charset="0"/>
                <a:ea typeface="Calibri" pitchFamily="34" charset="-122"/>
                <a:cs typeface="Calibri" pitchFamily="34" charset="-120"/>
              </a:rPr>
              <a:t>ChatWork</a:t>
            </a:r>
            <a:endParaRPr lang="en-US" sz="800" dirty="0"/>
          </a:p>
        </p:txBody>
      </p:sp>
      <p:sp>
        <p:nvSpPr>
          <p:cNvPr id="44" name="Text 42"/>
          <p:cNvSpPr/>
          <p:nvPr/>
        </p:nvSpPr>
        <p:spPr>
          <a:xfrm>
            <a:off x="1938528" y="4526280"/>
            <a:ext cx="4114800" cy="23774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SoloptiLink サポートチャット</a:t>
            </a:r>
            <a:endParaRPr lang="en-US" sz="1200" dirty="0"/>
          </a:p>
        </p:txBody>
      </p:sp>
      <p:sp>
        <p:nvSpPr>
          <p:cNvPr id="45" name="Text 43"/>
          <p:cNvSpPr/>
          <p:nvPr/>
        </p:nvSpPr>
        <p:spPr>
          <a:xfrm>
            <a:off x="1938528" y="4782312"/>
            <a:ext cx="4114800" cy="201168"/>
          </a:xfrm>
          <a:prstGeom prst="rect">
            <a:avLst/>
          </a:prstGeom>
          <a:noFill/>
          <a:ln/>
        </p:spPr>
        <p:txBody>
          <a:bodyPr wrap="square" lIns="0" tIns="0" rIns="0" bIns="0" rtlCol="0" anchor="ctr"/>
          <a:lstStyle/>
          <a:p>
            <a:pPr indent="0" marL="0">
              <a:buNone/>
            </a:pPr>
            <a:r>
              <a:rPr lang="en-US" sz="900" dirty="0">
                <a:solidFill>
                  <a:srgbClr val="60A5FA"/>
                </a:solidFill>
                <a:latin typeface="Calibri" pitchFamily="34" charset="0"/>
                <a:ea typeface="Calibri" pitchFamily="34" charset="-122"/>
                <a:cs typeface="Calibri" pitchFamily="34" charset="-120"/>
              </a:rPr>
              <a:t>https://www.chatwork.com/#!rid418995000</a:t>
            </a:r>
            <a:endParaRPr lang="en-US" sz="900" dirty="0"/>
          </a:p>
        </p:txBody>
      </p:sp>
      <p:sp>
        <p:nvSpPr>
          <p:cNvPr id="46" name="Text 44"/>
          <p:cNvSpPr/>
          <p:nvPr/>
        </p:nvSpPr>
        <p:spPr>
          <a:xfrm>
            <a:off x="6172200" y="4590288"/>
            <a:ext cx="2377440" cy="365760"/>
          </a:xfrm>
          <a:prstGeom prst="rect">
            <a:avLst/>
          </a:prstGeom>
          <a:noFill/>
          <a:ln/>
        </p:spPr>
        <p:txBody>
          <a:bodyPr wrap="square" lIns="0" tIns="0" rIns="0" bIns="0" rtlCol="0" anchor="ctr"/>
          <a:lstStyle/>
          <a:p>
            <a:pPr indent="0" marL="0">
              <a:lnSpc>
                <a:spcPct val="135000"/>
              </a:lnSpc>
              <a:buNone/>
            </a:pPr>
            <a:r>
              <a:rPr lang="en-US" sz="950" dirty="0">
                <a:solidFill>
                  <a:srgbClr val="93C5FD"/>
                </a:solidFill>
                <a:latin typeface="Calibri" pitchFamily="34" charset="0"/>
                <a:ea typeface="Calibri" pitchFamily="34" charset="-122"/>
                <a:cs typeface="Calibri" pitchFamily="34" charset="-120"/>
              </a:rPr>
              <a:t>李様・山田様・青木様へ即時連絡</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A3E"/>
        </a:solidFill>
      </p:bgPr>
    </p:bg>
    <p:spTree>
      <p:nvGrpSpPr>
        <p:cNvPr id="1" name=""/>
        <p:cNvGrpSpPr/>
        <p:nvPr/>
      </p:nvGrpSpPr>
      <p:grpSpPr>
        <a:xfrm>
          <a:off x="0" y="0"/>
          <a:ext cx="0" cy="0"/>
          <a:chOff x="0" y="0"/>
          <a:chExt cx="0" cy="0"/>
        </a:xfrm>
      </p:grpSpPr>
      <p:sp>
        <p:nvSpPr>
          <p:cNvPr id="2" name="Shape 0"/>
          <p:cNvSpPr/>
          <p:nvPr/>
        </p:nvSpPr>
        <p:spPr>
          <a:xfrm>
            <a:off x="0" y="5070348"/>
            <a:ext cx="9144000" cy="73152"/>
          </a:xfrm>
          <a:prstGeom prst="rect">
            <a:avLst/>
          </a:prstGeom>
          <a:solidFill>
            <a:srgbClr val="3B82F6"/>
          </a:solidFill>
          <a:ln/>
        </p:spPr>
      </p:sp>
      <p:sp>
        <p:nvSpPr>
          <p:cNvPr id="3" name="Text 1"/>
          <p:cNvSpPr/>
          <p:nvPr/>
        </p:nvSpPr>
        <p:spPr>
          <a:xfrm>
            <a:off x="914400" y="1051560"/>
            <a:ext cx="7315200" cy="402336"/>
          </a:xfrm>
          <a:prstGeom prst="rect">
            <a:avLst/>
          </a:prstGeom>
          <a:noFill/>
          <a:ln/>
        </p:spPr>
        <p:txBody>
          <a:bodyPr wrap="square" lIns="0" tIns="0" rIns="0" bIns="0" rtlCol="0" anchor="ctr"/>
          <a:lstStyle/>
          <a:p>
            <a:pPr algn="ctr" indent="0" marL="0">
              <a:buNone/>
            </a:pPr>
            <a:r>
              <a:rPr lang="en-US" sz="1200" b="1" spc="400" kern="0" dirty="0">
                <a:solidFill>
                  <a:srgbClr val="3B82F6"/>
                </a:solidFill>
                <a:latin typeface="Calibri" pitchFamily="34" charset="0"/>
                <a:ea typeface="Calibri" pitchFamily="34" charset="-122"/>
                <a:cs typeface="Calibri" pitchFamily="34" charset="-120"/>
              </a:rPr>
              <a:t>Get Started</a:t>
            </a:r>
            <a:endParaRPr lang="en-US" sz="1200" dirty="0"/>
          </a:p>
        </p:txBody>
      </p:sp>
      <p:sp>
        <p:nvSpPr>
          <p:cNvPr id="4" name="Text 2"/>
          <p:cNvSpPr/>
          <p:nvPr/>
        </p:nvSpPr>
        <p:spPr>
          <a:xfrm>
            <a:off x="914400" y="1463040"/>
            <a:ext cx="7315200" cy="1143000"/>
          </a:xfrm>
          <a:prstGeom prst="rect">
            <a:avLst/>
          </a:prstGeom>
          <a:noFill/>
          <a:ln/>
        </p:spPr>
        <p:txBody>
          <a:bodyPr wrap="square" lIns="0" tIns="0" rIns="0" bIns="0" rtlCol="0" anchor="ctr"/>
          <a:lstStyle/>
          <a:p>
            <a:pPr algn="ctr" indent="0" marL="0">
              <a:lnSpc>
                <a:spcPct val="115000"/>
              </a:lnSpc>
              <a:buNone/>
            </a:pPr>
            <a:r>
              <a:rPr lang="en-US" sz="3800" b="1" dirty="0">
                <a:solidFill>
                  <a:srgbClr val="FFFFFF"/>
                </a:solidFill>
                <a:latin typeface="Calibri" pitchFamily="34" charset="0"/>
                <a:ea typeface="Calibri" pitchFamily="34" charset="-122"/>
                <a:cs typeface="Calibri" pitchFamily="34" charset="-120"/>
              </a:rPr>
              <a:t>今日から始める</a:t>
            </a:r>
            <a:endParaRPr lang="en-US" sz="3800" dirty="0"/>
          </a:p>
          <a:p>
            <a:pPr algn="ctr" indent="0" marL="0">
              <a:lnSpc>
                <a:spcPct val="115000"/>
              </a:lnSpc>
              <a:buNone/>
            </a:pPr>
            <a:r>
              <a:rPr lang="en-US" sz="3800" b="1" dirty="0">
                <a:solidFill>
                  <a:srgbClr val="FFFFFF"/>
                </a:solidFill>
                <a:latin typeface="Calibri" pitchFamily="34" charset="0"/>
                <a:ea typeface="Calibri" pitchFamily="34" charset="-122"/>
                <a:cs typeface="Calibri" pitchFamily="34" charset="-120"/>
              </a:rPr>
              <a:t>3ステップ</a:t>
            </a:r>
            <a:endParaRPr lang="en-US" sz="3800" dirty="0"/>
          </a:p>
        </p:txBody>
      </p:sp>
      <p:sp>
        <p:nvSpPr>
          <p:cNvPr id="5" name="Shape 3"/>
          <p:cNvSpPr/>
          <p:nvPr/>
        </p:nvSpPr>
        <p:spPr>
          <a:xfrm>
            <a:off x="548640" y="2834640"/>
            <a:ext cx="2651760" cy="1920240"/>
          </a:xfrm>
          <a:prstGeom prst="roundRect">
            <a:avLst>
              <a:gd name="adj" fmla="val 5714"/>
            </a:avLst>
          </a:prstGeom>
          <a:solidFill>
            <a:srgbClr val="1E3A8A"/>
          </a:solidFill>
          <a:ln w="12700">
            <a:solidFill>
              <a:srgbClr val="2563EB"/>
            </a:solidFill>
            <a:prstDash val="solid"/>
          </a:ln>
          <a:effectLst>
            <a:outerShdw sx="100000" sy="100000" kx="0" ky="0" algn="bl" rotWithShape="0" blurRad="127000" dist="50800" dir="2700000">
              <a:srgbClr val="000000">
                <a:alpha val="20000"/>
              </a:srgbClr>
            </a:outerShdw>
          </a:effectLst>
        </p:spPr>
      </p:sp>
      <p:sp>
        <p:nvSpPr>
          <p:cNvPr id="6" name="Shape 4"/>
          <p:cNvSpPr/>
          <p:nvPr/>
        </p:nvSpPr>
        <p:spPr>
          <a:xfrm>
            <a:off x="1554480" y="2743200"/>
            <a:ext cx="640080" cy="640080"/>
          </a:xfrm>
          <a:prstGeom prst="ellipse">
            <a:avLst/>
          </a:prstGeom>
          <a:solidFill>
            <a:srgbClr val="3B82F6"/>
          </a:solidFill>
          <a:ln/>
        </p:spPr>
      </p:sp>
      <p:sp>
        <p:nvSpPr>
          <p:cNvPr id="7" name="Text 5"/>
          <p:cNvSpPr/>
          <p:nvPr/>
        </p:nvSpPr>
        <p:spPr>
          <a:xfrm>
            <a:off x="1554480" y="27432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8" name="Text 6"/>
          <p:cNvSpPr/>
          <p:nvPr/>
        </p:nvSpPr>
        <p:spPr>
          <a:xfrm>
            <a:off x="640080" y="3474720"/>
            <a:ext cx="2468880" cy="457200"/>
          </a:xfrm>
          <a:prstGeom prst="rect">
            <a:avLst/>
          </a:prstGeom>
          <a:noFill/>
          <a:ln/>
        </p:spPr>
        <p:txBody>
          <a:bodyPr wrap="square" lIns="0" tIns="0" rIns="0" bIns="0" rtlCol="0" anchor="ctr"/>
          <a:lstStyle/>
          <a:p>
            <a:pPr algn="ctr" indent="0" marL="0">
              <a:lnSpc>
                <a:spcPct val="120000"/>
              </a:lnSpc>
              <a:buNone/>
            </a:pPr>
            <a:r>
              <a:rPr lang="en-US" sz="1200" b="1" dirty="0">
                <a:solidFill>
                  <a:srgbClr val="FFFFFF"/>
                </a:solidFill>
                <a:latin typeface="Calibri" pitchFamily="34" charset="0"/>
                <a:ea typeface="Calibri" pitchFamily="34" charset="-122"/>
                <a:cs typeface="Calibri" pitchFamily="34" charset="-120"/>
              </a:rPr>
              <a:t>事前ガイド確認</a:t>
            </a:r>
            <a:endParaRPr lang="en-US" sz="1200" dirty="0"/>
          </a:p>
          <a:p>
            <a:pPr algn="ctr" indent="0" marL="0">
              <a:lnSpc>
                <a:spcPct val="120000"/>
              </a:lnSpc>
              <a:buNone/>
            </a:pPr>
            <a:r>
              <a:rPr lang="en-US" sz="1200" b="1" dirty="0">
                <a:solidFill>
                  <a:srgbClr val="FFFFFF"/>
                </a:solidFill>
                <a:latin typeface="Calibri" pitchFamily="34" charset="0"/>
                <a:ea typeface="Calibri" pitchFamily="34" charset="-122"/>
                <a:cs typeface="Calibri" pitchFamily="34" charset="-120"/>
              </a:rPr>
              <a:t>&amp; アンケート回答</a:t>
            </a:r>
            <a:endParaRPr lang="en-US" sz="1200" dirty="0"/>
          </a:p>
        </p:txBody>
      </p:sp>
      <p:sp>
        <p:nvSpPr>
          <p:cNvPr id="9" name="Text 7"/>
          <p:cNvSpPr/>
          <p:nvPr/>
        </p:nvSpPr>
        <p:spPr>
          <a:xfrm>
            <a:off x="640080" y="3977640"/>
            <a:ext cx="2468880" cy="694944"/>
          </a:xfrm>
          <a:prstGeom prst="rect">
            <a:avLst/>
          </a:prstGeom>
          <a:noFill/>
          <a:ln/>
        </p:spPr>
        <p:txBody>
          <a:bodyPr wrap="square" lIns="0" tIns="0" rIns="0" bIns="0" rtlCol="0" anchor="ctr"/>
          <a:lstStyle/>
          <a:p>
            <a:pPr algn="ctr" indent="0" marL="0">
              <a:lnSpc>
                <a:spcPct val="145000"/>
              </a:lnSpc>
              <a:buNone/>
            </a:pPr>
            <a:r>
              <a:rPr lang="en-US" sz="1000" dirty="0">
                <a:solidFill>
                  <a:srgbClr val="93C5FD"/>
                </a:solidFill>
                <a:latin typeface="Calibri" pitchFamily="34" charset="0"/>
                <a:ea typeface="Calibri" pitchFamily="34" charset="-122"/>
                <a:cs typeface="Calibri" pitchFamily="34" charset="-120"/>
              </a:rPr>
              <a:t>SoloptiLinkガイドURLを開く</a:t>
            </a:r>
            <a:endParaRPr lang="en-US" sz="1000" dirty="0"/>
          </a:p>
          <a:p>
            <a:pPr algn="ctr" indent="0" marL="0">
              <a:lnSpc>
                <a:spcPct val="145000"/>
              </a:lnSpc>
              <a:buNone/>
            </a:pPr>
            <a:r>
              <a:rPr lang="en-US" sz="1000" dirty="0">
                <a:solidFill>
                  <a:srgbClr val="93C5FD"/>
                </a:solidFill>
                <a:latin typeface="Calibri" pitchFamily="34" charset="0"/>
                <a:ea typeface="Calibri" pitchFamily="34" charset="-122"/>
                <a:cs typeface="Calibri" pitchFamily="34" charset="-120"/>
              </a:rPr>
              <a:t>商材・ターゲット情報を記入</a:t>
            </a:r>
            <a:endParaRPr lang="en-US" sz="1000" dirty="0"/>
          </a:p>
        </p:txBody>
      </p:sp>
      <p:sp>
        <p:nvSpPr>
          <p:cNvPr id="10" name="Shape 8"/>
          <p:cNvSpPr/>
          <p:nvPr/>
        </p:nvSpPr>
        <p:spPr>
          <a:xfrm>
            <a:off x="3429000" y="2834640"/>
            <a:ext cx="2651760" cy="1920240"/>
          </a:xfrm>
          <a:prstGeom prst="roundRect">
            <a:avLst>
              <a:gd name="adj" fmla="val 5714"/>
            </a:avLst>
          </a:prstGeom>
          <a:solidFill>
            <a:srgbClr val="1E3A8A"/>
          </a:solidFill>
          <a:ln w="12700">
            <a:solidFill>
              <a:srgbClr val="2563EB"/>
            </a:solidFill>
            <a:prstDash val="solid"/>
          </a:ln>
          <a:effectLst>
            <a:outerShdw sx="100000" sy="100000" kx="0" ky="0" algn="bl" rotWithShape="0" blurRad="127000" dist="50800" dir="2700000">
              <a:srgbClr val="000000">
                <a:alpha val="20000"/>
              </a:srgbClr>
            </a:outerShdw>
          </a:effectLst>
        </p:spPr>
      </p:sp>
      <p:sp>
        <p:nvSpPr>
          <p:cNvPr id="11" name="Shape 9"/>
          <p:cNvSpPr/>
          <p:nvPr/>
        </p:nvSpPr>
        <p:spPr>
          <a:xfrm>
            <a:off x="4434840" y="2743200"/>
            <a:ext cx="640080" cy="640080"/>
          </a:xfrm>
          <a:prstGeom prst="ellipse">
            <a:avLst/>
          </a:prstGeom>
          <a:solidFill>
            <a:srgbClr val="3B82F6"/>
          </a:solidFill>
          <a:ln/>
        </p:spPr>
      </p:sp>
      <p:sp>
        <p:nvSpPr>
          <p:cNvPr id="12" name="Text 10"/>
          <p:cNvSpPr/>
          <p:nvPr/>
        </p:nvSpPr>
        <p:spPr>
          <a:xfrm>
            <a:off x="4434840" y="27432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3" name="Text 11"/>
          <p:cNvSpPr/>
          <p:nvPr/>
        </p:nvSpPr>
        <p:spPr>
          <a:xfrm>
            <a:off x="3520440" y="3474720"/>
            <a:ext cx="2468880" cy="457200"/>
          </a:xfrm>
          <a:prstGeom prst="rect">
            <a:avLst/>
          </a:prstGeom>
          <a:noFill/>
          <a:ln/>
        </p:spPr>
        <p:txBody>
          <a:bodyPr wrap="square" lIns="0" tIns="0" rIns="0" bIns="0" rtlCol="0" anchor="ctr"/>
          <a:lstStyle/>
          <a:p>
            <a:pPr algn="ctr" indent="0" marL="0">
              <a:lnSpc>
                <a:spcPct val="120000"/>
              </a:lnSpc>
              <a:buNone/>
            </a:pPr>
            <a:r>
              <a:rPr lang="en-US" sz="1200" b="1" dirty="0">
                <a:solidFill>
                  <a:srgbClr val="FFFFFF"/>
                </a:solidFill>
                <a:latin typeface="Calibri" pitchFamily="34" charset="0"/>
                <a:ea typeface="Calibri" pitchFamily="34" charset="-122"/>
                <a:cs typeface="Calibri" pitchFamily="34" charset="-120"/>
              </a:rPr>
              <a:t>録音 &amp; スクリプト</a:t>
            </a:r>
            <a:endParaRPr lang="en-US" sz="1200" dirty="0"/>
          </a:p>
          <a:p>
            <a:pPr algn="ctr" indent="0" marL="0">
              <a:lnSpc>
                <a:spcPct val="120000"/>
              </a:lnSpc>
              <a:buNone/>
            </a:pPr>
            <a:r>
              <a:rPr lang="en-US" sz="1200" b="1" dirty="0">
                <a:solidFill>
                  <a:srgbClr val="FFFFFF"/>
                </a:solidFill>
                <a:latin typeface="Calibri" pitchFamily="34" charset="0"/>
                <a:ea typeface="Calibri" pitchFamily="34" charset="-122"/>
                <a:cs typeface="Calibri" pitchFamily="34" charset="-120"/>
              </a:rPr>
              <a:t>作成</a:t>
            </a:r>
            <a:endParaRPr lang="en-US" sz="1200" dirty="0"/>
          </a:p>
        </p:txBody>
      </p:sp>
      <p:sp>
        <p:nvSpPr>
          <p:cNvPr id="14" name="Text 12"/>
          <p:cNvSpPr/>
          <p:nvPr/>
        </p:nvSpPr>
        <p:spPr>
          <a:xfrm>
            <a:off x="3520440" y="3977640"/>
            <a:ext cx="2468880" cy="694944"/>
          </a:xfrm>
          <a:prstGeom prst="rect">
            <a:avLst/>
          </a:prstGeom>
          <a:noFill/>
          <a:ln/>
        </p:spPr>
        <p:txBody>
          <a:bodyPr wrap="square" lIns="0" tIns="0" rIns="0" bIns="0" rtlCol="0" anchor="ctr"/>
          <a:lstStyle/>
          <a:p>
            <a:pPr algn="ctr" indent="0" marL="0">
              <a:lnSpc>
                <a:spcPct val="145000"/>
              </a:lnSpc>
              <a:buNone/>
            </a:pPr>
            <a:r>
              <a:rPr lang="en-US" sz="1000" dirty="0">
                <a:solidFill>
                  <a:srgbClr val="93C5FD"/>
                </a:solidFill>
                <a:latin typeface="Calibri" pitchFamily="34" charset="0"/>
                <a:ea typeface="Calibri" pitchFamily="34" charset="-122"/>
                <a:cs typeface="Calibri" pitchFamily="34" charset="-120"/>
              </a:rPr>
              <a:t>録音アプリで音声収録</a:t>
            </a:r>
            <a:endParaRPr lang="en-US" sz="1000" dirty="0"/>
          </a:p>
          <a:p>
            <a:pPr algn="ctr" indent="0" marL="0">
              <a:lnSpc>
                <a:spcPct val="145000"/>
              </a:lnSpc>
              <a:buNone/>
            </a:pPr>
            <a:r>
              <a:rPr lang="en-US" sz="1000" dirty="0">
                <a:solidFill>
                  <a:srgbClr val="93C5FD"/>
                </a:solidFill>
                <a:latin typeface="Calibri" pitchFamily="34" charset="0"/>
                <a:ea typeface="Calibri" pitchFamily="34" charset="-122"/>
                <a:cs typeface="Calibri" pitchFamily="34" charset="-120"/>
              </a:rPr>
              <a:t>管理画面でノード4つを設定</a:t>
            </a:r>
            <a:endParaRPr lang="en-US" sz="1000" dirty="0"/>
          </a:p>
        </p:txBody>
      </p:sp>
      <p:sp>
        <p:nvSpPr>
          <p:cNvPr id="15" name="Shape 13"/>
          <p:cNvSpPr/>
          <p:nvPr/>
        </p:nvSpPr>
        <p:spPr>
          <a:xfrm>
            <a:off x="6309360" y="2834640"/>
            <a:ext cx="2651760" cy="1920240"/>
          </a:xfrm>
          <a:prstGeom prst="roundRect">
            <a:avLst>
              <a:gd name="adj" fmla="val 5714"/>
            </a:avLst>
          </a:prstGeom>
          <a:solidFill>
            <a:srgbClr val="1E3A8A"/>
          </a:solidFill>
          <a:ln w="12700">
            <a:solidFill>
              <a:srgbClr val="2563EB"/>
            </a:solidFill>
            <a:prstDash val="solid"/>
          </a:ln>
          <a:effectLst>
            <a:outerShdw sx="100000" sy="100000" kx="0" ky="0" algn="bl" rotWithShape="0" blurRad="127000" dist="50800" dir="2700000">
              <a:srgbClr val="000000">
                <a:alpha val="20000"/>
              </a:srgbClr>
            </a:outerShdw>
          </a:effectLst>
        </p:spPr>
      </p:sp>
      <p:sp>
        <p:nvSpPr>
          <p:cNvPr id="16" name="Shape 14"/>
          <p:cNvSpPr/>
          <p:nvPr/>
        </p:nvSpPr>
        <p:spPr>
          <a:xfrm>
            <a:off x="7315200" y="2743200"/>
            <a:ext cx="640080" cy="640080"/>
          </a:xfrm>
          <a:prstGeom prst="ellipse">
            <a:avLst/>
          </a:prstGeom>
          <a:solidFill>
            <a:srgbClr val="3B82F6"/>
          </a:solidFill>
          <a:ln/>
        </p:spPr>
      </p:sp>
      <p:sp>
        <p:nvSpPr>
          <p:cNvPr id="17" name="Text 15"/>
          <p:cNvSpPr/>
          <p:nvPr/>
        </p:nvSpPr>
        <p:spPr>
          <a:xfrm>
            <a:off x="7315200" y="27432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8" name="Text 16"/>
          <p:cNvSpPr/>
          <p:nvPr/>
        </p:nvSpPr>
        <p:spPr>
          <a:xfrm>
            <a:off x="6400800" y="3474720"/>
            <a:ext cx="2468880" cy="457200"/>
          </a:xfrm>
          <a:prstGeom prst="rect">
            <a:avLst/>
          </a:prstGeom>
          <a:noFill/>
          <a:ln/>
        </p:spPr>
        <p:txBody>
          <a:bodyPr wrap="square" lIns="0" tIns="0" rIns="0" bIns="0" rtlCol="0" anchor="ctr"/>
          <a:lstStyle/>
          <a:p>
            <a:pPr algn="ctr" indent="0" marL="0">
              <a:lnSpc>
                <a:spcPct val="120000"/>
              </a:lnSpc>
              <a:buNone/>
            </a:pPr>
            <a:r>
              <a:rPr lang="en-US" sz="1200" b="1" dirty="0">
                <a:solidFill>
                  <a:srgbClr val="FFFFFF"/>
                </a:solidFill>
                <a:latin typeface="Calibri" pitchFamily="34" charset="0"/>
                <a:ea typeface="Calibri" pitchFamily="34" charset="-122"/>
                <a:cs typeface="Calibri" pitchFamily="34" charset="-120"/>
              </a:rPr>
              <a:t>発信 → 改善を</a:t>
            </a:r>
            <a:endParaRPr lang="en-US" sz="1200" dirty="0"/>
          </a:p>
          <a:p>
            <a:pPr algn="ctr" indent="0" marL="0">
              <a:lnSpc>
                <a:spcPct val="120000"/>
              </a:lnSpc>
              <a:buNone/>
            </a:pPr>
            <a:r>
              <a:rPr lang="en-US" sz="1200" b="1" dirty="0">
                <a:solidFill>
                  <a:srgbClr val="FFFFFF"/>
                </a:solidFill>
                <a:latin typeface="Calibri" pitchFamily="34" charset="0"/>
                <a:ea typeface="Calibri" pitchFamily="34" charset="-122"/>
                <a:cs typeface="Calibri" pitchFamily="34" charset="-120"/>
              </a:rPr>
              <a:t>毎週回す</a:t>
            </a:r>
            <a:endParaRPr lang="en-US" sz="1200" dirty="0"/>
          </a:p>
        </p:txBody>
      </p:sp>
      <p:sp>
        <p:nvSpPr>
          <p:cNvPr id="19" name="Text 17"/>
          <p:cNvSpPr/>
          <p:nvPr/>
        </p:nvSpPr>
        <p:spPr>
          <a:xfrm>
            <a:off x="6400800" y="3977640"/>
            <a:ext cx="2468880" cy="694944"/>
          </a:xfrm>
          <a:prstGeom prst="rect">
            <a:avLst/>
          </a:prstGeom>
          <a:noFill/>
          <a:ln/>
        </p:spPr>
        <p:txBody>
          <a:bodyPr wrap="square" lIns="0" tIns="0" rIns="0" bIns="0" rtlCol="0" anchor="ctr"/>
          <a:lstStyle/>
          <a:p>
            <a:pPr algn="ctr" indent="0" marL="0">
              <a:lnSpc>
                <a:spcPct val="145000"/>
              </a:lnSpc>
              <a:buNone/>
            </a:pPr>
            <a:r>
              <a:rPr lang="en-US" sz="1000" dirty="0">
                <a:solidFill>
                  <a:srgbClr val="93C5FD"/>
                </a:solidFill>
                <a:latin typeface="Calibri" pitchFamily="34" charset="0"/>
                <a:ea typeface="Calibri" pitchFamily="34" charset="-122"/>
                <a:cs typeface="Calibri" pitchFamily="34" charset="-120"/>
              </a:rPr>
              <a:t>タスク作成 → 発信開始</a:t>
            </a:r>
            <a:endParaRPr lang="en-US" sz="1000" dirty="0"/>
          </a:p>
          <a:p>
            <a:pPr algn="ctr" indent="0" marL="0">
              <a:lnSpc>
                <a:spcPct val="145000"/>
              </a:lnSpc>
              <a:buNone/>
            </a:pPr>
            <a:r>
              <a:rPr lang="en-US" sz="1000" dirty="0">
                <a:solidFill>
                  <a:srgbClr val="93C5FD"/>
                </a:solidFill>
                <a:latin typeface="Calibri" pitchFamily="34" charset="0"/>
                <a:ea typeface="Calibri" pitchFamily="34" charset="-122"/>
                <a:cs typeface="Calibri" pitchFamily="34" charset="-120"/>
              </a:rPr>
              <a:t>毎週ログを見てキーワード更新</a:t>
            </a:r>
            <a:endParaRPr lang="en-US" sz="1000" dirty="0"/>
          </a:p>
        </p:txBody>
      </p:sp>
      <p:sp>
        <p:nvSpPr>
          <p:cNvPr id="20" name="Text 18"/>
          <p:cNvSpPr/>
          <p:nvPr/>
        </p:nvSpPr>
        <p:spPr>
          <a:xfrm>
            <a:off x="457200" y="4828032"/>
            <a:ext cx="8229600" cy="256032"/>
          </a:xfrm>
          <a:prstGeom prst="rect">
            <a:avLst/>
          </a:prstGeom>
          <a:noFill/>
          <a:ln/>
        </p:spPr>
        <p:txBody>
          <a:bodyPr wrap="square" lIns="0" tIns="0" rIns="0" bIns="0" rtlCol="0" anchor="ctr"/>
          <a:lstStyle/>
          <a:p>
            <a:pPr algn="ctr" indent="0" marL="0">
              <a:buNone/>
            </a:pPr>
            <a:r>
              <a:rPr lang="en-US" sz="1100" dirty="0">
                <a:solidFill>
                  <a:srgbClr val="93C5FD"/>
                </a:solidFill>
                <a:latin typeface="Calibri" pitchFamily="34" charset="0"/>
                <a:ea typeface="Calibri" pitchFamily="34" charset="-122"/>
                <a:cs typeface="Calibri" pitchFamily="34" charset="-120"/>
              </a:rPr>
              <a:t>ご不明な点はChatWorkにて担当者（李様・山田様・青木様）へご連絡ください</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2026-06-24T09:50:41Z</dcterms:created>
  <dcterms:modified xsi:type="dcterms:W3CDTF">2026-06-24T09:50:41Z</dcterms:modified>
</cp:coreProperties>
</file>